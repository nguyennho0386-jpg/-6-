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93" r:id="rId1"/>
  </p:sldMasterIdLst>
  <p:notesMasterIdLst>
    <p:notesMasterId r:id="rId40"/>
  </p:notesMasterIdLst>
  <p:handoutMasterIdLst>
    <p:handoutMasterId r:id="rId41"/>
  </p:handoutMasterIdLst>
  <p:sldIdLst>
    <p:sldId id="310" r:id="rId2"/>
    <p:sldId id="311" r:id="rId3"/>
    <p:sldId id="419" r:id="rId4"/>
    <p:sldId id="430" r:id="rId5"/>
    <p:sldId id="431" r:id="rId6"/>
    <p:sldId id="510" r:id="rId7"/>
    <p:sldId id="511" r:id="rId8"/>
    <p:sldId id="534" r:id="rId9"/>
    <p:sldId id="536" r:id="rId10"/>
    <p:sldId id="599" r:id="rId11"/>
    <p:sldId id="434" r:id="rId12"/>
    <p:sldId id="649" r:id="rId13"/>
    <p:sldId id="436" r:id="rId14"/>
    <p:sldId id="640" r:id="rId15"/>
    <p:sldId id="639" r:id="rId16"/>
    <p:sldId id="566" r:id="rId17"/>
    <p:sldId id="569" r:id="rId18"/>
    <p:sldId id="593" r:id="rId19"/>
    <p:sldId id="570" r:id="rId20"/>
    <p:sldId id="563" r:id="rId21"/>
    <p:sldId id="575" r:id="rId22"/>
    <p:sldId id="576" r:id="rId23"/>
    <p:sldId id="577" r:id="rId24"/>
    <p:sldId id="654" r:id="rId25"/>
    <p:sldId id="578" r:id="rId26"/>
    <p:sldId id="637" r:id="rId27"/>
    <p:sldId id="488" r:id="rId28"/>
    <p:sldId id="587" r:id="rId29"/>
    <p:sldId id="653" r:id="rId30"/>
    <p:sldId id="588" r:id="rId31"/>
    <p:sldId id="589" r:id="rId32"/>
    <p:sldId id="590" r:id="rId33"/>
    <p:sldId id="591" r:id="rId34"/>
    <p:sldId id="641" r:id="rId35"/>
    <p:sldId id="592" r:id="rId36"/>
    <p:sldId id="638" r:id="rId37"/>
    <p:sldId id="496" r:id="rId38"/>
    <p:sldId id="596" r:id="rId39"/>
  </p:sldIdLst>
  <p:sldSz cx="9144000" cy="6858000" type="screen4x3"/>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NDA User-ID" initials="HU" lastIdx="1" clrIdx="0">
    <p:extLst>
      <p:ext uri="{19B8F6BF-5375-455C-9EA6-DF929625EA0E}">
        <p15:presenceInfo xmlns:p15="http://schemas.microsoft.com/office/powerpoint/2012/main" userId="HONDA User-I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366658"/>
    <a:srgbClr val="DDCAB3"/>
    <a:srgbClr val="9D6626"/>
    <a:srgbClr val="455F51"/>
    <a:srgbClr val="E7E4D1"/>
    <a:srgbClr val="F0EEE2"/>
    <a:srgbClr val="E2DE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1" autoAdjust="0"/>
    <p:restoredTop sz="93933" autoAdjust="0"/>
  </p:normalViewPr>
  <p:slideViewPr>
    <p:cSldViewPr snapToGrid="0">
      <p:cViewPr varScale="1">
        <p:scale>
          <a:sx n="75" d="100"/>
          <a:sy n="75" d="100"/>
        </p:scale>
        <p:origin x="1260"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50212" cy="496967"/>
          </a:xfrm>
          <a:prstGeom prst="rect">
            <a:avLst/>
          </a:prstGeom>
        </p:spPr>
        <p:txBody>
          <a:bodyPr vert="horz" lIns="91824" tIns="45912" rIns="91824" bIns="45912"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55392" y="0"/>
            <a:ext cx="2950212" cy="496967"/>
          </a:xfrm>
          <a:prstGeom prst="rect">
            <a:avLst/>
          </a:prstGeom>
        </p:spPr>
        <p:txBody>
          <a:bodyPr vert="horz" lIns="91824" tIns="45912" rIns="91824" bIns="45912" rtlCol="0"/>
          <a:lstStyle>
            <a:lvl1pPr algn="r">
              <a:defRPr sz="1200"/>
            </a:lvl1pPr>
          </a:lstStyle>
          <a:p>
            <a:fld id="{D4274A17-43CA-487C-AB4E-B1DA2C424359}" type="datetimeFigureOut">
              <a:rPr kumimoji="1" lang="ja-JP" altLang="en-US" smtClean="0"/>
              <a:t>2026/6/21</a:t>
            </a:fld>
            <a:endParaRPr kumimoji="1" lang="ja-JP" altLang="en-US"/>
          </a:p>
        </p:txBody>
      </p:sp>
      <p:sp>
        <p:nvSpPr>
          <p:cNvPr id="4" name="フッター プレースホルダ 3"/>
          <p:cNvSpPr>
            <a:spLocks noGrp="1"/>
          </p:cNvSpPr>
          <p:nvPr>
            <p:ph type="ftr" sz="quarter" idx="2"/>
          </p:nvPr>
        </p:nvSpPr>
        <p:spPr>
          <a:xfrm>
            <a:off x="0" y="9440779"/>
            <a:ext cx="2950212" cy="496967"/>
          </a:xfrm>
          <a:prstGeom prst="rect">
            <a:avLst/>
          </a:prstGeom>
        </p:spPr>
        <p:txBody>
          <a:bodyPr vert="horz" lIns="91824" tIns="45912" rIns="91824" bIns="45912"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55392" y="9440779"/>
            <a:ext cx="2950212" cy="496967"/>
          </a:xfrm>
          <a:prstGeom prst="rect">
            <a:avLst/>
          </a:prstGeom>
        </p:spPr>
        <p:txBody>
          <a:bodyPr vert="horz" lIns="91824" tIns="45912" rIns="91824" bIns="45912" rtlCol="0" anchor="b"/>
          <a:lstStyle>
            <a:lvl1pPr algn="r">
              <a:defRPr sz="1200"/>
            </a:lvl1pPr>
          </a:lstStyle>
          <a:p>
            <a:fld id="{E2D4DE22-E4FD-48CE-B91C-6CB193D4A4C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9575" cy="498475"/>
          </a:xfrm>
          <a:prstGeom prst="rect">
            <a:avLst/>
          </a:prstGeom>
        </p:spPr>
        <p:txBody>
          <a:bodyPr vert="horz" lIns="91429" tIns="45714" rIns="91429" bIns="45714"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6038" y="1"/>
            <a:ext cx="2949575" cy="498475"/>
          </a:xfrm>
          <a:prstGeom prst="rect">
            <a:avLst/>
          </a:prstGeom>
        </p:spPr>
        <p:txBody>
          <a:bodyPr vert="horz" lIns="91429" tIns="45714" rIns="91429" bIns="45714" rtlCol="0"/>
          <a:lstStyle>
            <a:lvl1pPr algn="r">
              <a:defRPr sz="1200"/>
            </a:lvl1pPr>
          </a:lstStyle>
          <a:p>
            <a:fld id="{BC4B8405-F2B8-4400-A2DF-630220FDE5DD}" type="datetimeFigureOut">
              <a:rPr kumimoji="1" lang="ja-JP" altLang="en-US" smtClean="0"/>
              <a:pPr/>
              <a:t>2026/6/21</a:t>
            </a:fld>
            <a:endParaRPr kumimoji="1" lang="ja-JP" altLang="en-US"/>
          </a:p>
        </p:txBody>
      </p:sp>
      <p:sp>
        <p:nvSpPr>
          <p:cNvPr id="4" name="スライド イメージ プレースホルダー 3"/>
          <p:cNvSpPr>
            <a:spLocks noGrp="1" noRot="1" noChangeAspect="1"/>
          </p:cNvSpPr>
          <p:nvPr>
            <p:ph type="sldImg" idx="2"/>
          </p:nvPr>
        </p:nvSpPr>
        <p:spPr>
          <a:xfrm>
            <a:off x="1166813" y="1243013"/>
            <a:ext cx="4473575" cy="3354387"/>
          </a:xfrm>
          <a:prstGeom prst="rect">
            <a:avLst/>
          </a:prstGeom>
          <a:noFill/>
          <a:ln w="12700">
            <a:solidFill>
              <a:prstClr val="black"/>
            </a:solidFill>
          </a:ln>
        </p:spPr>
        <p:txBody>
          <a:bodyPr vert="horz" lIns="91429" tIns="45714" rIns="91429" bIns="45714" rtlCol="0" anchor="ctr"/>
          <a:lstStyle/>
          <a:p>
            <a:endParaRPr lang="ja-JP" altLang="en-US"/>
          </a:p>
        </p:txBody>
      </p:sp>
      <p:sp>
        <p:nvSpPr>
          <p:cNvPr id="5" name="ノート プレースホルダー 4"/>
          <p:cNvSpPr>
            <a:spLocks noGrp="1"/>
          </p:cNvSpPr>
          <p:nvPr>
            <p:ph type="body" sz="quarter" idx="3"/>
          </p:nvPr>
        </p:nvSpPr>
        <p:spPr>
          <a:xfrm>
            <a:off x="681039" y="4783139"/>
            <a:ext cx="5445125" cy="3913187"/>
          </a:xfrm>
          <a:prstGeom prst="rect">
            <a:avLst/>
          </a:prstGeom>
        </p:spPr>
        <p:txBody>
          <a:bodyPr vert="horz" lIns="91429" tIns="45714" rIns="91429" bIns="45714"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1" y="9440864"/>
            <a:ext cx="2949575" cy="498475"/>
          </a:xfrm>
          <a:prstGeom prst="rect">
            <a:avLst/>
          </a:prstGeom>
        </p:spPr>
        <p:txBody>
          <a:bodyPr vert="horz" lIns="91429" tIns="45714" rIns="91429" bIns="45714"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6038" y="9440864"/>
            <a:ext cx="2949575" cy="498475"/>
          </a:xfrm>
          <a:prstGeom prst="rect">
            <a:avLst/>
          </a:prstGeom>
        </p:spPr>
        <p:txBody>
          <a:bodyPr vert="horz" lIns="91429" tIns="45714" rIns="91429" bIns="45714" rtlCol="0" anchor="b"/>
          <a:lstStyle>
            <a:lvl1pPr algn="r">
              <a:defRPr sz="1200"/>
            </a:lvl1pPr>
          </a:lstStyle>
          <a:p>
            <a:fld id="{45ABA861-79B2-4F11-B3FC-A06FDB53FB11}" type="slidenum">
              <a:rPr kumimoji="1" lang="ja-JP" altLang="en-US" smtClean="0"/>
              <a:pPr/>
              <a:t>‹#›</a:t>
            </a:fld>
            <a:endParaRPr kumimoji="1" lang="ja-JP" altLang="en-US"/>
          </a:p>
        </p:txBody>
      </p:sp>
    </p:spTree>
    <p:extLst>
      <p:ext uri="{BB962C8B-B14F-4D97-AF65-F5344CB8AC3E}">
        <p14:creationId xmlns:p14="http://schemas.microsoft.com/office/powerpoint/2010/main" val="423276317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07000"/>
              </a:lnSpc>
              <a:spcAft>
                <a:spcPts val="800"/>
              </a:spcAft>
            </a:pPr>
            <a:r>
              <a:rPr lang="ja-JP" altLang="ja-JP" kern="100" dirty="0" smtClean="0">
                <a:latin typeface="Times New Roman" panose="02020603050405020304" pitchFamily="18" charset="0"/>
                <a:ea typeface="Meiryo UI" panose="020B0604030504040204" pitchFamily="50" charset="-128"/>
                <a:cs typeface="Times New Roman" panose="02020603050405020304" pitchFamily="18" charset="0"/>
              </a:rPr>
              <a:t>自動車技能実習生の労働条件について以下のように説明します。</a:t>
            </a:r>
            <a:endParaRPr lang="ja-JP" altLang="ja-JP" sz="1400" kern="100" dirty="0">
              <a:latin typeface="Times New Roman" panose="02020603050405020304" pitchFamily="18" charset="0"/>
              <a:ea typeface="游明朝" panose="02020400000000000000" pitchFamily="18" charset="-128"/>
              <a:cs typeface="Times New Roman" panose="02020603050405020304" pitchFamily="18" charset="0"/>
            </a:endParaRPr>
          </a:p>
          <a:p>
            <a:pPr>
              <a:lnSpc>
                <a:spcPct val="107000"/>
              </a:lnSpc>
              <a:spcAft>
                <a:spcPts val="800"/>
              </a:spcAft>
            </a:pPr>
            <a:r>
              <a:rPr lang="ja-JP" altLang="en-US" kern="100" dirty="0" smtClean="0">
                <a:latin typeface="Times New Roman" panose="02020603050405020304" pitchFamily="18" charset="0"/>
                <a:ea typeface="Meiryo UI" panose="020B0604030504040204" pitchFamily="50" charset="-128"/>
                <a:cs typeface="Times New Roman" panose="02020603050405020304" pitchFamily="18" charset="0"/>
              </a:rPr>
              <a:t>・</a:t>
            </a:r>
            <a:r>
              <a:rPr lang="ja-JP" altLang="ja-JP" kern="100" dirty="0" smtClean="0">
                <a:latin typeface="Times New Roman" panose="02020603050405020304" pitchFamily="18" charset="0"/>
                <a:ea typeface="Meiryo UI" panose="020B0604030504040204" pitchFamily="50" charset="-128"/>
                <a:cs typeface="Times New Roman" panose="02020603050405020304" pitchFamily="18" charset="0"/>
              </a:rPr>
              <a:t>労働時間は、</a:t>
            </a:r>
            <a:r>
              <a:rPr lang="ja-JP" altLang="ja-JP" sz="1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通常</a:t>
            </a:r>
            <a:r>
              <a:rPr lang="en-US" altLang="ja-JP" sz="1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1</a:t>
            </a:r>
            <a:r>
              <a:rPr lang="ja-JP" altLang="ja-JP" sz="1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日</a:t>
            </a:r>
            <a:r>
              <a:rPr lang="en-US" altLang="ja-JP" sz="1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8</a:t>
            </a:r>
            <a:r>
              <a:rPr lang="ja-JP" altLang="ja-JP" sz="1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時間</a:t>
            </a:r>
            <a:r>
              <a:rPr lang="ja-JP" altLang="en-US" kern="100" dirty="0" smtClean="0">
                <a:latin typeface="Times New Roman" panose="02020603050405020304" pitchFamily="18" charset="0"/>
                <a:ea typeface="Meiryo UI" panose="020B0604030504040204" pitchFamily="50" charset="-128"/>
                <a:cs typeface="Times New Roman" panose="02020603050405020304" pitchFamily="18" charset="0"/>
              </a:rPr>
              <a:t>（</a:t>
            </a:r>
            <a:r>
              <a:rPr lang="en-US" altLang="ja-JP" kern="100" dirty="0" smtClean="0">
                <a:latin typeface="Times New Roman" panose="02020603050405020304" pitchFamily="18" charset="0"/>
                <a:ea typeface="Meiryo UI" panose="020B0604030504040204" pitchFamily="50" charset="-128"/>
                <a:cs typeface="Times New Roman" panose="02020603050405020304" pitchFamily="18" charset="0"/>
              </a:rPr>
              <a:t>9:30</a:t>
            </a:r>
            <a:r>
              <a:rPr lang="ja-JP" altLang="en-US" kern="100" dirty="0" smtClean="0">
                <a:latin typeface="Times New Roman" panose="02020603050405020304" pitchFamily="18" charset="0"/>
                <a:ea typeface="Meiryo UI" panose="020B0604030504040204" pitchFamily="50" charset="-128"/>
                <a:cs typeface="Times New Roman" panose="02020603050405020304" pitchFamily="18" charset="0"/>
              </a:rPr>
              <a:t>～</a:t>
            </a:r>
            <a:r>
              <a:rPr lang="en-US" altLang="ja-JP" kern="100" dirty="0" smtClean="0">
                <a:latin typeface="Times New Roman" panose="02020603050405020304" pitchFamily="18" charset="0"/>
                <a:ea typeface="Meiryo UI" panose="020B0604030504040204" pitchFamily="50" charset="-128"/>
                <a:cs typeface="Times New Roman" panose="02020603050405020304" pitchFamily="18" charset="0"/>
              </a:rPr>
              <a:t>18:30</a:t>
            </a:r>
            <a:r>
              <a:rPr lang="ja-JP" altLang="en-US" kern="100" dirty="0" smtClean="0">
                <a:latin typeface="Times New Roman" panose="02020603050405020304" pitchFamily="18" charset="0"/>
                <a:ea typeface="Meiryo UI" panose="020B0604030504040204" pitchFamily="50" charset="-128"/>
                <a:cs typeface="Times New Roman" panose="02020603050405020304" pitchFamily="18" charset="0"/>
              </a:rPr>
              <a:t>と</a:t>
            </a:r>
            <a:r>
              <a:rPr lang="en-US" altLang="ja-JP" kern="100" dirty="0" smtClean="0">
                <a:latin typeface="Times New Roman" panose="02020603050405020304" pitchFamily="18" charset="0"/>
                <a:ea typeface="Meiryo UI" panose="020B0604030504040204" pitchFamily="50" charset="-128"/>
                <a:cs typeface="Times New Roman" panose="02020603050405020304" pitchFamily="18" charset="0"/>
              </a:rPr>
              <a:t>1</a:t>
            </a:r>
            <a:r>
              <a:rPr lang="ja-JP" altLang="en-US" kern="100" dirty="0" smtClean="0">
                <a:latin typeface="Times New Roman" panose="02020603050405020304" pitchFamily="18" charset="0"/>
                <a:ea typeface="Meiryo UI" panose="020B0604030504040204" pitchFamily="50" charset="-128"/>
                <a:cs typeface="Times New Roman" panose="02020603050405020304" pitchFamily="18" charset="0"/>
              </a:rPr>
              <a:t>時間休憩時間）</a:t>
            </a:r>
            <a:r>
              <a:rPr lang="ja-JP" altLang="ja-JP" kern="100" dirty="0" smtClean="0">
                <a:latin typeface="Times New Roman" panose="02020603050405020304" pitchFamily="18" charset="0"/>
                <a:ea typeface="Meiryo UI" panose="020B0604030504040204" pitchFamily="50" charset="-128"/>
                <a:cs typeface="Times New Roman" panose="02020603050405020304" pitchFamily="18" charset="0"/>
              </a:rPr>
              <a:t>、週</a:t>
            </a:r>
            <a:r>
              <a:rPr lang="en-US" altLang="ja-JP" kern="100" dirty="0" smtClean="0">
                <a:latin typeface="Times New Roman" panose="02020603050405020304" pitchFamily="18" charset="0"/>
                <a:ea typeface="Meiryo UI" panose="020B0604030504040204" pitchFamily="50" charset="-128"/>
                <a:cs typeface="Times New Roman" panose="02020603050405020304" pitchFamily="18" charset="0"/>
              </a:rPr>
              <a:t>40</a:t>
            </a:r>
            <a:r>
              <a:rPr lang="ja-JP" altLang="ja-JP" kern="100" dirty="0" smtClean="0">
                <a:latin typeface="Times New Roman" panose="02020603050405020304" pitchFamily="18" charset="0"/>
                <a:ea typeface="Meiryo UI" panose="020B0604030504040204" pitchFamily="50" charset="-128"/>
                <a:cs typeface="Times New Roman" panose="02020603050405020304" pitchFamily="18" charset="0"/>
              </a:rPr>
              <a:t>時間が基本です。繁忙期には残業がある場合もありますが、</a:t>
            </a:r>
            <a:r>
              <a:rPr lang="ja-JP" altLang="en-US" kern="100" dirty="0" smtClean="0">
                <a:latin typeface="Times New Roman" panose="02020603050405020304" pitchFamily="18" charset="0"/>
                <a:ea typeface="Meiryo UI" panose="020B0604030504040204" pitchFamily="50" charset="-128"/>
                <a:cs typeface="Times New Roman" panose="02020603050405020304" pitchFamily="18" charset="0"/>
              </a:rPr>
              <a:t>　　　　</a:t>
            </a:r>
            <a:r>
              <a:rPr lang="ja-JP" altLang="ja-JP" kern="100" dirty="0" smtClean="0">
                <a:latin typeface="Times New Roman" panose="02020603050405020304" pitchFamily="18" charset="0"/>
                <a:ea typeface="Meiryo UI" panose="020B0604030504040204" pitchFamily="50" charset="-128"/>
                <a:cs typeface="Times New Roman" panose="02020603050405020304" pitchFamily="18" charset="0"/>
              </a:rPr>
              <a:t>残業には法定の手当が支払われます。</a:t>
            </a:r>
            <a:endParaRPr lang="en-US" altLang="ja-JP" dirty="0" smtClean="0"/>
          </a:p>
          <a:p>
            <a:r>
              <a:rPr lang="ja-JP" altLang="en-US" dirty="0" smtClean="0"/>
              <a:t>・</a:t>
            </a:r>
            <a:r>
              <a:rPr lang="ja-JP" altLang="ja-JP" dirty="0" smtClean="0"/>
              <a:t>休日</a:t>
            </a:r>
            <a:r>
              <a:rPr lang="en-US" altLang="ja-JP" dirty="0" smtClean="0"/>
              <a:t>: </a:t>
            </a:r>
            <a:r>
              <a:rPr lang="ja-JP" altLang="ja-JP" dirty="0" smtClean="0"/>
              <a:t>火曜日・水曜日（週休</a:t>
            </a:r>
            <a:r>
              <a:rPr lang="en-US" altLang="ja-JP" dirty="0" smtClean="0"/>
              <a:t>2</a:t>
            </a:r>
            <a:r>
              <a:rPr lang="ja-JP" altLang="ja-JP" dirty="0" smtClean="0"/>
              <a:t>日制）、祝日も休暇取得可。</a:t>
            </a:r>
            <a:endParaRPr lang="en-US" altLang="ja-JP" dirty="0" smtClean="0"/>
          </a:p>
          <a:p>
            <a:r>
              <a:rPr lang="ja-JP" altLang="en-US" dirty="0" smtClean="0"/>
              <a:t>・</a:t>
            </a:r>
            <a:r>
              <a:rPr lang="ja-JP" altLang="ja-JP" dirty="0" smtClean="0"/>
              <a:t>年間休日数</a:t>
            </a:r>
            <a:r>
              <a:rPr lang="en-US" altLang="ja-JP" dirty="0" smtClean="0"/>
              <a:t>: </a:t>
            </a:r>
            <a:r>
              <a:rPr lang="en-US" altLang="ja-JP" sz="1400" b="1" dirty="0">
                <a:solidFill>
                  <a:srgbClr val="FF0000"/>
                </a:solidFill>
              </a:rPr>
              <a:t>120</a:t>
            </a:r>
            <a:r>
              <a:rPr lang="ja-JP" altLang="en-US" sz="1400" b="1" dirty="0">
                <a:solidFill>
                  <a:srgbClr val="FF0000"/>
                </a:solidFill>
              </a:rPr>
              <a:t>日</a:t>
            </a:r>
            <a:r>
              <a:rPr lang="ja-JP" altLang="ja-JP" dirty="0" smtClean="0"/>
              <a:t>。</a:t>
            </a:r>
            <a:r>
              <a:rPr lang="ja-JP" altLang="ja-JP" u="sng" dirty="0" smtClean="0"/>
              <a:t>有休は</a:t>
            </a:r>
            <a:r>
              <a:rPr lang="en-US" altLang="ja-JP" u="sng" dirty="0" smtClean="0"/>
              <a:t>6</a:t>
            </a:r>
            <a:r>
              <a:rPr lang="ja-JP" altLang="ja-JP" u="sng" dirty="0" smtClean="0"/>
              <a:t>ヶ月後から付与されます</a:t>
            </a:r>
            <a:r>
              <a:rPr lang="ja-JP" altLang="ja-JP" dirty="0" smtClean="0"/>
              <a:t>。</a:t>
            </a:r>
          </a:p>
          <a:p>
            <a:r>
              <a:rPr lang="en-US" altLang="ja-JP" dirty="0" smtClean="0"/>
              <a:t> </a:t>
            </a:r>
            <a:r>
              <a:rPr lang="ja-JP" altLang="ja-JP" dirty="0" smtClean="0"/>
              <a:t>労働契約書の内容を丁寧に確認し、理解を深めてもらいます。</a:t>
            </a:r>
            <a:endParaRPr lang="en-US" altLang="ja-JP" dirty="0" smtClean="0"/>
          </a:p>
          <a:p>
            <a:pPr>
              <a:buSzPts val="1000"/>
              <a:tabLst>
                <a:tab pos="457146" algn="l"/>
              </a:tabLst>
            </a:pPr>
            <a:endParaRPr lang="ja-JP" altLang="ja-JP" dirty="0" smtClean="0">
              <a:latin typeface="Meiryo UI" panose="020B0604030504040204" pitchFamily="50" charset="-128"/>
              <a:ea typeface="Meiryo UI" panose="020B0604030504040204" pitchFamily="50" charset="-128"/>
            </a:endParaRPr>
          </a:p>
          <a:p>
            <a:pPr>
              <a:buSzPts val="1000"/>
              <a:tabLst>
                <a:tab pos="457146" algn="l"/>
              </a:tabLst>
            </a:pPr>
            <a:r>
              <a:rPr lang="ja-JP" altLang="en-US" dirty="0" smtClean="0"/>
              <a:t>・</a:t>
            </a:r>
            <a:r>
              <a:rPr lang="ja-JP" altLang="ja-JP" b="1" dirty="0" smtClean="0">
                <a:solidFill>
                  <a:srgbClr val="FF0000"/>
                </a:solidFill>
                <a:latin typeface="Meiryo UI" panose="020B0604030504040204" pitchFamily="50" charset="-128"/>
                <a:ea typeface="Meiryo UI" panose="020B0604030504040204" pitchFamily="50" charset="-128"/>
                <a:cs typeface="ＭＳ ゴシック" panose="020B0609070205080204" pitchFamily="49" charset="-128"/>
              </a:rPr>
              <a:t>労務管理との注意点</a:t>
            </a:r>
            <a:r>
              <a:rPr lang="en-US" altLang="ja-JP" dirty="0" smtClean="0">
                <a:solidFill>
                  <a:srgbClr val="FF0000"/>
                </a:solidFill>
                <a:latin typeface="Meiryo UI" panose="020B0604030504040204" pitchFamily="50" charset="-128"/>
                <a:ea typeface="Meiryo UI" panose="020B0604030504040204" pitchFamily="50" charset="-128"/>
              </a:rPr>
              <a:t>: </a:t>
            </a:r>
            <a:endParaRPr lang="en-US" altLang="ja-JP" dirty="0" smtClean="0">
              <a:latin typeface="Meiryo UI" panose="020B0604030504040204" pitchFamily="50" charset="-128"/>
              <a:ea typeface="Meiryo UI" panose="020B0604030504040204" pitchFamily="50" charset="-128"/>
              <a:cs typeface="ＭＳ ゴシック" panose="020B0609070205080204" pitchFamily="49" charset="-128"/>
            </a:endParaRPr>
          </a:p>
          <a:p>
            <a:pPr>
              <a:buSzPts val="1000"/>
              <a:tabLst>
                <a:tab pos="457146" algn="l"/>
              </a:tabLst>
            </a:pPr>
            <a:r>
              <a:rPr lang="ja-JP" altLang="ja-JP" dirty="0" smtClean="0">
                <a:latin typeface="Meiryo UI" panose="020B0604030504040204" pitchFamily="50" charset="-128"/>
                <a:ea typeface="Meiryo UI" panose="020B0604030504040204" pitchFamily="50" charset="-128"/>
                <a:cs typeface="ＭＳ ゴシック" panose="020B0609070205080204" pitchFamily="49" charset="-128"/>
              </a:rPr>
              <a:t>勤怠管理システムの利用方法、残業のルール、給与の支払いについて詳しくします。特に発的な残は認められないことを強調し、適切な勤怠管理が重要である</a:t>
            </a:r>
            <a:r>
              <a:rPr lang="ja-JP" altLang="ja-JP" dirty="0" err="1" smtClean="0">
                <a:latin typeface="Meiryo UI" panose="020B0604030504040204" pitchFamily="50" charset="-128"/>
                <a:ea typeface="Meiryo UI" panose="020B0604030504040204" pitchFamily="50" charset="-128"/>
                <a:cs typeface="ＭＳ ゴシック" panose="020B0609070205080204" pitchFamily="49" charset="-128"/>
              </a:rPr>
              <a:t>を</a:t>
            </a:r>
            <a:r>
              <a:rPr lang="ja-JP" altLang="ja-JP" dirty="0" smtClean="0">
                <a:latin typeface="Meiryo UI" panose="020B0604030504040204" pitchFamily="50" charset="-128"/>
                <a:ea typeface="Meiryo UI" panose="020B0604030504040204" pitchFamily="50" charset="-128"/>
                <a:cs typeface="ＭＳ ゴシック" panose="020B0609070205080204" pitchFamily="49" charset="-128"/>
              </a:rPr>
              <a:t>念押しします。</a:t>
            </a:r>
            <a:endParaRPr lang="ja-JP" altLang="ja-JP" dirty="0" smtClean="0">
              <a:latin typeface="Meiryo UI" panose="020B0604030504040204" pitchFamily="50" charset="-128"/>
              <a:ea typeface="Meiryo UI" panose="020B0604030504040204" pitchFamily="50" charset="-128"/>
            </a:endParaRPr>
          </a:p>
          <a:p>
            <a:endParaRPr lang="ja-JP"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45ABA861-79B2-4F11-B3FC-A06FDB53FB11}" type="slidenum">
              <a:rPr kumimoji="1" lang="ja-JP" altLang="en-US" smtClean="0"/>
              <a:pPr/>
              <a:t>5</a:t>
            </a:fld>
            <a:endParaRPr kumimoji="1" lang="ja-JP" altLang="en-US"/>
          </a:p>
        </p:txBody>
      </p:sp>
    </p:spTree>
    <p:extLst>
      <p:ext uri="{BB962C8B-B14F-4D97-AF65-F5344CB8AC3E}">
        <p14:creationId xmlns:p14="http://schemas.microsoft.com/office/powerpoint/2010/main" val="2818286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年間休日は業界トップクラスの１２０日となります。１２０日と聞いてもピンとこないと思いますが、</a:t>
            </a:r>
            <a:r>
              <a:rPr kumimoji="1" lang="en-US" altLang="ja-JP" dirty="0" smtClean="0"/>
              <a:t>2</a:t>
            </a:r>
            <a:r>
              <a:rPr kumimoji="1" lang="ja-JP" altLang="en-US" dirty="0" smtClean="0"/>
              <a:t>日仕事をしたら</a:t>
            </a:r>
            <a:r>
              <a:rPr kumimoji="1" lang="en-US" altLang="ja-JP" dirty="0" smtClean="0"/>
              <a:t>1</a:t>
            </a:r>
            <a:r>
              <a:rPr kumimoji="1" lang="ja-JP" altLang="en-US" dirty="0" smtClean="0"/>
              <a:t>日休みとなります。</a:t>
            </a:r>
            <a:endParaRPr kumimoji="1" lang="en-US" altLang="ja-JP" dirty="0" smtClean="0"/>
          </a:p>
          <a:p>
            <a:r>
              <a:rPr kumimoji="1" lang="ja-JP" altLang="en-US" dirty="0" smtClean="0"/>
              <a:t>また毎週火曜日、水曜日が連休となります。年間休日がいくら多くてもシフト制で今週は連休でも次の週は例えば火曜日、金曜日の単休だとゆっくり休む事が出来ません。</a:t>
            </a:r>
            <a:endParaRPr kumimoji="1" lang="en-US" altLang="ja-JP" dirty="0" smtClean="0"/>
          </a:p>
          <a:p>
            <a:r>
              <a:rPr kumimoji="1" lang="ja-JP" altLang="en-US" dirty="0" smtClean="0"/>
              <a:t>加えて火曜日、水曜日はお店自体もクローズしておりますので本当にゆっくり休む事が出来ます。</a:t>
            </a:r>
            <a:endParaRPr kumimoji="1" lang="en-US" altLang="ja-JP" dirty="0" smtClean="0"/>
          </a:p>
          <a:p>
            <a:r>
              <a:rPr kumimoji="1" lang="en-US" altLang="ja-JP" dirty="0" smtClean="0"/>
              <a:t>GW</a:t>
            </a:r>
            <a:r>
              <a:rPr kumimoji="1" lang="ja-JP" altLang="en-US" dirty="0" smtClean="0"/>
              <a:t>は</a:t>
            </a:r>
            <a:r>
              <a:rPr kumimoji="1" lang="en-US" altLang="ja-JP" dirty="0" smtClean="0"/>
              <a:t>6</a:t>
            </a:r>
            <a:r>
              <a:rPr kumimoji="1" lang="ja-JP" altLang="en-US" dirty="0" smtClean="0"/>
              <a:t>連休、夏休み</a:t>
            </a:r>
            <a:r>
              <a:rPr kumimoji="1" lang="en-US" altLang="ja-JP" dirty="0" smtClean="0"/>
              <a:t>9</a:t>
            </a:r>
            <a:r>
              <a:rPr kumimoji="1" lang="ja-JP" altLang="en-US" dirty="0" smtClean="0"/>
              <a:t>連休、年末年始は</a:t>
            </a:r>
            <a:r>
              <a:rPr kumimoji="1" lang="en-US" altLang="ja-JP" dirty="0" smtClean="0"/>
              <a:t>7</a:t>
            </a:r>
            <a:r>
              <a:rPr kumimoji="1" lang="ja-JP" altLang="en-US" dirty="0" smtClean="0"/>
              <a:t>連休と長期連休も設定しております。</a:t>
            </a:r>
            <a:endParaRPr kumimoji="1" lang="ja-JP" altLang="en-US" dirty="0"/>
          </a:p>
        </p:txBody>
      </p:sp>
      <p:sp>
        <p:nvSpPr>
          <p:cNvPr id="4" name="スライド番号プレースホルダー 3"/>
          <p:cNvSpPr>
            <a:spLocks noGrp="1"/>
          </p:cNvSpPr>
          <p:nvPr>
            <p:ph type="sldNum" sz="quarter" idx="10"/>
          </p:nvPr>
        </p:nvSpPr>
        <p:spPr/>
        <p:txBody>
          <a:bodyPr/>
          <a:lstStyle/>
          <a:p>
            <a:fld id="{EA350BB3-3B6E-4025-93E1-6DE47EACB5A7}" type="slidenum">
              <a:rPr kumimoji="1" lang="ja-JP" altLang="en-US" smtClean="0"/>
              <a:pPr/>
              <a:t>6</a:t>
            </a:fld>
            <a:endParaRPr kumimoji="1" lang="ja-JP" altLang="en-US"/>
          </a:p>
        </p:txBody>
      </p:sp>
    </p:spTree>
    <p:extLst>
      <p:ext uri="{BB962C8B-B14F-4D97-AF65-F5344CB8AC3E}">
        <p14:creationId xmlns:p14="http://schemas.microsoft.com/office/powerpoint/2010/main" val="1826679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有休の取得実績です。ホンダモビリティ中部従業員の取得平均は年間</a:t>
            </a:r>
            <a:r>
              <a:rPr kumimoji="1" lang="en-US" altLang="ja-JP" dirty="0" smtClean="0"/>
              <a:t>11.3</a:t>
            </a:r>
            <a:r>
              <a:rPr kumimoji="1" lang="ja-JP" altLang="en-US" dirty="0" smtClean="0"/>
              <a:t>日となっております。つまり</a:t>
            </a:r>
            <a:r>
              <a:rPr kumimoji="1" lang="en-US" altLang="ja-JP" dirty="0" smtClean="0"/>
              <a:t>1</a:t>
            </a:r>
            <a:r>
              <a:rPr kumimoji="1" lang="ja-JP" altLang="en-US" dirty="0" smtClean="0"/>
              <a:t>カ月に</a:t>
            </a:r>
            <a:r>
              <a:rPr kumimoji="1" lang="en-US" altLang="ja-JP" dirty="0" smtClean="0"/>
              <a:t>1</a:t>
            </a:r>
            <a:r>
              <a:rPr kumimoji="1" lang="ja-JP" altLang="en-US" dirty="0" smtClean="0"/>
              <a:t>回ほど平均で有休取得していることになります。</a:t>
            </a:r>
            <a:endParaRPr kumimoji="1" lang="en-US" altLang="ja-JP" dirty="0" smtClean="0"/>
          </a:p>
          <a:p>
            <a:r>
              <a:rPr kumimoji="1" lang="ja-JP" altLang="en-US" dirty="0" smtClean="0"/>
              <a:t>先ほど説明しました年間休日</a:t>
            </a:r>
            <a:r>
              <a:rPr kumimoji="1" lang="en-US" altLang="ja-JP" dirty="0" smtClean="0"/>
              <a:t>120</a:t>
            </a:r>
            <a:r>
              <a:rPr kumimoji="1" lang="ja-JP" altLang="en-US" dirty="0" smtClean="0"/>
              <a:t>日に有休</a:t>
            </a:r>
            <a:r>
              <a:rPr kumimoji="1" lang="en-US" altLang="ja-JP" dirty="0" smtClean="0"/>
              <a:t>11.3</a:t>
            </a:r>
            <a:r>
              <a:rPr kumimoji="1" lang="ja-JP" altLang="en-US" dirty="0" smtClean="0"/>
              <a:t>日を足した</a:t>
            </a:r>
            <a:r>
              <a:rPr kumimoji="1" lang="en-US" altLang="ja-JP" dirty="0" smtClean="0"/>
              <a:t>131</a:t>
            </a:r>
            <a:r>
              <a:rPr kumimoji="1" lang="ja-JP" altLang="en-US" dirty="0" smtClean="0"/>
              <a:t>日が平均のお休み日数となります。</a:t>
            </a:r>
            <a:endParaRPr kumimoji="1" lang="ja-JP" altLang="en-US" dirty="0"/>
          </a:p>
        </p:txBody>
      </p:sp>
      <p:sp>
        <p:nvSpPr>
          <p:cNvPr id="4" name="スライド番号プレースホルダー 3"/>
          <p:cNvSpPr>
            <a:spLocks noGrp="1"/>
          </p:cNvSpPr>
          <p:nvPr>
            <p:ph type="sldNum" sz="quarter" idx="10"/>
          </p:nvPr>
        </p:nvSpPr>
        <p:spPr/>
        <p:txBody>
          <a:bodyPr/>
          <a:lstStyle/>
          <a:p>
            <a:fld id="{EA350BB3-3B6E-4025-93E1-6DE47EACB5A7}" type="slidenum">
              <a:rPr kumimoji="1" lang="ja-JP" altLang="en-US" smtClean="0"/>
              <a:pPr/>
              <a:t>7</a:t>
            </a:fld>
            <a:endParaRPr kumimoji="1" lang="ja-JP" altLang="en-US"/>
          </a:p>
        </p:txBody>
      </p:sp>
    </p:spTree>
    <p:extLst>
      <p:ext uri="{BB962C8B-B14F-4D97-AF65-F5344CB8AC3E}">
        <p14:creationId xmlns:p14="http://schemas.microsoft.com/office/powerpoint/2010/main" val="1463494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有休の取得実績です。ホンダモビリティ中部従業員の取得平均は年間</a:t>
            </a:r>
            <a:r>
              <a:rPr kumimoji="1" lang="en-US" altLang="ja-JP" dirty="0" smtClean="0"/>
              <a:t>11.3</a:t>
            </a:r>
            <a:r>
              <a:rPr kumimoji="1" lang="ja-JP" altLang="en-US" dirty="0" smtClean="0"/>
              <a:t>日となっております。つまり</a:t>
            </a:r>
            <a:r>
              <a:rPr kumimoji="1" lang="en-US" altLang="ja-JP" dirty="0" smtClean="0"/>
              <a:t>1</a:t>
            </a:r>
            <a:r>
              <a:rPr kumimoji="1" lang="ja-JP" altLang="en-US" dirty="0" smtClean="0"/>
              <a:t>カ月に</a:t>
            </a:r>
            <a:r>
              <a:rPr kumimoji="1" lang="en-US" altLang="ja-JP" dirty="0" smtClean="0"/>
              <a:t>1</a:t>
            </a:r>
            <a:r>
              <a:rPr kumimoji="1" lang="ja-JP" altLang="en-US" dirty="0" smtClean="0"/>
              <a:t>回ほど平均で有休取得していることになります。</a:t>
            </a:r>
            <a:endParaRPr kumimoji="1" lang="en-US" altLang="ja-JP" dirty="0" smtClean="0"/>
          </a:p>
          <a:p>
            <a:r>
              <a:rPr kumimoji="1" lang="ja-JP" altLang="en-US" dirty="0" smtClean="0"/>
              <a:t>先ほど説明しました年間休日</a:t>
            </a:r>
            <a:r>
              <a:rPr kumimoji="1" lang="en-US" altLang="ja-JP" dirty="0" smtClean="0"/>
              <a:t>120</a:t>
            </a:r>
            <a:r>
              <a:rPr kumimoji="1" lang="ja-JP" altLang="en-US" dirty="0" smtClean="0"/>
              <a:t>日に有休</a:t>
            </a:r>
            <a:r>
              <a:rPr kumimoji="1" lang="en-US" altLang="ja-JP" dirty="0" smtClean="0"/>
              <a:t>11.3</a:t>
            </a:r>
            <a:r>
              <a:rPr kumimoji="1" lang="ja-JP" altLang="en-US" dirty="0" smtClean="0"/>
              <a:t>日を足した</a:t>
            </a:r>
            <a:r>
              <a:rPr kumimoji="1" lang="en-US" altLang="ja-JP" dirty="0" smtClean="0"/>
              <a:t>131</a:t>
            </a:r>
            <a:r>
              <a:rPr kumimoji="1" lang="ja-JP" altLang="en-US" dirty="0" smtClean="0"/>
              <a:t>日が平均のお休み日数となります。</a:t>
            </a:r>
            <a:endParaRPr kumimoji="1" lang="ja-JP" altLang="en-US" dirty="0"/>
          </a:p>
        </p:txBody>
      </p:sp>
      <p:sp>
        <p:nvSpPr>
          <p:cNvPr id="4" name="スライド番号プレースホルダー 3"/>
          <p:cNvSpPr>
            <a:spLocks noGrp="1"/>
          </p:cNvSpPr>
          <p:nvPr>
            <p:ph type="sldNum" sz="quarter" idx="10"/>
          </p:nvPr>
        </p:nvSpPr>
        <p:spPr/>
        <p:txBody>
          <a:bodyPr/>
          <a:lstStyle/>
          <a:p>
            <a:fld id="{EA350BB3-3B6E-4025-93E1-6DE47EACB5A7}" type="slidenum">
              <a:rPr kumimoji="1" lang="ja-JP" altLang="en-US" smtClean="0"/>
              <a:pPr/>
              <a:t>8</a:t>
            </a:fld>
            <a:endParaRPr kumimoji="1" lang="ja-JP" altLang="en-US"/>
          </a:p>
        </p:txBody>
      </p:sp>
    </p:spTree>
    <p:extLst>
      <p:ext uri="{BB962C8B-B14F-4D97-AF65-F5344CB8AC3E}">
        <p14:creationId xmlns:p14="http://schemas.microsoft.com/office/powerpoint/2010/main" val="599825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033D026-39E4-4E8C-A52A-4EF3AC6B21C1}" type="datetimeFigureOut">
              <a:rPr kumimoji="1" lang="ja-JP" altLang="en-US" smtClean="0"/>
              <a:pPr/>
              <a:t>2026/6/21</a:t>
            </a:fld>
            <a:endParaRPr kumimoji="1" lang="ja-JP" alt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4013082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392258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033D026-39E4-4E8C-A52A-4EF3AC6B21C1}" type="datetimeFigureOut">
              <a:rPr kumimoji="1" lang="ja-JP" altLang="en-US" smtClean="0"/>
              <a:pPr/>
              <a:t>2026/6/21</a:t>
            </a:fld>
            <a:endParaRPr kumimoji="1" lang="ja-JP" alt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620506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224792813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426839572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3460853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4141140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033D026-39E4-4E8C-A52A-4EF3AC6B21C1}" type="datetimeFigureOut">
              <a:rPr kumimoji="1" lang="ja-JP" altLang="en-US" smtClean="0"/>
              <a:pPr/>
              <a:t>2026/6/21</a:t>
            </a:fld>
            <a:endParaRPr kumimoji="1" lang="ja-JP"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34501229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2834736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4033D026-39E4-4E8C-A52A-4EF3AC6B21C1}" type="datetimeFigureOut">
              <a:rPr kumimoji="1" lang="ja-JP" altLang="en-US" smtClean="0"/>
              <a:pPr/>
              <a:t>2026/6/21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80799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4033D026-39E4-4E8C-A52A-4EF3AC6B21C1}" type="datetimeFigureOut">
              <a:rPr kumimoji="1" lang="ja-JP" altLang="en-US" smtClean="0"/>
              <a:pPr/>
              <a:t>2026/6/21</a:t>
            </a:fld>
            <a:endParaRPr kumimoji="1" lang="ja-JP" altLang="en-US"/>
          </a:p>
        </p:txBody>
      </p:sp>
      <p:sp>
        <p:nvSpPr>
          <p:cNvPr id="5" name="Footer Placeholder 4"/>
          <p:cNvSpPr>
            <a:spLocks noGrp="1"/>
          </p:cNvSpPr>
          <p:nvPr>
            <p:ph type="ftr" sz="quarter" idx="11"/>
          </p:nvPr>
        </p:nvSpPr>
        <p:spPr>
          <a:xfrm>
            <a:off x="581192" y="5951810"/>
            <a:ext cx="5922209" cy="365125"/>
          </a:xfrm>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0E3E69B-4ED8-4CB5-9781-319EC4218F1C}" type="slidenum">
              <a:rPr kumimoji="1" lang="ja-JP" altLang="en-US" smtClean="0"/>
              <a:pPr/>
              <a:t>‹#›</a:t>
            </a:fld>
            <a:endParaRPr kumimoji="1" lang="ja-JP" altLang="en-US"/>
          </a:p>
        </p:txBody>
      </p:sp>
    </p:spTree>
    <p:extLst>
      <p:ext uri="{BB962C8B-B14F-4D97-AF65-F5344CB8AC3E}">
        <p14:creationId xmlns:p14="http://schemas.microsoft.com/office/powerpoint/2010/main" val="3242889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タイトル スライド">
    <p:spTree>
      <p:nvGrpSpPr>
        <p:cNvPr id="1" name=""/>
        <p:cNvGrpSpPr/>
        <p:nvPr/>
      </p:nvGrpSpPr>
      <p:grpSpPr>
        <a:xfrm>
          <a:off x="0" y="0"/>
          <a:ext cx="0" cy="0"/>
          <a:chOff x="0" y="0"/>
          <a:chExt cx="0" cy="0"/>
        </a:xfrm>
      </p:grpSpPr>
      <p:cxnSp>
        <p:nvCxnSpPr>
          <p:cNvPr id="8" name="直線コネクタ 7"/>
          <p:cNvCxnSpPr/>
          <p:nvPr userDrawn="1"/>
        </p:nvCxnSpPr>
        <p:spPr>
          <a:xfrm>
            <a:off x="0" y="606402"/>
            <a:ext cx="9144000" cy="0"/>
          </a:xfrm>
          <a:prstGeom prst="line">
            <a:avLst/>
          </a:prstGeom>
          <a:ln w="79375" cmpd="sng">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08136"/>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cxnSp>
        <p:nvCxnSpPr>
          <p:cNvPr id="8" name="直線コネクタ 7"/>
          <p:cNvCxnSpPr/>
          <p:nvPr userDrawn="1"/>
        </p:nvCxnSpPr>
        <p:spPr>
          <a:xfrm>
            <a:off x="0" y="606402"/>
            <a:ext cx="9144000" cy="0"/>
          </a:xfrm>
          <a:prstGeom prst="line">
            <a:avLst/>
          </a:prstGeom>
          <a:ln w="79375" cmpd="thinThick">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20287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4033D026-39E4-4E8C-A52A-4EF3AC6B21C1}" type="datetimeFigureOut">
              <a:rPr kumimoji="1" lang="ja-JP" altLang="en-US" smtClean="0"/>
              <a:pPr/>
              <a:t>2026/6/21</a:t>
            </a:fld>
            <a:endParaRPr kumimoji="1" lang="ja-JP" alt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ja-JP" alt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60E3E69B-4ED8-4CB5-9781-319EC4218F1C}" type="slidenum">
              <a:rPr kumimoji="1" lang="ja-JP" altLang="en-US" smtClean="0"/>
              <a:pPr/>
              <a:t>‹#›</a:t>
            </a:fld>
            <a:endParaRPr kumimoji="1" lang="ja-JP" alt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40569463"/>
      </p:ext>
    </p:extLst>
  </p:cSld>
  <p:clrMap bg1="lt1" tx1="dk1" bg2="lt2" tx2="dk2" accent1="accent1" accent2="accent2" accent3="accent3" accent4="accent4" accent5="accent5" accent6="accent6" hlink="hlink" folHlink="folHlink"/>
  <p:sldLayoutIdLst>
    <p:sldLayoutId id="2147484394" r:id="rId1"/>
    <p:sldLayoutId id="2147484395" r:id="rId2"/>
    <p:sldLayoutId id="2147484396" r:id="rId3"/>
    <p:sldLayoutId id="2147484397" r:id="rId4"/>
    <p:sldLayoutId id="2147484398" r:id="rId5"/>
    <p:sldLayoutId id="2147484399" r:id="rId6"/>
    <p:sldLayoutId id="2147484400" r:id="rId7"/>
    <p:sldLayoutId id="2147484401" r:id="rId8"/>
    <p:sldLayoutId id="2147484402" r:id="rId9"/>
    <p:sldLayoutId id="2147484403" r:id="rId10"/>
    <p:sldLayoutId id="2147484404" r:id="rId11"/>
    <p:sldLayoutId id="2147484405" r:id="rId12"/>
    <p:sldLayoutId id="2147484411" r:id="rId13"/>
  </p:sldLayoutIdLst>
  <p:txStyles>
    <p:title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charset="2"/>
        <a:buChar char=""/>
        <a:defRPr kumimoji="1"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charset="2"/>
        <a:buChar char=""/>
        <a:defRPr kumimoji="1"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charset="2"/>
        <a:buChar char=""/>
        <a:defRPr kumimoji="1"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youtube.com/watch?v=Gx1q1VqAPs0" TargetMode="Externa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youtube.com/watch?v=XXdK_zJYVkg" TargetMode="External"/><Relationship Id="rId1" Type="http://schemas.openxmlformats.org/officeDocument/2006/relationships/slideLayout" Target="../slideLayouts/slideLayout13.xml"/><Relationship Id="rId4" Type="http://schemas.openxmlformats.org/officeDocument/2006/relationships/hyperlink" Target="https://www.youtube.com/watch?v=Gx1q1VqAPs0"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NASpHdYZoE8" TargetMode="External"/><Relationship Id="rId7" Type="http://schemas.openxmlformats.org/officeDocument/2006/relationships/image" Target="../media/image35.png"/><Relationship Id="rId2" Type="http://schemas.openxmlformats.org/officeDocument/2006/relationships/hyperlink" Target="https://www.youtube.com/watch?v=pFvnmVQUAc8" TargetMode="Externa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hyperlink" Target="https://www.youtube.com/watch?v=vdw53Bxit3k"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99550" y="677749"/>
            <a:ext cx="8967019" cy="769441"/>
          </a:xfrm>
          <a:prstGeom prst="rect">
            <a:avLst/>
          </a:prstGeom>
        </p:spPr>
        <p:txBody>
          <a:bodyPr wrap="square">
            <a:spAutoFit/>
          </a:bodyPr>
          <a:lstStyle/>
          <a:p>
            <a:pPr algn="ctr"/>
            <a:r>
              <a:rPr lang="en-US" altLang="ja-JP" sz="4400" b="1" kern="100" dirty="0">
                <a:latin typeface="Meiryo UI" panose="020B0604030504040204" pitchFamily="50" charset="-128"/>
                <a:ea typeface="Meiryo UI" panose="020B0604030504040204" pitchFamily="50" charset="-128"/>
                <a:cs typeface="Times New Roman" panose="02020603050405020304" pitchFamily="18" charset="0"/>
              </a:rPr>
              <a:t>6</a:t>
            </a:r>
            <a:r>
              <a:rPr lang="ja-JP" altLang="en-US" sz="4400" b="1" kern="100" dirty="0" smtClean="0">
                <a:latin typeface="Meiryo UI" panose="020B0604030504040204" pitchFamily="50" charset="-128"/>
                <a:ea typeface="Meiryo UI" panose="020B0604030504040204" pitchFamily="50" charset="-128"/>
                <a:cs typeface="Times New Roman" panose="02020603050405020304" pitchFamily="18" charset="0"/>
              </a:rPr>
              <a:t>期技能実習生</a:t>
            </a:r>
            <a:r>
              <a:rPr lang="ja-JP" altLang="ja-JP" sz="4400" b="1" kern="100" dirty="0" smtClean="0">
                <a:latin typeface="Meiryo UI" panose="020B0604030504040204" pitchFamily="50" charset="-128"/>
                <a:ea typeface="Meiryo UI" panose="020B0604030504040204" pitchFamily="50" charset="-128"/>
                <a:cs typeface="Times New Roman" panose="02020603050405020304" pitchFamily="18" charset="0"/>
              </a:rPr>
              <a:t>オリエンテーション</a:t>
            </a:r>
            <a:endParaRPr lang="en-US" altLang="ja-JP" sz="4400" b="1" kern="100" dirty="0" smtClean="0">
              <a:latin typeface="Meiryo UI" panose="020B0604030504040204" pitchFamily="50" charset="-128"/>
              <a:ea typeface="Meiryo UI" panose="020B0604030504040204" pitchFamily="50" charset="-128"/>
              <a:cs typeface="Times New Roman" panose="02020603050405020304" pitchFamily="18" charset="0"/>
            </a:endParaRPr>
          </a:p>
        </p:txBody>
      </p:sp>
      <p:sp>
        <p:nvSpPr>
          <p:cNvPr id="4" name="テキスト ボックス 3"/>
          <p:cNvSpPr txBox="1"/>
          <p:nvPr/>
        </p:nvSpPr>
        <p:spPr>
          <a:xfrm>
            <a:off x="3093470" y="4459630"/>
            <a:ext cx="3377380" cy="461665"/>
          </a:xfrm>
          <a:prstGeom prst="rect">
            <a:avLst/>
          </a:prstGeom>
          <a:noFill/>
        </p:spPr>
        <p:txBody>
          <a:bodyPr wrap="square" rtlCol="0">
            <a:spAutoFit/>
          </a:bodyPr>
          <a:lstStyle/>
          <a:p>
            <a:pPr algn="ctr"/>
            <a:r>
              <a:rPr lang="en-US" altLang="ja-JP" sz="24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rPr>
              <a:t>2026</a:t>
            </a:r>
            <a:r>
              <a:rPr lang="ja-JP" altLang="en-US" sz="24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rPr>
              <a:t>年</a:t>
            </a:r>
            <a:r>
              <a:rPr lang="en-US" altLang="ja-JP" sz="2400" b="1" kern="100" dirty="0">
                <a:solidFill>
                  <a:schemeClr val="bg1"/>
                </a:solidFill>
                <a:latin typeface="Meiryo UI" panose="020B0604030504040204" pitchFamily="50" charset="-128"/>
                <a:ea typeface="Meiryo UI" panose="020B0604030504040204" pitchFamily="50" charset="-128"/>
                <a:cs typeface="Times New Roman" panose="02020603050405020304" pitchFamily="18" charset="0"/>
              </a:rPr>
              <a:t>07</a:t>
            </a:r>
            <a:r>
              <a:rPr lang="ja-JP" altLang="en-US" sz="24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rPr>
              <a:t>月</a:t>
            </a:r>
            <a:endParaRPr lang="ja-JP" altLang="en-US" sz="2400" b="1" dirty="0">
              <a:solidFill>
                <a:schemeClr val="bg1"/>
              </a:solidFill>
              <a:latin typeface="Meiryo UI" panose="020B0604030504040204" pitchFamily="50" charset="-128"/>
              <a:ea typeface="Meiryo UI" panose="020B0604030504040204" pitchFamily="50" charset="-128"/>
            </a:endParaRPr>
          </a:p>
        </p:txBody>
      </p:sp>
      <p:sp>
        <p:nvSpPr>
          <p:cNvPr id="6" name="正方形/長方形 5"/>
          <p:cNvSpPr/>
          <p:nvPr/>
        </p:nvSpPr>
        <p:spPr>
          <a:xfrm>
            <a:off x="199100" y="3382412"/>
            <a:ext cx="8967019" cy="1077218"/>
          </a:xfrm>
          <a:prstGeom prst="rect">
            <a:avLst/>
          </a:prstGeom>
        </p:spPr>
        <p:txBody>
          <a:bodyPr wrap="square">
            <a:spAutoFit/>
          </a:bodyPr>
          <a:lstStyle/>
          <a:p>
            <a:pPr algn="ctr"/>
            <a:r>
              <a:rPr lang="ja-JP" altLang="en-US" sz="36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rPr>
              <a:t>株式会社ホンダモビリティ中部</a:t>
            </a:r>
            <a:endParaRPr lang="en-US" altLang="ja-JP" sz="36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endParaRPr>
          </a:p>
          <a:p>
            <a:pPr algn="ctr"/>
            <a:r>
              <a:rPr lang="ja-JP" altLang="en-US" sz="28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rPr>
              <a:t>愛知・静岡・北陸</a:t>
            </a:r>
            <a:endParaRPr lang="en-US" altLang="ja-JP" sz="2800" b="1" kern="100" dirty="0" smtClean="0">
              <a:solidFill>
                <a:schemeClr val="bg1"/>
              </a:solidFill>
              <a:latin typeface="Meiryo UI" panose="020B0604030504040204" pitchFamily="50" charset="-128"/>
              <a:ea typeface="Meiryo UI" panose="020B0604030504040204" pitchFamily="50" charset="-128"/>
              <a:cs typeface="Times New Roman" panose="02020603050405020304" pitchFamily="18" charset="0"/>
            </a:endParaRPr>
          </a:p>
        </p:txBody>
      </p:sp>
      <p:sp>
        <p:nvSpPr>
          <p:cNvPr id="5" name="テキスト ボックス 4"/>
          <p:cNvSpPr txBox="1"/>
          <p:nvPr/>
        </p:nvSpPr>
        <p:spPr>
          <a:xfrm>
            <a:off x="99550" y="1332228"/>
            <a:ext cx="9166120" cy="954107"/>
          </a:xfrm>
          <a:prstGeom prst="rect">
            <a:avLst/>
          </a:prstGeom>
          <a:noFill/>
        </p:spPr>
        <p:txBody>
          <a:bodyPr wrap="square" rtlCol="0">
            <a:spAutoFit/>
          </a:bodyPr>
          <a:lstStyle/>
          <a:p>
            <a:pPr algn="ctr"/>
            <a:r>
              <a:rPr lang="en-US" altLang="ja-JP" sz="2800" dirty="0" err="1"/>
              <a:t>Orientasi</a:t>
            </a:r>
            <a:r>
              <a:rPr lang="en-US" altLang="ja-JP" sz="2800" dirty="0"/>
              <a:t> </a:t>
            </a:r>
            <a:r>
              <a:rPr lang="en-US" altLang="ja-JP" sz="2800" dirty="0" err="1"/>
              <a:t>Awal</a:t>
            </a:r>
            <a:r>
              <a:rPr lang="en-US" altLang="ja-JP" sz="2800" dirty="0"/>
              <a:t> </a:t>
            </a:r>
            <a:r>
              <a:rPr lang="en-US" altLang="ja-JP" sz="2800" dirty="0" err="1"/>
              <a:t>untuk</a:t>
            </a:r>
            <a:r>
              <a:rPr lang="en-US" altLang="ja-JP" sz="2800" dirty="0"/>
              <a:t> </a:t>
            </a:r>
            <a:r>
              <a:rPr lang="en-US" altLang="ja-JP" sz="2800" dirty="0" err="1"/>
              <a:t>Peserta</a:t>
            </a:r>
            <a:r>
              <a:rPr lang="en-US" altLang="ja-JP" sz="2800" dirty="0"/>
              <a:t> </a:t>
            </a:r>
            <a:r>
              <a:rPr lang="en-US" altLang="ja-JP" sz="2800" dirty="0" err="1"/>
              <a:t>Magang</a:t>
            </a:r>
            <a:r>
              <a:rPr lang="en-US" altLang="ja-JP" sz="2800" dirty="0"/>
              <a:t> </a:t>
            </a:r>
            <a:r>
              <a:rPr lang="en-US" altLang="ja-JP" sz="2800" dirty="0" err="1"/>
              <a:t>Teknis</a:t>
            </a:r>
            <a:r>
              <a:rPr lang="en-US" altLang="ja-JP" sz="2800" dirty="0"/>
              <a:t> </a:t>
            </a:r>
            <a:r>
              <a:rPr lang="en-US" altLang="ja-JP" sz="2800" dirty="0" err="1" smtClean="0"/>
              <a:t>Angkatan</a:t>
            </a:r>
            <a:endParaRPr lang="en-US" altLang="ja-JP" sz="2800" dirty="0" smtClean="0"/>
          </a:p>
          <a:p>
            <a:pPr algn="ctr"/>
            <a:r>
              <a:rPr lang="en-US" altLang="ja-JP" sz="2800" dirty="0" smtClean="0"/>
              <a:t> </a:t>
            </a:r>
            <a:r>
              <a:rPr lang="en-US" altLang="ja-JP" sz="2800" dirty="0"/>
              <a:t>ke-6 di </a:t>
            </a:r>
            <a:r>
              <a:rPr lang="en-US" altLang="ja-JP" sz="2800" dirty="0" err="1"/>
              <a:t>Jepang</a:t>
            </a:r>
            <a:endParaRPr kumimoji="1" lang="ja-JP" altLang="en-US" sz="2800" b="1" dirty="0">
              <a:latin typeface="Times New Roman" panose="02020603050405020304" pitchFamily="18" charset="0"/>
              <a:cs typeface="Times New Roman" panose="02020603050405020304" pitchFamily="18" charset="0"/>
            </a:endParaRPr>
          </a:p>
        </p:txBody>
      </p:sp>
      <p:sp>
        <p:nvSpPr>
          <p:cNvPr id="7" name="正方形/長方形 6"/>
          <p:cNvSpPr/>
          <p:nvPr/>
        </p:nvSpPr>
        <p:spPr>
          <a:xfrm>
            <a:off x="166605" y="4921295"/>
            <a:ext cx="8967019" cy="1446550"/>
          </a:xfrm>
          <a:prstGeom prst="rect">
            <a:avLst/>
          </a:prstGeom>
        </p:spPr>
        <p:txBody>
          <a:bodyPr wrap="square">
            <a:spAutoFit/>
          </a:bodyPr>
          <a:lstStyle/>
          <a:p>
            <a:pPr algn="ctr"/>
            <a:r>
              <a:rPr lang="en-US" altLang="ja-JP" sz="3200" b="1" dirty="0">
                <a:solidFill>
                  <a:schemeClr val="bg1"/>
                </a:solidFill>
              </a:rPr>
              <a:t>Honda Mobility Chubu Co., Ltd.</a:t>
            </a:r>
            <a:br>
              <a:rPr lang="en-US" altLang="ja-JP" sz="3200" b="1" dirty="0">
                <a:solidFill>
                  <a:schemeClr val="bg1"/>
                </a:solidFill>
              </a:rPr>
            </a:br>
            <a:r>
              <a:rPr lang="en-US" altLang="ja-JP" sz="3200" b="1" dirty="0">
                <a:solidFill>
                  <a:schemeClr val="bg1"/>
                </a:solidFill>
              </a:rPr>
              <a:t>Wilayah Aichi, Shizuoka, </a:t>
            </a:r>
            <a:r>
              <a:rPr lang="en-US" altLang="ja-JP" sz="3200" b="1" dirty="0" err="1">
                <a:solidFill>
                  <a:schemeClr val="bg1"/>
                </a:solidFill>
              </a:rPr>
              <a:t>dan</a:t>
            </a:r>
            <a:r>
              <a:rPr lang="en-US" altLang="ja-JP" sz="3200" b="1" dirty="0">
                <a:solidFill>
                  <a:schemeClr val="bg1"/>
                </a:solidFill>
              </a:rPr>
              <a:t> </a:t>
            </a:r>
            <a:r>
              <a:rPr lang="en-US" altLang="ja-JP" sz="3200" b="1" dirty="0" smtClean="0">
                <a:solidFill>
                  <a:schemeClr val="bg1"/>
                </a:solidFill>
              </a:rPr>
              <a:t>Hokuriku</a:t>
            </a:r>
          </a:p>
          <a:p>
            <a:pPr algn="ctr"/>
            <a:r>
              <a:rPr lang="en-US" altLang="ja-JP" sz="2400" b="1" dirty="0" err="1">
                <a:solidFill>
                  <a:schemeClr val="bg1"/>
                </a:solidFill>
              </a:rPr>
              <a:t>Juli</a:t>
            </a:r>
            <a:r>
              <a:rPr lang="en-US" altLang="ja-JP" sz="2400" b="1" dirty="0">
                <a:solidFill>
                  <a:schemeClr val="bg1"/>
                </a:solidFill>
              </a:rPr>
              <a:t> 2026</a:t>
            </a:r>
            <a:endParaRPr lang="en-US" altLang="ja-JP" sz="2400" b="1" kern="100" dirty="0" smtClean="0">
              <a:solidFill>
                <a:schemeClr val="bg1"/>
              </a:solidFill>
              <a:latin typeface="Times New Roman" panose="02020603050405020304" pitchFamily="18" charset="0"/>
              <a:ea typeface="Meiryo UI" panose="020B0604030504040204" pitchFamily="50" charset="-128"/>
              <a:cs typeface="Times New Roman" panose="02020603050405020304" pitchFamily="18" charset="0"/>
            </a:endParaRPr>
          </a:p>
        </p:txBody>
      </p:sp>
      <p:grpSp>
        <p:nvGrpSpPr>
          <p:cNvPr id="8" name="グループ化 7"/>
          <p:cNvGrpSpPr/>
          <p:nvPr/>
        </p:nvGrpSpPr>
        <p:grpSpPr>
          <a:xfrm>
            <a:off x="2915174" y="2101669"/>
            <a:ext cx="3469880" cy="1148706"/>
            <a:chOff x="2112366" y="4920950"/>
            <a:chExt cx="5036264" cy="2052269"/>
          </a:xfrm>
        </p:grpSpPr>
        <p:pic>
          <p:nvPicPr>
            <p:cNvPr id="9" name="図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927023">
              <a:off x="5738407" y="5177230"/>
              <a:ext cx="1410223" cy="1275240"/>
            </a:xfrm>
            <a:prstGeom prst="rect">
              <a:avLst/>
            </a:prstGeom>
          </p:spPr>
        </p:pic>
        <p:pic>
          <p:nvPicPr>
            <p:cNvPr id="10" name="図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2366" y="4920951"/>
              <a:ext cx="2052268" cy="2052268"/>
            </a:xfrm>
            <a:prstGeom prst="rect">
              <a:avLst/>
            </a:prstGeom>
          </p:spPr>
        </p:pic>
        <p:pic>
          <p:nvPicPr>
            <p:cNvPr id="11" name="図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63103" y="4920950"/>
              <a:ext cx="1939521" cy="1939521"/>
            </a:xfrm>
            <a:prstGeom prst="rect">
              <a:avLst/>
            </a:prstGeom>
          </p:spPr>
        </p:pic>
      </p:grpSp>
    </p:spTree>
    <p:extLst>
      <p:ext uri="{BB962C8B-B14F-4D97-AF65-F5344CB8AC3E}">
        <p14:creationId xmlns:p14="http://schemas.microsoft.com/office/powerpoint/2010/main" val="41338750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427238" y="952515"/>
            <a:ext cx="8775289" cy="1815882"/>
          </a:xfrm>
          <a:prstGeom prst="rect">
            <a:avLst/>
          </a:prstGeom>
        </p:spPr>
        <p:txBody>
          <a:bodyPr wrap="square">
            <a:spAutoFit/>
          </a:bodyPr>
          <a:lstStyle/>
          <a:p>
            <a:r>
              <a:rPr lang="ja-JP" altLang="en-US" sz="1600" b="1" dirty="0">
                <a:latin typeface="Meiryo UI" panose="020B0604030504040204" pitchFamily="50" charset="-128"/>
                <a:ea typeface="Meiryo UI" panose="020B0604030504040204" pitchFamily="50" charset="-128"/>
              </a:rPr>
              <a:t>みなさん</a:t>
            </a:r>
            <a:r>
              <a:rPr lang="ja-JP" altLang="en-US" sz="1600" b="1" dirty="0" smtClean="0">
                <a:latin typeface="Meiryo UI" panose="020B0604030504040204" pitchFamily="50" charset="-128"/>
                <a:ea typeface="Meiryo UI" panose="020B0604030504040204" pitchFamily="50" charset="-128"/>
              </a:rPr>
              <a:t>、</a:t>
            </a:r>
            <a:endParaRPr lang="en-US" altLang="ja-JP" sz="1600" b="1" dirty="0" smtClean="0">
              <a:latin typeface="Meiryo UI" panose="020B0604030504040204" pitchFamily="50" charset="-128"/>
              <a:ea typeface="Meiryo UI" panose="020B0604030504040204" pitchFamily="50" charset="-128"/>
            </a:endParaRPr>
          </a:p>
          <a:p>
            <a:endParaRPr lang="ja-JP" altLang="en-US" sz="1600" b="1" dirty="0">
              <a:latin typeface="Meiryo UI" panose="020B0604030504040204" pitchFamily="50" charset="-128"/>
              <a:ea typeface="Meiryo UI" panose="020B0604030504040204" pitchFamily="50" charset="-128"/>
            </a:endParaRPr>
          </a:p>
          <a:p>
            <a:r>
              <a:rPr lang="ja-JP" altLang="en-US" sz="1600" b="1" dirty="0">
                <a:latin typeface="Meiryo UI" panose="020B0604030504040204" pitchFamily="50" charset="-128"/>
                <a:ea typeface="Meiryo UI" panose="020B0604030504040204" pitchFamily="50" charset="-128"/>
              </a:rPr>
              <a:t>今日は、みなさんが日本で安心して生活し、仕事ができるようにオリエンテーションをします。</a:t>
            </a:r>
          </a:p>
          <a:p>
            <a:r>
              <a:rPr lang="ja-JP" altLang="en-US" sz="1600" b="1" dirty="0">
                <a:latin typeface="Meiryo UI" panose="020B0604030504040204" pitchFamily="50" charset="-128"/>
                <a:ea typeface="Meiryo UI" panose="020B0604030504040204" pitchFamily="50" charset="-128"/>
              </a:rPr>
              <a:t>この時間に、技能実習制度、仕事のルール、日本の文化や生活について勉強します。</a:t>
            </a:r>
          </a:p>
          <a:p>
            <a:r>
              <a:rPr lang="ja-JP" altLang="en-US" sz="1600" b="1" dirty="0">
                <a:latin typeface="Meiryo UI" panose="020B0604030504040204" pitchFamily="50" charset="-128"/>
                <a:ea typeface="Meiryo UI" panose="020B0604030504040204" pitchFamily="50" charset="-128"/>
              </a:rPr>
              <a:t>わからないことや心配なことがあれば、いつでも質問してください。</a:t>
            </a:r>
          </a:p>
          <a:p>
            <a:r>
              <a:rPr lang="ja-JP" altLang="en-US" sz="1600" b="1" dirty="0">
                <a:latin typeface="Meiryo UI" panose="020B0604030504040204" pitchFamily="50" charset="-128"/>
                <a:ea typeface="Meiryo UI" panose="020B0604030504040204" pitchFamily="50" charset="-128"/>
              </a:rPr>
              <a:t>みなさんと一緒に、楽しく学びたいと思います</a:t>
            </a:r>
            <a:r>
              <a:rPr lang="ja-JP" altLang="en-US" sz="1600" b="1" dirty="0" smtClean="0">
                <a:latin typeface="Meiryo UI" panose="020B0604030504040204" pitchFamily="50" charset="-128"/>
                <a:ea typeface="Meiryo UI" panose="020B0604030504040204" pitchFamily="50" charset="-128"/>
              </a:rPr>
              <a:t>。</a:t>
            </a:r>
            <a:endParaRPr lang="en-US" altLang="ja-JP" sz="1600" b="1" dirty="0" smtClean="0">
              <a:latin typeface="Meiryo UI" panose="020B0604030504040204" pitchFamily="50" charset="-128"/>
              <a:ea typeface="Meiryo UI" panose="020B0604030504040204" pitchFamily="50" charset="-128"/>
            </a:endParaRPr>
          </a:p>
          <a:p>
            <a:r>
              <a:rPr lang="ja-JP" altLang="en-US" sz="1600" b="1" dirty="0" smtClean="0">
                <a:latin typeface="Meiryo UI" panose="020B0604030504040204" pitchFamily="50" charset="-128"/>
                <a:ea typeface="Meiryo UI" panose="020B0604030504040204" pitchFamily="50" charset="-128"/>
              </a:rPr>
              <a:t>よろしく</a:t>
            </a:r>
            <a:r>
              <a:rPr lang="ja-JP" altLang="en-US" sz="1600" b="1" dirty="0">
                <a:latin typeface="Meiryo UI" panose="020B0604030504040204" pitchFamily="50" charset="-128"/>
                <a:ea typeface="Meiryo UI" panose="020B0604030504040204" pitchFamily="50" charset="-128"/>
              </a:rPr>
              <a:t>お願いします</a:t>
            </a:r>
            <a:r>
              <a:rPr lang="ja-JP" altLang="en-US" sz="1600" dirty="0" smtClean="0">
                <a:latin typeface="Meiryo UI" panose="020B0604030504040204" pitchFamily="50" charset="-128"/>
                <a:ea typeface="Meiryo UI" panose="020B0604030504040204" pitchFamily="50" charset="-128"/>
              </a:rPr>
              <a:t>。</a:t>
            </a:r>
            <a:endParaRPr lang="ja-JP" altLang="en-US" sz="1600" dirty="0">
              <a:latin typeface="Meiryo UI" panose="020B0604030504040204" pitchFamily="50" charset="-128"/>
              <a:ea typeface="Meiryo UI" panose="020B0604030504040204" pitchFamily="50" charset="-128"/>
            </a:endParaRPr>
          </a:p>
        </p:txBody>
      </p:sp>
      <p:sp>
        <p:nvSpPr>
          <p:cNvPr id="4" name="テキスト ボックス 3"/>
          <p:cNvSpPr txBox="1"/>
          <p:nvPr/>
        </p:nvSpPr>
        <p:spPr>
          <a:xfrm>
            <a:off x="427238" y="3067472"/>
            <a:ext cx="8249500" cy="3170099"/>
          </a:xfrm>
          <a:prstGeom prst="rect">
            <a:avLst/>
          </a:prstGeom>
          <a:noFill/>
        </p:spPr>
        <p:txBody>
          <a:bodyPr wrap="square" rtlCol="0">
            <a:spAutoFit/>
          </a:bodyPr>
          <a:lstStyle/>
          <a:p>
            <a:r>
              <a:rPr lang="en-US" altLang="ja-JP" sz="2000" b="1" dirty="0" err="1">
                <a:solidFill>
                  <a:schemeClr val="bg1"/>
                </a:solidFill>
              </a:rPr>
              <a:t>Selamat</a:t>
            </a:r>
            <a:r>
              <a:rPr lang="en-US" altLang="ja-JP" sz="2000" b="1" dirty="0">
                <a:solidFill>
                  <a:schemeClr val="bg1"/>
                </a:solidFill>
              </a:rPr>
              <a:t> </a:t>
            </a:r>
            <a:r>
              <a:rPr lang="en-US" altLang="ja-JP" sz="2000" b="1" dirty="0" err="1">
                <a:solidFill>
                  <a:schemeClr val="bg1"/>
                </a:solidFill>
              </a:rPr>
              <a:t>datang</a:t>
            </a:r>
            <a:r>
              <a:rPr lang="en-US" altLang="ja-JP" sz="2000" b="1" dirty="0">
                <a:solidFill>
                  <a:schemeClr val="bg1"/>
                </a:solidFill>
              </a:rPr>
              <a:t> </a:t>
            </a:r>
            <a:r>
              <a:rPr lang="en-US" altLang="ja-JP" sz="2000" b="1" dirty="0" err="1">
                <a:solidFill>
                  <a:schemeClr val="bg1"/>
                </a:solidFill>
              </a:rPr>
              <a:t>kepada</a:t>
            </a:r>
            <a:r>
              <a:rPr lang="en-US" altLang="ja-JP" sz="2000" b="1" dirty="0">
                <a:solidFill>
                  <a:schemeClr val="bg1"/>
                </a:solidFill>
              </a:rPr>
              <a:t> </a:t>
            </a:r>
            <a:r>
              <a:rPr lang="en-US" altLang="ja-JP" sz="2000" b="1" dirty="0" err="1">
                <a:solidFill>
                  <a:schemeClr val="bg1"/>
                </a:solidFill>
              </a:rPr>
              <a:t>semuanya</a:t>
            </a:r>
            <a:r>
              <a:rPr lang="en-US" altLang="ja-JP" sz="2000" b="1" dirty="0">
                <a:solidFill>
                  <a:schemeClr val="bg1"/>
                </a:solidFill>
              </a:rPr>
              <a:t>.</a:t>
            </a:r>
            <a:endParaRPr lang="en-US" altLang="ja-JP" sz="2000" dirty="0">
              <a:solidFill>
                <a:schemeClr val="bg1"/>
              </a:solidFill>
            </a:endParaRPr>
          </a:p>
          <a:p>
            <a:r>
              <a:rPr lang="en-US" altLang="ja-JP" sz="2000" dirty="0">
                <a:solidFill>
                  <a:schemeClr val="bg1"/>
                </a:solidFill>
              </a:rPr>
              <a:t>Hari </a:t>
            </a:r>
            <a:r>
              <a:rPr lang="en-US" altLang="ja-JP" sz="2000" dirty="0" err="1">
                <a:solidFill>
                  <a:schemeClr val="bg1"/>
                </a:solidFill>
              </a:rPr>
              <a:t>ini</a:t>
            </a:r>
            <a:r>
              <a:rPr lang="en-US" altLang="ja-JP" sz="2000" dirty="0">
                <a:solidFill>
                  <a:schemeClr val="bg1"/>
                </a:solidFill>
              </a:rPr>
              <a:t>, kami </a:t>
            </a:r>
            <a:r>
              <a:rPr lang="en-US" altLang="ja-JP" sz="2000" dirty="0" err="1">
                <a:solidFill>
                  <a:schemeClr val="bg1"/>
                </a:solidFill>
              </a:rPr>
              <a:t>akan</a:t>
            </a:r>
            <a:r>
              <a:rPr lang="en-US" altLang="ja-JP" sz="2000" dirty="0">
                <a:solidFill>
                  <a:schemeClr val="bg1"/>
                </a:solidFill>
              </a:rPr>
              <a:t> </a:t>
            </a:r>
            <a:r>
              <a:rPr lang="en-US" altLang="ja-JP" sz="2000" dirty="0" err="1">
                <a:solidFill>
                  <a:schemeClr val="bg1"/>
                </a:solidFill>
              </a:rPr>
              <a:t>mengadakan</a:t>
            </a:r>
            <a:r>
              <a:rPr lang="en-US" altLang="ja-JP" sz="2000" dirty="0">
                <a:solidFill>
                  <a:schemeClr val="bg1"/>
                </a:solidFill>
              </a:rPr>
              <a:t> </a:t>
            </a:r>
            <a:r>
              <a:rPr lang="en-US" altLang="ja-JP" sz="2000" dirty="0" err="1">
                <a:solidFill>
                  <a:schemeClr val="bg1"/>
                </a:solidFill>
              </a:rPr>
              <a:t>orientasi</a:t>
            </a:r>
            <a:r>
              <a:rPr lang="en-US" altLang="ja-JP" sz="2000" dirty="0">
                <a:solidFill>
                  <a:schemeClr val="bg1"/>
                </a:solidFill>
              </a:rPr>
              <a:t> agar </a:t>
            </a:r>
            <a:r>
              <a:rPr lang="en-US" altLang="ja-JP" sz="2000" dirty="0" err="1">
                <a:solidFill>
                  <a:schemeClr val="bg1"/>
                </a:solidFill>
              </a:rPr>
              <a:t>Anda</a:t>
            </a:r>
            <a:r>
              <a:rPr lang="en-US" altLang="ja-JP" sz="2000" dirty="0">
                <a:solidFill>
                  <a:schemeClr val="bg1"/>
                </a:solidFill>
              </a:rPr>
              <a:t> </a:t>
            </a:r>
            <a:r>
              <a:rPr lang="en-US" altLang="ja-JP" sz="2000" dirty="0" err="1">
                <a:solidFill>
                  <a:schemeClr val="bg1"/>
                </a:solidFill>
              </a:rPr>
              <a:t>dapat</a:t>
            </a:r>
            <a:r>
              <a:rPr lang="en-US" altLang="ja-JP" sz="2000" dirty="0">
                <a:solidFill>
                  <a:schemeClr val="bg1"/>
                </a:solidFill>
              </a:rPr>
              <a:t> </a:t>
            </a:r>
            <a:r>
              <a:rPr lang="en-US" altLang="ja-JP" sz="2000" dirty="0" err="1">
                <a:solidFill>
                  <a:schemeClr val="bg1"/>
                </a:solidFill>
              </a:rPr>
              <a:t>menjalani</a:t>
            </a:r>
            <a:r>
              <a:rPr lang="en-US" altLang="ja-JP" sz="2000" dirty="0">
                <a:solidFill>
                  <a:schemeClr val="bg1"/>
                </a:solidFill>
              </a:rPr>
              <a:t> </a:t>
            </a:r>
            <a:r>
              <a:rPr lang="en-US" altLang="ja-JP" sz="2000" dirty="0" err="1">
                <a:solidFill>
                  <a:schemeClr val="bg1"/>
                </a:solidFill>
              </a:rPr>
              <a:t>kehidupan</a:t>
            </a:r>
            <a:r>
              <a:rPr lang="en-US" altLang="ja-JP" sz="2000" dirty="0">
                <a:solidFill>
                  <a:schemeClr val="bg1"/>
                </a:solidFill>
              </a:rPr>
              <a:t> </a:t>
            </a:r>
            <a:r>
              <a:rPr lang="en-US" altLang="ja-JP" sz="2000" dirty="0" err="1">
                <a:solidFill>
                  <a:schemeClr val="bg1"/>
                </a:solidFill>
              </a:rPr>
              <a:t>dan</a:t>
            </a:r>
            <a:r>
              <a:rPr lang="en-US" altLang="ja-JP" sz="2000" dirty="0">
                <a:solidFill>
                  <a:schemeClr val="bg1"/>
                </a:solidFill>
              </a:rPr>
              <a:t> </a:t>
            </a:r>
            <a:r>
              <a:rPr lang="en-US" altLang="ja-JP" sz="2000" dirty="0" err="1">
                <a:solidFill>
                  <a:schemeClr val="bg1"/>
                </a:solidFill>
              </a:rPr>
              <a:t>bekerja</a:t>
            </a:r>
            <a:r>
              <a:rPr lang="en-US" altLang="ja-JP" sz="2000" dirty="0">
                <a:solidFill>
                  <a:schemeClr val="bg1"/>
                </a:solidFill>
              </a:rPr>
              <a:t> di </a:t>
            </a:r>
            <a:r>
              <a:rPr lang="en-US" altLang="ja-JP" sz="2000" dirty="0" err="1">
                <a:solidFill>
                  <a:schemeClr val="bg1"/>
                </a:solidFill>
              </a:rPr>
              <a:t>Jepang</a:t>
            </a:r>
            <a:r>
              <a:rPr lang="en-US" altLang="ja-JP" sz="2000" dirty="0">
                <a:solidFill>
                  <a:schemeClr val="bg1"/>
                </a:solidFill>
              </a:rPr>
              <a:t> </a:t>
            </a:r>
            <a:r>
              <a:rPr lang="en-US" altLang="ja-JP" sz="2000" dirty="0" err="1">
                <a:solidFill>
                  <a:schemeClr val="bg1"/>
                </a:solidFill>
              </a:rPr>
              <a:t>dengan</a:t>
            </a:r>
            <a:r>
              <a:rPr lang="en-US" altLang="ja-JP" sz="2000" dirty="0">
                <a:solidFill>
                  <a:schemeClr val="bg1"/>
                </a:solidFill>
              </a:rPr>
              <a:t> </a:t>
            </a:r>
            <a:r>
              <a:rPr lang="en-US" altLang="ja-JP" sz="2000" dirty="0" err="1">
                <a:solidFill>
                  <a:schemeClr val="bg1"/>
                </a:solidFill>
              </a:rPr>
              <a:t>lancar</a:t>
            </a:r>
            <a:r>
              <a:rPr lang="en-US" altLang="ja-JP" sz="2000" dirty="0">
                <a:solidFill>
                  <a:schemeClr val="bg1"/>
                </a:solidFill>
              </a:rPr>
              <a:t>.</a:t>
            </a:r>
          </a:p>
          <a:p>
            <a:r>
              <a:rPr lang="en-US" altLang="ja-JP" sz="2000" dirty="0" err="1">
                <a:solidFill>
                  <a:schemeClr val="bg1"/>
                </a:solidFill>
              </a:rPr>
              <a:t>Dalam</a:t>
            </a:r>
            <a:r>
              <a:rPr lang="en-US" altLang="ja-JP" sz="2000" dirty="0">
                <a:solidFill>
                  <a:schemeClr val="bg1"/>
                </a:solidFill>
              </a:rPr>
              <a:t> </a:t>
            </a:r>
            <a:r>
              <a:rPr lang="en-US" altLang="ja-JP" sz="2000" dirty="0" err="1">
                <a:solidFill>
                  <a:schemeClr val="bg1"/>
                </a:solidFill>
              </a:rPr>
              <a:t>orientasi</a:t>
            </a:r>
            <a:r>
              <a:rPr lang="en-US" altLang="ja-JP" sz="2000" dirty="0">
                <a:solidFill>
                  <a:schemeClr val="bg1"/>
                </a:solidFill>
              </a:rPr>
              <a:t> </a:t>
            </a:r>
            <a:r>
              <a:rPr lang="en-US" altLang="ja-JP" sz="2000" dirty="0" err="1">
                <a:solidFill>
                  <a:schemeClr val="bg1"/>
                </a:solidFill>
              </a:rPr>
              <a:t>ini</a:t>
            </a:r>
            <a:r>
              <a:rPr lang="en-US" altLang="ja-JP" sz="2000" dirty="0">
                <a:solidFill>
                  <a:schemeClr val="bg1"/>
                </a:solidFill>
              </a:rPr>
              <a:t>, </a:t>
            </a:r>
            <a:r>
              <a:rPr lang="en-US" altLang="ja-JP" sz="2000" dirty="0" err="1">
                <a:solidFill>
                  <a:schemeClr val="bg1"/>
                </a:solidFill>
              </a:rPr>
              <a:t>Anda</a:t>
            </a:r>
            <a:r>
              <a:rPr lang="en-US" altLang="ja-JP" sz="2000" dirty="0">
                <a:solidFill>
                  <a:schemeClr val="bg1"/>
                </a:solidFill>
              </a:rPr>
              <a:t> </a:t>
            </a:r>
            <a:r>
              <a:rPr lang="en-US" altLang="ja-JP" sz="2000" dirty="0" err="1">
                <a:solidFill>
                  <a:schemeClr val="bg1"/>
                </a:solidFill>
              </a:rPr>
              <a:t>akan</a:t>
            </a:r>
            <a:r>
              <a:rPr lang="en-US" altLang="ja-JP" sz="2000" dirty="0">
                <a:solidFill>
                  <a:schemeClr val="bg1"/>
                </a:solidFill>
              </a:rPr>
              <a:t> </a:t>
            </a:r>
            <a:r>
              <a:rPr lang="en-US" altLang="ja-JP" sz="2000" dirty="0" err="1">
                <a:solidFill>
                  <a:schemeClr val="bg1"/>
                </a:solidFill>
              </a:rPr>
              <a:t>mempelajari</a:t>
            </a:r>
            <a:r>
              <a:rPr lang="en-US" altLang="ja-JP" sz="2000" dirty="0">
                <a:solidFill>
                  <a:schemeClr val="bg1"/>
                </a:solidFill>
              </a:rPr>
              <a:t> </a:t>
            </a:r>
            <a:r>
              <a:rPr lang="en-US" altLang="ja-JP" sz="2000" dirty="0" err="1">
                <a:solidFill>
                  <a:schemeClr val="bg1"/>
                </a:solidFill>
              </a:rPr>
              <a:t>tentang</a:t>
            </a:r>
            <a:r>
              <a:rPr lang="en-US" altLang="ja-JP" sz="2000" dirty="0">
                <a:solidFill>
                  <a:schemeClr val="bg1"/>
                </a:solidFill>
              </a:rPr>
              <a:t> </a:t>
            </a:r>
            <a:r>
              <a:rPr lang="en-US" altLang="ja-JP" sz="2000" dirty="0" err="1">
                <a:solidFill>
                  <a:schemeClr val="bg1"/>
                </a:solidFill>
              </a:rPr>
              <a:t>sistem</a:t>
            </a:r>
            <a:r>
              <a:rPr lang="en-US" altLang="ja-JP" sz="2000" dirty="0">
                <a:solidFill>
                  <a:schemeClr val="bg1"/>
                </a:solidFill>
              </a:rPr>
              <a:t> </a:t>
            </a:r>
            <a:r>
              <a:rPr lang="en-US" altLang="ja-JP" sz="2000" dirty="0" err="1">
                <a:solidFill>
                  <a:schemeClr val="bg1"/>
                </a:solidFill>
              </a:rPr>
              <a:t>magang</a:t>
            </a:r>
            <a:r>
              <a:rPr lang="en-US" altLang="ja-JP" sz="2000" dirty="0">
                <a:solidFill>
                  <a:schemeClr val="bg1"/>
                </a:solidFill>
              </a:rPr>
              <a:t> </a:t>
            </a:r>
            <a:r>
              <a:rPr lang="en-US" altLang="ja-JP" sz="2000" dirty="0" err="1">
                <a:solidFill>
                  <a:schemeClr val="bg1"/>
                </a:solidFill>
              </a:rPr>
              <a:t>teknis</a:t>
            </a:r>
            <a:r>
              <a:rPr lang="en-US" altLang="ja-JP" sz="2000" dirty="0">
                <a:solidFill>
                  <a:schemeClr val="bg1"/>
                </a:solidFill>
              </a:rPr>
              <a:t>, </a:t>
            </a:r>
            <a:r>
              <a:rPr lang="en-US" altLang="ja-JP" sz="2000" dirty="0" err="1">
                <a:solidFill>
                  <a:schemeClr val="bg1"/>
                </a:solidFill>
              </a:rPr>
              <a:t>kondisi</a:t>
            </a:r>
            <a:r>
              <a:rPr lang="en-US" altLang="ja-JP" sz="2000" dirty="0">
                <a:solidFill>
                  <a:schemeClr val="bg1"/>
                </a:solidFill>
              </a:rPr>
              <a:t> </a:t>
            </a:r>
            <a:r>
              <a:rPr lang="en-US" altLang="ja-JP" sz="2000" dirty="0" err="1">
                <a:solidFill>
                  <a:schemeClr val="bg1"/>
                </a:solidFill>
              </a:rPr>
              <a:t>kerja</a:t>
            </a:r>
            <a:r>
              <a:rPr lang="en-US" altLang="ja-JP" sz="2000" dirty="0">
                <a:solidFill>
                  <a:schemeClr val="bg1"/>
                </a:solidFill>
              </a:rPr>
              <a:t>, </a:t>
            </a:r>
            <a:r>
              <a:rPr lang="en-US" altLang="ja-JP" sz="2000" dirty="0" err="1">
                <a:solidFill>
                  <a:schemeClr val="bg1"/>
                </a:solidFill>
              </a:rPr>
              <a:t>peraturan</a:t>
            </a:r>
            <a:r>
              <a:rPr lang="en-US" altLang="ja-JP" sz="2000" dirty="0">
                <a:solidFill>
                  <a:schemeClr val="bg1"/>
                </a:solidFill>
              </a:rPr>
              <a:t> </a:t>
            </a:r>
            <a:r>
              <a:rPr lang="en-US" altLang="ja-JP" sz="2000" dirty="0" err="1">
                <a:solidFill>
                  <a:schemeClr val="bg1"/>
                </a:solidFill>
              </a:rPr>
              <a:t>perusahaan</a:t>
            </a:r>
            <a:r>
              <a:rPr lang="en-US" altLang="ja-JP" sz="2000" dirty="0">
                <a:solidFill>
                  <a:schemeClr val="bg1"/>
                </a:solidFill>
              </a:rPr>
              <a:t>, </a:t>
            </a:r>
            <a:r>
              <a:rPr lang="en-US" altLang="ja-JP" sz="2000" dirty="0" err="1">
                <a:solidFill>
                  <a:schemeClr val="bg1"/>
                </a:solidFill>
              </a:rPr>
              <a:t>serta</a:t>
            </a:r>
            <a:r>
              <a:rPr lang="en-US" altLang="ja-JP" sz="2000" dirty="0">
                <a:solidFill>
                  <a:schemeClr val="bg1"/>
                </a:solidFill>
              </a:rPr>
              <a:t> </a:t>
            </a:r>
            <a:r>
              <a:rPr lang="en-US" altLang="ja-JP" sz="2000" dirty="0" err="1">
                <a:solidFill>
                  <a:schemeClr val="bg1"/>
                </a:solidFill>
              </a:rPr>
              <a:t>budaya</a:t>
            </a:r>
            <a:r>
              <a:rPr lang="en-US" altLang="ja-JP" sz="2000" dirty="0">
                <a:solidFill>
                  <a:schemeClr val="bg1"/>
                </a:solidFill>
              </a:rPr>
              <a:t> </a:t>
            </a:r>
            <a:r>
              <a:rPr lang="en-US" altLang="ja-JP" sz="2000" dirty="0" err="1">
                <a:solidFill>
                  <a:schemeClr val="bg1"/>
                </a:solidFill>
              </a:rPr>
              <a:t>dan</a:t>
            </a:r>
            <a:r>
              <a:rPr lang="en-US" altLang="ja-JP" sz="2000" dirty="0">
                <a:solidFill>
                  <a:schemeClr val="bg1"/>
                </a:solidFill>
              </a:rPr>
              <a:t> </a:t>
            </a:r>
            <a:r>
              <a:rPr lang="en-US" altLang="ja-JP" sz="2000" dirty="0" err="1">
                <a:solidFill>
                  <a:schemeClr val="bg1"/>
                </a:solidFill>
              </a:rPr>
              <a:t>kehidupan</a:t>
            </a:r>
            <a:r>
              <a:rPr lang="en-US" altLang="ja-JP" sz="2000" dirty="0">
                <a:solidFill>
                  <a:schemeClr val="bg1"/>
                </a:solidFill>
              </a:rPr>
              <a:t> </a:t>
            </a:r>
            <a:r>
              <a:rPr lang="en-US" altLang="ja-JP" sz="2000" dirty="0" err="1">
                <a:solidFill>
                  <a:schemeClr val="bg1"/>
                </a:solidFill>
              </a:rPr>
              <a:t>sehari-hari</a:t>
            </a:r>
            <a:r>
              <a:rPr lang="en-US" altLang="ja-JP" sz="2000" dirty="0">
                <a:solidFill>
                  <a:schemeClr val="bg1"/>
                </a:solidFill>
              </a:rPr>
              <a:t> di </a:t>
            </a:r>
            <a:r>
              <a:rPr lang="en-US" altLang="ja-JP" sz="2000" dirty="0" err="1">
                <a:solidFill>
                  <a:schemeClr val="bg1"/>
                </a:solidFill>
              </a:rPr>
              <a:t>Jepang</a:t>
            </a:r>
            <a:r>
              <a:rPr lang="en-US" altLang="ja-JP" sz="2000" dirty="0">
                <a:solidFill>
                  <a:schemeClr val="bg1"/>
                </a:solidFill>
              </a:rPr>
              <a:t>.</a:t>
            </a:r>
          </a:p>
          <a:p>
            <a:r>
              <a:rPr lang="en-US" altLang="ja-JP" sz="2000" dirty="0">
                <a:solidFill>
                  <a:schemeClr val="bg1"/>
                </a:solidFill>
              </a:rPr>
              <a:t>Kami </a:t>
            </a:r>
            <a:r>
              <a:rPr lang="en-US" altLang="ja-JP" sz="2000" dirty="0" err="1">
                <a:solidFill>
                  <a:schemeClr val="bg1"/>
                </a:solidFill>
              </a:rPr>
              <a:t>berharap</a:t>
            </a:r>
            <a:r>
              <a:rPr lang="en-US" altLang="ja-JP" sz="2000" dirty="0">
                <a:solidFill>
                  <a:schemeClr val="bg1"/>
                </a:solidFill>
              </a:rPr>
              <a:t> </a:t>
            </a:r>
            <a:r>
              <a:rPr lang="en-US" altLang="ja-JP" sz="2000" dirty="0" err="1">
                <a:solidFill>
                  <a:schemeClr val="bg1"/>
                </a:solidFill>
              </a:rPr>
              <a:t>Anda</a:t>
            </a:r>
            <a:r>
              <a:rPr lang="en-US" altLang="ja-JP" sz="2000" dirty="0">
                <a:solidFill>
                  <a:schemeClr val="bg1"/>
                </a:solidFill>
              </a:rPr>
              <a:t> </a:t>
            </a:r>
            <a:r>
              <a:rPr lang="en-US" altLang="ja-JP" sz="2000" dirty="0" err="1">
                <a:solidFill>
                  <a:schemeClr val="bg1"/>
                </a:solidFill>
              </a:rPr>
              <a:t>dapat</a:t>
            </a:r>
            <a:r>
              <a:rPr lang="en-US" altLang="ja-JP" sz="2000" dirty="0">
                <a:solidFill>
                  <a:schemeClr val="bg1"/>
                </a:solidFill>
              </a:rPr>
              <a:t> </a:t>
            </a:r>
            <a:r>
              <a:rPr lang="en-US" altLang="ja-JP" sz="2000" dirty="0" err="1">
                <a:solidFill>
                  <a:schemeClr val="bg1"/>
                </a:solidFill>
              </a:rPr>
              <a:t>berpartisipasi</a:t>
            </a:r>
            <a:r>
              <a:rPr lang="en-US" altLang="ja-JP" sz="2000" dirty="0">
                <a:solidFill>
                  <a:schemeClr val="bg1"/>
                </a:solidFill>
              </a:rPr>
              <a:t> </a:t>
            </a:r>
            <a:r>
              <a:rPr lang="en-US" altLang="ja-JP" sz="2000" dirty="0" err="1">
                <a:solidFill>
                  <a:schemeClr val="bg1"/>
                </a:solidFill>
              </a:rPr>
              <a:t>secara</a:t>
            </a:r>
            <a:r>
              <a:rPr lang="en-US" altLang="ja-JP" sz="2000" dirty="0">
                <a:solidFill>
                  <a:schemeClr val="bg1"/>
                </a:solidFill>
              </a:rPr>
              <a:t> </a:t>
            </a:r>
            <a:r>
              <a:rPr lang="en-US" altLang="ja-JP" sz="2000" dirty="0" err="1">
                <a:solidFill>
                  <a:schemeClr val="bg1"/>
                </a:solidFill>
              </a:rPr>
              <a:t>aktif</a:t>
            </a:r>
            <a:r>
              <a:rPr lang="en-US" altLang="ja-JP" sz="2000" dirty="0">
                <a:solidFill>
                  <a:schemeClr val="bg1"/>
                </a:solidFill>
              </a:rPr>
              <a:t>. </a:t>
            </a:r>
            <a:r>
              <a:rPr lang="en-US" altLang="ja-JP" sz="2000" dirty="0" err="1">
                <a:solidFill>
                  <a:schemeClr val="bg1"/>
                </a:solidFill>
              </a:rPr>
              <a:t>Jika</a:t>
            </a:r>
            <a:r>
              <a:rPr lang="en-US" altLang="ja-JP" sz="2000" dirty="0">
                <a:solidFill>
                  <a:schemeClr val="bg1"/>
                </a:solidFill>
              </a:rPr>
              <a:t> </a:t>
            </a:r>
            <a:r>
              <a:rPr lang="en-US" altLang="ja-JP" sz="2000" dirty="0" err="1">
                <a:solidFill>
                  <a:schemeClr val="bg1"/>
                </a:solidFill>
              </a:rPr>
              <a:t>ada</a:t>
            </a:r>
            <a:r>
              <a:rPr lang="en-US" altLang="ja-JP" sz="2000" dirty="0">
                <a:solidFill>
                  <a:schemeClr val="bg1"/>
                </a:solidFill>
              </a:rPr>
              <a:t> </a:t>
            </a:r>
            <a:r>
              <a:rPr lang="en-US" altLang="ja-JP" sz="2000" dirty="0" err="1">
                <a:solidFill>
                  <a:schemeClr val="bg1"/>
                </a:solidFill>
              </a:rPr>
              <a:t>hal</a:t>
            </a:r>
            <a:r>
              <a:rPr lang="en-US" altLang="ja-JP" sz="2000" dirty="0">
                <a:solidFill>
                  <a:schemeClr val="bg1"/>
                </a:solidFill>
              </a:rPr>
              <a:t> yang </a:t>
            </a:r>
            <a:r>
              <a:rPr lang="en-US" altLang="ja-JP" sz="2000" dirty="0" err="1">
                <a:solidFill>
                  <a:schemeClr val="bg1"/>
                </a:solidFill>
              </a:rPr>
              <a:t>belum</a:t>
            </a:r>
            <a:r>
              <a:rPr lang="en-US" altLang="ja-JP" sz="2000" dirty="0">
                <a:solidFill>
                  <a:schemeClr val="bg1"/>
                </a:solidFill>
              </a:rPr>
              <a:t> </a:t>
            </a:r>
            <a:r>
              <a:rPr lang="en-US" altLang="ja-JP" sz="2000" dirty="0" err="1">
                <a:solidFill>
                  <a:schemeClr val="bg1"/>
                </a:solidFill>
              </a:rPr>
              <a:t>dipahami</a:t>
            </a:r>
            <a:r>
              <a:rPr lang="en-US" altLang="ja-JP" sz="2000" dirty="0">
                <a:solidFill>
                  <a:schemeClr val="bg1"/>
                </a:solidFill>
              </a:rPr>
              <a:t>, </a:t>
            </a:r>
            <a:r>
              <a:rPr lang="en-US" altLang="ja-JP" sz="2000" dirty="0" err="1">
                <a:solidFill>
                  <a:schemeClr val="bg1"/>
                </a:solidFill>
              </a:rPr>
              <a:t>pertanyaan</a:t>
            </a:r>
            <a:r>
              <a:rPr lang="en-US" altLang="ja-JP" sz="2000" dirty="0">
                <a:solidFill>
                  <a:schemeClr val="bg1"/>
                </a:solidFill>
              </a:rPr>
              <a:t>, </a:t>
            </a:r>
            <a:r>
              <a:rPr lang="en-US" altLang="ja-JP" sz="2000" dirty="0" err="1">
                <a:solidFill>
                  <a:schemeClr val="bg1"/>
                </a:solidFill>
              </a:rPr>
              <a:t>atau</a:t>
            </a:r>
            <a:r>
              <a:rPr lang="en-US" altLang="ja-JP" sz="2000" dirty="0">
                <a:solidFill>
                  <a:schemeClr val="bg1"/>
                </a:solidFill>
              </a:rPr>
              <a:t> </a:t>
            </a:r>
            <a:r>
              <a:rPr lang="en-US" altLang="ja-JP" sz="2000" dirty="0" err="1">
                <a:solidFill>
                  <a:schemeClr val="bg1"/>
                </a:solidFill>
              </a:rPr>
              <a:t>kekhawatiran</a:t>
            </a:r>
            <a:r>
              <a:rPr lang="en-US" altLang="ja-JP" sz="2000" dirty="0">
                <a:solidFill>
                  <a:schemeClr val="bg1"/>
                </a:solidFill>
              </a:rPr>
              <a:t>, </a:t>
            </a:r>
            <a:r>
              <a:rPr lang="en-US" altLang="ja-JP" sz="2000" dirty="0" err="1">
                <a:solidFill>
                  <a:schemeClr val="bg1"/>
                </a:solidFill>
              </a:rPr>
              <a:t>jangan</a:t>
            </a:r>
            <a:r>
              <a:rPr lang="en-US" altLang="ja-JP" sz="2000" dirty="0">
                <a:solidFill>
                  <a:schemeClr val="bg1"/>
                </a:solidFill>
              </a:rPr>
              <a:t> </a:t>
            </a:r>
            <a:r>
              <a:rPr lang="en-US" altLang="ja-JP" sz="2000" dirty="0" err="1">
                <a:solidFill>
                  <a:schemeClr val="bg1"/>
                </a:solidFill>
              </a:rPr>
              <a:t>ragu</a:t>
            </a:r>
            <a:r>
              <a:rPr lang="en-US" altLang="ja-JP" sz="2000" dirty="0">
                <a:solidFill>
                  <a:schemeClr val="bg1"/>
                </a:solidFill>
              </a:rPr>
              <a:t> </a:t>
            </a:r>
            <a:r>
              <a:rPr lang="en-US" altLang="ja-JP" sz="2000" dirty="0" err="1">
                <a:solidFill>
                  <a:schemeClr val="bg1"/>
                </a:solidFill>
              </a:rPr>
              <a:t>untuk</a:t>
            </a:r>
            <a:r>
              <a:rPr lang="en-US" altLang="ja-JP" sz="2000" dirty="0">
                <a:solidFill>
                  <a:schemeClr val="bg1"/>
                </a:solidFill>
              </a:rPr>
              <a:t> </a:t>
            </a:r>
            <a:r>
              <a:rPr lang="en-US" altLang="ja-JP" sz="2000" dirty="0" err="1">
                <a:solidFill>
                  <a:schemeClr val="bg1"/>
                </a:solidFill>
              </a:rPr>
              <a:t>bertanya</a:t>
            </a:r>
            <a:r>
              <a:rPr lang="en-US" altLang="ja-JP" sz="2000" dirty="0">
                <a:solidFill>
                  <a:schemeClr val="bg1"/>
                </a:solidFill>
              </a:rPr>
              <a:t> </a:t>
            </a:r>
            <a:r>
              <a:rPr lang="en-US" altLang="ja-JP" sz="2000" dirty="0" err="1">
                <a:solidFill>
                  <a:schemeClr val="bg1"/>
                </a:solidFill>
              </a:rPr>
              <a:t>kapan</a:t>
            </a:r>
            <a:r>
              <a:rPr lang="en-US" altLang="ja-JP" sz="2000" dirty="0">
                <a:solidFill>
                  <a:schemeClr val="bg1"/>
                </a:solidFill>
              </a:rPr>
              <a:t> </a:t>
            </a:r>
            <a:r>
              <a:rPr lang="en-US" altLang="ja-JP" sz="2000" dirty="0" err="1">
                <a:solidFill>
                  <a:schemeClr val="bg1"/>
                </a:solidFill>
              </a:rPr>
              <a:t>saja</a:t>
            </a:r>
            <a:r>
              <a:rPr lang="en-US" altLang="ja-JP" sz="2000" dirty="0">
                <a:solidFill>
                  <a:schemeClr val="bg1"/>
                </a:solidFill>
              </a:rPr>
              <a:t>.</a:t>
            </a:r>
          </a:p>
          <a:p>
            <a:r>
              <a:rPr lang="en-US" altLang="ja-JP" sz="2000" dirty="0">
                <a:solidFill>
                  <a:schemeClr val="bg1"/>
                </a:solidFill>
              </a:rPr>
              <a:t>Mari </a:t>
            </a:r>
            <a:r>
              <a:rPr lang="en-US" altLang="ja-JP" sz="2000" dirty="0" err="1">
                <a:solidFill>
                  <a:schemeClr val="bg1"/>
                </a:solidFill>
              </a:rPr>
              <a:t>kita</a:t>
            </a:r>
            <a:r>
              <a:rPr lang="en-US" altLang="ja-JP" sz="2000" dirty="0">
                <a:solidFill>
                  <a:schemeClr val="bg1"/>
                </a:solidFill>
              </a:rPr>
              <a:t> </a:t>
            </a:r>
            <a:r>
              <a:rPr lang="en-US" altLang="ja-JP" sz="2000" dirty="0" err="1">
                <a:solidFill>
                  <a:schemeClr val="bg1"/>
                </a:solidFill>
              </a:rPr>
              <a:t>belajar</a:t>
            </a:r>
            <a:r>
              <a:rPr lang="en-US" altLang="ja-JP" sz="2000" dirty="0">
                <a:solidFill>
                  <a:schemeClr val="bg1"/>
                </a:solidFill>
              </a:rPr>
              <a:t> </a:t>
            </a:r>
            <a:r>
              <a:rPr lang="en-US" altLang="ja-JP" sz="2000" dirty="0" err="1">
                <a:solidFill>
                  <a:schemeClr val="bg1"/>
                </a:solidFill>
              </a:rPr>
              <a:t>bersama</a:t>
            </a:r>
            <a:r>
              <a:rPr lang="en-US" altLang="ja-JP" sz="2000" dirty="0">
                <a:solidFill>
                  <a:schemeClr val="bg1"/>
                </a:solidFill>
              </a:rPr>
              <a:t> agar </a:t>
            </a:r>
            <a:r>
              <a:rPr lang="en-US" altLang="ja-JP" sz="2000" dirty="0" err="1">
                <a:solidFill>
                  <a:schemeClr val="bg1"/>
                </a:solidFill>
              </a:rPr>
              <a:t>kehidupan</a:t>
            </a:r>
            <a:r>
              <a:rPr lang="en-US" altLang="ja-JP" sz="2000" dirty="0">
                <a:solidFill>
                  <a:schemeClr val="bg1"/>
                </a:solidFill>
              </a:rPr>
              <a:t> </a:t>
            </a:r>
            <a:r>
              <a:rPr lang="en-US" altLang="ja-JP" sz="2000" dirty="0" err="1">
                <a:solidFill>
                  <a:schemeClr val="bg1"/>
                </a:solidFill>
              </a:rPr>
              <a:t>dan</a:t>
            </a:r>
            <a:r>
              <a:rPr lang="en-US" altLang="ja-JP" sz="2000" dirty="0">
                <a:solidFill>
                  <a:schemeClr val="bg1"/>
                </a:solidFill>
              </a:rPr>
              <a:t> </a:t>
            </a:r>
            <a:r>
              <a:rPr lang="en-US" altLang="ja-JP" sz="2000" dirty="0" err="1">
                <a:solidFill>
                  <a:schemeClr val="bg1"/>
                </a:solidFill>
              </a:rPr>
              <a:t>pekerjaan</a:t>
            </a:r>
            <a:r>
              <a:rPr lang="en-US" altLang="ja-JP" sz="2000" dirty="0">
                <a:solidFill>
                  <a:schemeClr val="bg1"/>
                </a:solidFill>
              </a:rPr>
              <a:t> di </a:t>
            </a:r>
            <a:r>
              <a:rPr lang="en-US" altLang="ja-JP" sz="2000" dirty="0" err="1">
                <a:solidFill>
                  <a:schemeClr val="bg1"/>
                </a:solidFill>
              </a:rPr>
              <a:t>Jepang</a:t>
            </a:r>
            <a:r>
              <a:rPr lang="en-US" altLang="ja-JP" sz="2000" dirty="0">
                <a:solidFill>
                  <a:schemeClr val="bg1"/>
                </a:solidFill>
              </a:rPr>
              <a:t> </a:t>
            </a:r>
            <a:r>
              <a:rPr lang="en-US" altLang="ja-JP" sz="2000" dirty="0" err="1">
                <a:solidFill>
                  <a:schemeClr val="bg1"/>
                </a:solidFill>
              </a:rPr>
              <a:t>dapat</a:t>
            </a:r>
            <a:r>
              <a:rPr lang="en-US" altLang="ja-JP" sz="2000" dirty="0">
                <a:solidFill>
                  <a:schemeClr val="bg1"/>
                </a:solidFill>
              </a:rPr>
              <a:t> </a:t>
            </a:r>
            <a:r>
              <a:rPr lang="en-US" altLang="ja-JP" sz="2000" dirty="0" err="1">
                <a:solidFill>
                  <a:schemeClr val="bg1"/>
                </a:solidFill>
              </a:rPr>
              <a:t>berjalan</a:t>
            </a:r>
            <a:r>
              <a:rPr lang="en-US" altLang="ja-JP" sz="2000" dirty="0">
                <a:solidFill>
                  <a:schemeClr val="bg1"/>
                </a:solidFill>
              </a:rPr>
              <a:t> </a:t>
            </a:r>
            <a:r>
              <a:rPr lang="en-US" altLang="ja-JP" sz="2000" dirty="0" err="1">
                <a:solidFill>
                  <a:schemeClr val="bg1"/>
                </a:solidFill>
              </a:rPr>
              <a:t>dengan</a:t>
            </a:r>
            <a:r>
              <a:rPr lang="en-US" altLang="ja-JP" sz="2000" dirty="0">
                <a:solidFill>
                  <a:schemeClr val="bg1"/>
                </a:solidFill>
              </a:rPr>
              <a:t> </a:t>
            </a:r>
            <a:r>
              <a:rPr lang="en-US" altLang="ja-JP" sz="2000" dirty="0" err="1">
                <a:solidFill>
                  <a:schemeClr val="bg1"/>
                </a:solidFill>
              </a:rPr>
              <a:t>aman</a:t>
            </a:r>
            <a:r>
              <a:rPr lang="en-US" altLang="ja-JP" sz="2000" dirty="0">
                <a:solidFill>
                  <a:schemeClr val="bg1"/>
                </a:solidFill>
              </a:rPr>
              <a:t>, </a:t>
            </a:r>
            <a:r>
              <a:rPr lang="en-US" altLang="ja-JP" sz="2000" dirty="0" err="1">
                <a:solidFill>
                  <a:schemeClr val="bg1"/>
                </a:solidFill>
              </a:rPr>
              <a:t>nyaman</a:t>
            </a:r>
            <a:r>
              <a:rPr lang="en-US" altLang="ja-JP" sz="2000" dirty="0">
                <a:solidFill>
                  <a:schemeClr val="bg1"/>
                </a:solidFill>
              </a:rPr>
              <a:t>, </a:t>
            </a:r>
            <a:r>
              <a:rPr lang="en-US" altLang="ja-JP" sz="2000" dirty="0" err="1">
                <a:solidFill>
                  <a:schemeClr val="bg1"/>
                </a:solidFill>
              </a:rPr>
              <a:t>dan</a:t>
            </a:r>
            <a:r>
              <a:rPr lang="en-US" altLang="ja-JP" sz="2000" dirty="0">
                <a:solidFill>
                  <a:schemeClr val="bg1"/>
                </a:solidFill>
              </a:rPr>
              <a:t> </a:t>
            </a:r>
            <a:r>
              <a:rPr lang="en-US" altLang="ja-JP" sz="2000" dirty="0" err="1">
                <a:solidFill>
                  <a:schemeClr val="bg1"/>
                </a:solidFill>
              </a:rPr>
              <a:t>sukses</a:t>
            </a:r>
            <a:r>
              <a:rPr lang="en-US" altLang="ja-JP" sz="2000" dirty="0">
                <a:solidFill>
                  <a:schemeClr val="bg1"/>
                </a:solidFill>
              </a:rPr>
              <a:t>.</a:t>
            </a:r>
          </a:p>
        </p:txBody>
      </p:sp>
    </p:spTree>
    <p:extLst>
      <p:ext uri="{BB962C8B-B14F-4D97-AF65-F5344CB8AC3E}">
        <p14:creationId xmlns:p14="http://schemas.microsoft.com/office/powerpoint/2010/main" val="1253160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81192" y="580572"/>
            <a:ext cx="7989752" cy="827374"/>
          </a:xfrm>
        </p:spPr>
        <p:txBody>
          <a:bodyPr>
            <a:normAutofit/>
          </a:bodyPr>
          <a:lstStyle/>
          <a:p>
            <a:pPr algn="ctr"/>
            <a:r>
              <a:rPr lang="ja-JP" altLang="en-US" sz="4000" b="1" dirty="0" smtClean="0">
                <a:latin typeface="Meiryo UI" panose="020B0604030504040204" pitchFamily="50" charset="-128"/>
                <a:ea typeface="Meiryo UI" panose="020B0604030504040204" pitchFamily="50" charset="-128"/>
              </a:rPr>
              <a:t>会社説明会</a:t>
            </a:r>
            <a:endParaRPr kumimoji="1" lang="ja-JP" altLang="en-US" sz="4000" dirty="0"/>
          </a:p>
        </p:txBody>
      </p:sp>
      <p:sp>
        <p:nvSpPr>
          <p:cNvPr id="4" name="コンテンツ プレースホルダー 3"/>
          <p:cNvSpPr>
            <a:spLocks noGrp="1"/>
          </p:cNvSpPr>
          <p:nvPr>
            <p:ph sz="half" idx="2"/>
          </p:nvPr>
        </p:nvSpPr>
        <p:spPr>
          <a:xfrm>
            <a:off x="3170711" y="2044078"/>
            <a:ext cx="5785517" cy="3233325"/>
          </a:xfrm>
          <a:noFill/>
        </p:spPr>
        <p:txBody>
          <a:bodyPr>
            <a:normAutofit/>
          </a:bodyPr>
          <a:lstStyle/>
          <a:p>
            <a:pPr>
              <a:lnSpc>
                <a:spcPct val="110000"/>
              </a:lnSpc>
            </a:pPr>
            <a:r>
              <a:rPr lang="en-US" altLang="ja-JP" sz="1600" dirty="0" err="1"/>
              <a:t>Peraturan</a:t>
            </a:r>
            <a:r>
              <a:rPr lang="en-US" altLang="ja-JP" sz="1600" dirty="0"/>
              <a:t> </a:t>
            </a:r>
            <a:r>
              <a:rPr lang="en-US" altLang="ja-JP" sz="1600" dirty="0" smtClean="0"/>
              <a:t>Perusahaan</a:t>
            </a:r>
          </a:p>
          <a:p>
            <a:pPr>
              <a:lnSpc>
                <a:spcPct val="110000"/>
              </a:lnSpc>
            </a:pPr>
            <a:r>
              <a:rPr lang="en-US" altLang="ja-JP" sz="1600" dirty="0" err="1"/>
              <a:t>Penampilan</a:t>
            </a:r>
            <a:r>
              <a:rPr lang="en-US" altLang="ja-JP" sz="1600" dirty="0"/>
              <a:t> </a:t>
            </a:r>
            <a:r>
              <a:rPr lang="en-US" altLang="ja-JP" sz="1600" dirty="0" err="1"/>
              <a:t>dan</a:t>
            </a:r>
            <a:r>
              <a:rPr lang="en-US" altLang="ja-JP" sz="1600" dirty="0"/>
              <a:t> </a:t>
            </a:r>
            <a:r>
              <a:rPr lang="en-US" altLang="ja-JP" sz="1600" dirty="0" err="1"/>
              <a:t>Kebersihan</a:t>
            </a:r>
            <a:r>
              <a:rPr lang="en-US" altLang="ja-JP" sz="1600" dirty="0"/>
              <a:t> </a:t>
            </a:r>
            <a:r>
              <a:rPr lang="en-US" altLang="ja-JP" sz="1600" dirty="0" err="1" smtClean="0"/>
              <a:t>Diri</a:t>
            </a:r>
            <a:r>
              <a:rPr lang="en-US" altLang="ja-JP" sz="1600" dirty="0" smtClean="0"/>
              <a:t>-</a:t>
            </a:r>
            <a:r>
              <a:rPr lang="sv-SE" altLang="ja-JP" sz="1600" dirty="0"/>
              <a:t>Etika Pelayanan dan Sikap Kerja</a:t>
            </a:r>
            <a:endParaRPr lang="en-US" altLang="ja-JP" sz="1600" dirty="0" smtClean="0"/>
          </a:p>
          <a:p>
            <a:pPr>
              <a:lnSpc>
                <a:spcPct val="110000"/>
              </a:lnSpc>
            </a:pPr>
            <a:r>
              <a:rPr lang="en-US" altLang="ja-JP" sz="1600" dirty="0" err="1"/>
              <a:t>Kehadiran</a:t>
            </a:r>
            <a:r>
              <a:rPr lang="en-US" altLang="ja-JP" sz="1600" dirty="0"/>
              <a:t> </a:t>
            </a:r>
            <a:r>
              <a:rPr lang="en-US" altLang="ja-JP" sz="1600" dirty="0" err="1"/>
              <a:t>dan</a:t>
            </a:r>
            <a:r>
              <a:rPr lang="en-US" altLang="ja-JP" sz="1600" dirty="0"/>
              <a:t> Jam </a:t>
            </a:r>
            <a:r>
              <a:rPr lang="en-US" altLang="ja-JP" sz="1600" dirty="0" err="1"/>
              <a:t>Kerja</a:t>
            </a:r>
            <a:endParaRPr kumimoji="1" lang="ja-JP" altLang="en-US" sz="3200" dirty="0">
              <a:solidFill>
                <a:schemeClr val="tx1"/>
              </a:solidFill>
            </a:endParaRPr>
          </a:p>
        </p:txBody>
      </p:sp>
      <p:sp>
        <p:nvSpPr>
          <p:cNvPr id="7" name="テキスト ボックス 6"/>
          <p:cNvSpPr txBox="1"/>
          <p:nvPr/>
        </p:nvSpPr>
        <p:spPr>
          <a:xfrm>
            <a:off x="581192" y="1255910"/>
            <a:ext cx="7989751" cy="646331"/>
          </a:xfrm>
          <a:prstGeom prst="rect">
            <a:avLst/>
          </a:prstGeom>
          <a:noFill/>
        </p:spPr>
        <p:txBody>
          <a:bodyPr wrap="square" rtlCol="0">
            <a:spAutoFit/>
          </a:bodyPr>
          <a:lstStyle/>
          <a:p>
            <a:pPr algn="ctr"/>
            <a:r>
              <a:rPr lang="en-US" altLang="ja-JP" sz="3600" dirty="0" err="1">
                <a:solidFill>
                  <a:schemeClr val="bg1"/>
                </a:solidFill>
              </a:rPr>
              <a:t>Sesi</a:t>
            </a:r>
            <a:r>
              <a:rPr lang="en-US" altLang="ja-JP" sz="3600" dirty="0">
                <a:solidFill>
                  <a:schemeClr val="bg1"/>
                </a:solidFill>
              </a:rPr>
              <a:t> </a:t>
            </a:r>
            <a:r>
              <a:rPr lang="en-US" altLang="ja-JP" sz="3600" dirty="0" err="1">
                <a:solidFill>
                  <a:schemeClr val="bg1"/>
                </a:solidFill>
              </a:rPr>
              <a:t>Pengenalan</a:t>
            </a:r>
            <a:r>
              <a:rPr lang="en-US" altLang="ja-JP" sz="3600" dirty="0">
                <a:solidFill>
                  <a:schemeClr val="bg1"/>
                </a:solidFill>
              </a:rPr>
              <a:t> Perusahaan</a:t>
            </a:r>
            <a:endParaRPr kumimoji="1" lang="ja-JP" altLang="en-US" sz="3600" b="1" dirty="0">
              <a:solidFill>
                <a:schemeClr val="bg1"/>
              </a:solidFill>
              <a:latin typeface="Times New Roman" panose="02020603050405020304" pitchFamily="18" charset="0"/>
              <a:cs typeface="Times New Roman" panose="02020603050405020304" pitchFamily="18" charset="0"/>
            </a:endParaRPr>
          </a:p>
        </p:txBody>
      </p:sp>
      <p:sp>
        <p:nvSpPr>
          <p:cNvPr id="18" name="コンテンツ プレースホルダー 3"/>
          <p:cNvSpPr txBox="1">
            <a:spLocks/>
          </p:cNvSpPr>
          <p:nvPr/>
        </p:nvSpPr>
        <p:spPr>
          <a:xfrm>
            <a:off x="591767" y="2251197"/>
            <a:ext cx="3907661" cy="3210132"/>
          </a:xfrm>
          <a:prstGeom prst="rect">
            <a:avLst/>
          </a:prstGeom>
          <a:noFill/>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charset="2"/>
              <a:buChar char=""/>
              <a:defRPr kumimoji="1"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charset="2"/>
              <a:buChar char=""/>
              <a:defRPr kumimoji="1"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charset="2"/>
              <a:buChar char=""/>
              <a:defRPr kumimoji="1"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9pPr>
          </a:lstStyle>
          <a:p>
            <a:pPr>
              <a:lnSpc>
                <a:spcPct val="110000"/>
              </a:lnSpc>
            </a:pPr>
            <a:r>
              <a:rPr lang="ja-JP" altLang="en-US" sz="1600" dirty="0" smtClean="0">
                <a:solidFill>
                  <a:schemeClr val="tx1"/>
                </a:solidFill>
                <a:latin typeface="Meiryo UI" panose="020B0604030504040204" pitchFamily="50" charset="-128"/>
                <a:ea typeface="Meiryo UI" panose="020B0604030504040204" pitchFamily="50" charset="-128"/>
              </a:rPr>
              <a:t>会社のルール</a:t>
            </a:r>
            <a:endParaRPr lang="en-US" altLang="ja-JP" sz="1600" dirty="0" smtClean="0">
              <a:solidFill>
                <a:schemeClr val="tx1"/>
              </a:solidFill>
              <a:latin typeface="Meiryo UI" panose="020B0604030504040204" pitchFamily="50" charset="-128"/>
              <a:ea typeface="Meiryo UI" panose="020B0604030504040204" pitchFamily="50" charset="-128"/>
            </a:endParaRPr>
          </a:p>
          <a:p>
            <a:pPr>
              <a:lnSpc>
                <a:spcPct val="110000"/>
              </a:lnSpc>
            </a:pPr>
            <a:r>
              <a:rPr lang="ja-JP" altLang="en-US" sz="1600" dirty="0" smtClean="0">
                <a:solidFill>
                  <a:schemeClr val="tx1"/>
                </a:solidFill>
                <a:latin typeface="Meiryo UI" panose="020B0604030504040204" pitchFamily="50" charset="-128"/>
                <a:ea typeface="Meiryo UI" panose="020B0604030504040204" pitchFamily="50" charset="-128"/>
              </a:rPr>
              <a:t>身だしなみ</a:t>
            </a:r>
            <a:r>
              <a:rPr lang="en-US" altLang="ja-JP" sz="1600" dirty="0" smtClean="0">
                <a:solidFill>
                  <a:schemeClr val="tx1"/>
                </a:solidFill>
                <a:latin typeface="Meiryo UI" panose="020B0604030504040204" pitchFamily="50" charset="-128"/>
                <a:ea typeface="Meiryo UI" panose="020B0604030504040204" pitchFamily="50" charset="-128"/>
              </a:rPr>
              <a:t>‣</a:t>
            </a:r>
            <a:r>
              <a:rPr lang="ja-JP" altLang="en-US" sz="1600" dirty="0" smtClean="0">
                <a:solidFill>
                  <a:schemeClr val="tx1"/>
                </a:solidFill>
                <a:latin typeface="Meiryo UI" panose="020B0604030504040204" pitchFamily="50" charset="-128"/>
                <a:ea typeface="Meiryo UI" panose="020B0604030504040204" pitchFamily="50" charset="-128"/>
              </a:rPr>
              <a:t>接遇マナー</a:t>
            </a:r>
            <a:endParaRPr lang="en-US" altLang="ja-JP" sz="1600" dirty="0" smtClean="0">
              <a:solidFill>
                <a:schemeClr val="tx1"/>
              </a:solidFill>
              <a:latin typeface="Meiryo UI" panose="020B0604030504040204" pitchFamily="50" charset="-128"/>
              <a:ea typeface="Meiryo UI" panose="020B0604030504040204" pitchFamily="50" charset="-128"/>
            </a:endParaRPr>
          </a:p>
          <a:p>
            <a:pPr>
              <a:lnSpc>
                <a:spcPct val="110000"/>
              </a:lnSpc>
            </a:pPr>
            <a:r>
              <a:rPr lang="ja-JP" altLang="en-US" sz="1600" dirty="0" smtClean="0">
                <a:solidFill>
                  <a:schemeClr val="tx1"/>
                </a:solidFill>
                <a:latin typeface="Meiryo UI" panose="020B0604030504040204" pitchFamily="50" charset="-128"/>
                <a:ea typeface="Meiryo UI" panose="020B0604030504040204" pitchFamily="50" charset="-128"/>
              </a:rPr>
              <a:t>勤怠について</a:t>
            </a:r>
            <a:endParaRPr lang="en-US" altLang="ja-JP" sz="1600" dirty="0" smtClean="0">
              <a:solidFill>
                <a:schemeClr val="tx1"/>
              </a:solidFill>
              <a:latin typeface="Meiryo UI" panose="020B0604030504040204" pitchFamily="50" charset="-128"/>
              <a:ea typeface="Meiryo UI" panose="020B0604030504040204" pitchFamily="50" charset="-128"/>
            </a:endParaRPr>
          </a:p>
          <a:p>
            <a:pPr>
              <a:lnSpc>
                <a:spcPct val="110000"/>
              </a:lnSpc>
            </a:pPr>
            <a:endParaRPr lang="ja-JP" altLang="en-US" sz="1600" dirty="0">
              <a:solidFill>
                <a:schemeClr val="tx1"/>
              </a:solidFill>
              <a:latin typeface="Meiryo UI" panose="020B0604030504040204" pitchFamily="50" charset="-128"/>
              <a:ea typeface="Meiryo UI" panose="020B0604030504040204" pitchFamily="50" charset="-128"/>
            </a:endParaRPr>
          </a:p>
        </p:txBody>
      </p:sp>
      <p:pic>
        <p:nvPicPr>
          <p:cNvPr id="10" name="図 9"/>
          <p:cNvPicPr>
            <a:picLocks noChangeAspect="1"/>
          </p:cNvPicPr>
          <p:nvPr/>
        </p:nvPicPr>
        <p:blipFill rotWithShape="1">
          <a:blip r:embed="rId2"/>
          <a:srcRect l="27500" t="14239" r="63810" b="68830"/>
          <a:stretch/>
        </p:blipFill>
        <p:spPr>
          <a:xfrm>
            <a:off x="2212769" y="5287794"/>
            <a:ext cx="957942" cy="1117600"/>
          </a:xfrm>
          <a:prstGeom prst="flowChartAlternateProcess">
            <a:avLst/>
          </a:prstGeom>
        </p:spPr>
      </p:pic>
      <p:pic>
        <p:nvPicPr>
          <p:cNvPr id="11" name="図 10"/>
          <p:cNvPicPr>
            <a:picLocks noChangeAspect="1"/>
          </p:cNvPicPr>
          <p:nvPr/>
        </p:nvPicPr>
        <p:blipFill rotWithShape="1">
          <a:blip r:embed="rId2"/>
          <a:srcRect l="41310" t="50159" r="50476" b="35120"/>
          <a:stretch/>
        </p:blipFill>
        <p:spPr>
          <a:xfrm>
            <a:off x="4003618" y="5258530"/>
            <a:ext cx="957942" cy="1117600"/>
          </a:xfrm>
          <a:prstGeom prst="flowChartAlternateProcess">
            <a:avLst/>
          </a:prstGeom>
        </p:spPr>
      </p:pic>
      <p:pic>
        <p:nvPicPr>
          <p:cNvPr id="12" name="図 11"/>
          <p:cNvPicPr>
            <a:picLocks noChangeAspect="1"/>
          </p:cNvPicPr>
          <p:nvPr/>
        </p:nvPicPr>
        <p:blipFill rotWithShape="1">
          <a:blip r:embed="rId2"/>
          <a:srcRect l="42024" t="69841" r="50119" b="13862"/>
          <a:stretch/>
        </p:blipFill>
        <p:spPr>
          <a:xfrm>
            <a:off x="5794467" y="5258530"/>
            <a:ext cx="957942" cy="1117600"/>
          </a:xfrm>
          <a:prstGeom prst="flowChartAlternateProcess">
            <a:avLst/>
          </a:prstGeom>
        </p:spPr>
      </p:pic>
      <p:sp>
        <p:nvSpPr>
          <p:cNvPr id="9" name="正方形/長方形 8"/>
          <p:cNvSpPr/>
          <p:nvPr/>
        </p:nvSpPr>
        <p:spPr>
          <a:xfrm>
            <a:off x="6921500" y="2577579"/>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mtClean="0">
                <a:solidFill>
                  <a:schemeClr val="tx1"/>
                </a:solidFill>
              </a:rPr>
              <a:t>説明担当者？</a:t>
            </a:r>
            <a:endParaRPr kumimoji="1" lang="ja-JP" altLang="en-US" dirty="0">
              <a:solidFill>
                <a:schemeClr val="tx1"/>
              </a:solidFill>
            </a:endParaRPr>
          </a:p>
        </p:txBody>
      </p:sp>
    </p:spTree>
    <p:extLst>
      <p:ext uri="{BB962C8B-B14F-4D97-AF65-F5344CB8AC3E}">
        <p14:creationId xmlns:p14="http://schemas.microsoft.com/office/powerpoint/2010/main" val="25675772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線コネクタ 4"/>
          <p:cNvSpPr/>
          <p:nvPr/>
        </p:nvSpPr>
        <p:spPr>
          <a:xfrm flipV="1">
            <a:off x="725714" y="5493657"/>
            <a:ext cx="7812208"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6" name="フリーフォーム 5"/>
          <p:cNvSpPr/>
          <p:nvPr/>
        </p:nvSpPr>
        <p:spPr>
          <a:xfrm>
            <a:off x="0" y="2206201"/>
            <a:ext cx="7982110" cy="3878122"/>
          </a:xfrm>
          <a:custGeom>
            <a:avLst/>
            <a:gdLst>
              <a:gd name="connsiteX0" fmla="*/ 0 w 5317053"/>
              <a:gd name="connsiteY0" fmla="*/ 0 h 3878122"/>
              <a:gd name="connsiteX1" fmla="*/ 5317053 w 5317053"/>
              <a:gd name="connsiteY1" fmla="*/ 0 h 3878122"/>
              <a:gd name="connsiteX2" fmla="*/ 5317053 w 5317053"/>
              <a:gd name="connsiteY2" fmla="*/ 3878122 h 3878122"/>
              <a:gd name="connsiteX3" fmla="*/ 0 w 5317053"/>
              <a:gd name="connsiteY3" fmla="*/ 3878122 h 3878122"/>
              <a:gd name="connsiteX4" fmla="*/ 0 w 5317053"/>
              <a:gd name="connsiteY4" fmla="*/ 0 h 3878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7053" h="3878122">
                <a:moveTo>
                  <a:pt x="0" y="0"/>
                </a:moveTo>
                <a:lnTo>
                  <a:pt x="5317053" y="0"/>
                </a:lnTo>
                <a:lnTo>
                  <a:pt x="5317053" y="3878122"/>
                </a:lnTo>
                <a:lnTo>
                  <a:pt x="0" y="38781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lvl="0" algn="l" defTabSz="1066800">
              <a:lnSpc>
                <a:spcPct val="150000"/>
              </a:lnSpc>
              <a:spcBef>
                <a:spcPct val="0"/>
              </a:spcBef>
              <a:spcAft>
                <a:spcPct val="35000"/>
              </a:spcAft>
            </a:pPr>
            <a:r>
              <a:rPr lang="ja-JP" altLang="en-US" sz="2400" b="0" u="none" strike="noStrike" kern="1200" dirty="0" smtClean="0">
                <a:solidFill>
                  <a:schemeClr val="tx1"/>
                </a:solidFill>
                <a:effectLst/>
                <a:latin typeface="Meiryo UI" panose="020B0604030504040204" pitchFamily="50" charset="-128"/>
                <a:ea typeface="Meiryo UI" panose="020B0604030504040204" pitchFamily="50" charset="-128"/>
              </a:rPr>
              <a:t>⋆</a:t>
            </a:r>
            <a:r>
              <a:rPr lang="ja-JP" altLang="ja-JP" sz="2400" b="0" kern="1200" dirty="0" smtClean="0">
                <a:solidFill>
                  <a:schemeClr val="tx1"/>
                </a:solidFill>
                <a:latin typeface="Meiryo UI" panose="020B0604030504040204" pitchFamily="50" charset="-128"/>
                <a:ea typeface="Meiryo UI" panose="020B0604030504040204" pitchFamily="50" charset="-128"/>
                <a:cs typeface="Times New Roman" panose="02020603050405020304" pitchFamily="18" charset="0"/>
              </a:rPr>
              <a:t>労働条件</a:t>
            </a:r>
            <a:endParaRPr lang="en-US" altLang="ja-JP" sz="2400" b="1" u="none" strike="noStrike" kern="1200" dirty="0" smtClean="0">
              <a:solidFill>
                <a:schemeClr val="tx1"/>
              </a:solidFill>
              <a:effectLst/>
              <a:latin typeface="Meiryo UI" panose="020B0604030504040204" pitchFamily="50" charset="-128"/>
              <a:ea typeface="Meiryo UI" panose="020B0604030504040204" pitchFamily="50" charset="-128"/>
            </a:endParaRPr>
          </a:p>
          <a:p>
            <a:pPr lvl="0" algn="l" defTabSz="1066800">
              <a:lnSpc>
                <a:spcPct val="150000"/>
              </a:lnSpc>
              <a:spcBef>
                <a:spcPct val="0"/>
              </a:spcBef>
              <a:spcAft>
                <a:spcPct val="35000"/>
              </a:spcAft>
            </a:pPr>
            <a:r>
              <a:rPr lang="ja-JP" altLang="en-US" sz="2400" u="none" strike="noStrike" kern="1200" dirty="0" smtClean="0">
                <a:solidFill>
                  <a:schemeClr val="tx1"/>
                </a:solidFill>
                <a:effectLst/>
                <a:latin typeface="Meiryo UI" panose="020B0604030504040204" pitchFamily="50" charset="-128"/>
                <a:ea typeface="Meiryo UI" panose="020B0604030504040204" pitchFamily="50" charset="-128"/>
              </a:rPr>
              <a:t>⋆しあわせターミナルの読み合わせ</a:t>
            </a:r>
            <a:endParaRPr lang="en-US" altLang="ja-JP" sz="2400" u="none" strike="noStrike" kern="1200" dirty="0" smtClean="0">
              <a:solidFill>
                <a:schemeClr val="tx1"/>
              </a:solidFill>
              <a:effectLst/>
              <a:latin typeface="Meiryo UI" panose="020B0604030504040204" pitchFamily="50" charset="-128"/>
              <a:ea typeface="Meiryo UI" panose="020B0604030504040204" pitchFamily="50" charset="-128"/>
            </a:endParaRPr>
          </a:p>
          <a:p>
            <a:pPr lvl="0" defTabSz="1066800">
              <a:lnSpc>
                <a:spcPct val="150000"/>
              </a:lnSpc>
              <a:spcBef>
                <a:spcPct val="0"/>
              </a:spcBef>
              <a:spcAft>
                <a:spcPct val="35000"/>
              </a:spcAft>
            </a:pPr>
            <a:r>
              <a:rPr lang="ja-JP" altLang="en-US" sz="2400" dirty="0" smtClean="0">
                <a:solidFill>
                  <a:schemeClr val="tx1"/>
                </a:solidFill>
                <a:latin typeface="Meiryo UI" panose="020B0604030504040204" pitchFamily="50" charset="-128"/>
                <a:ea typeface="Meiryo UI" panose="020B0604030504040204" pitchFamily="50" charset="-128"/>
              </a:rPr>
              <a:t>⋆</a:t>
            </a:r>
            <a:r>
              <a:rPr lang="ja-JP" altLang="en-US" sz="2400" dirty="0" smtClean="0">
                <a:solidFill>
                  <a:schemeClr val="tx1"/>
                </a:solidFill>
                <a:latin typeface="Meiryo UI" panose="020B0604030504040204" pitchFamily="50" charset="-128"/>
                <a:ea typeface="Meiryo UI" panose="020B0604030504040204" pitchFamily="50" charset="-128"/>
              </a:rPr>
              <a:t>寮のルール</a:t>
            </a:r>
            <a:endParaRPr lang="en-US" altLang="ja-JP" sz="2400" u="none" strike="noStrike" kern="1200" dirty="0" smtClean="0">
              <a:solidFill>
                <a:srgbClr val="FF0000"/>
              </a:solidFill>
              <a:effectLst/>
              <a:latin typeface="Meiryo UI" panose="020B0604030504040204" pitchFamily="50" charset="-128"/>
              <a:ea typeface="Meiryo UI" panose="020B0604030504040204" pitchFamily="50" charset="-128"/>
            </a:endParaRPr>
          </a:p>
        </p:txBody>
      </p:sp>
      <p:sp>
        <p:nvSpPr>
          <p:cNvPr id="10" name="直線コネクタ 9"/>
          <p:cNvSpPr/>
          <p:nvPr/>
        </p:nvSpPr>
        <p:spPr>
          <a:xfrm flipV="1">
            <a:off x="565263" y="2781029"/>
            <a:ext cx="7824436" cy="6293"/>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1" name="直線コネクタ 10"/>
          <p:cNvSpPr/>
          <p:nvPr/>
        </p:nvSpPr>
        <p:spPr>
          <a:xfrm>
            <a:off x="576345" y="3466120"/>
            <a:ext cx="7813354" cy="38355"/>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2" name="直線コネクタ 11"/>
          <p:cNvSpPr/>
          <p:nvPr/>
        </p:nvSpPr>
        <p:spPr>
          <a:xfrm flipV="1">
            <a:off x="565263" y="4811598"/>
            <a:ext cx="7824437" cy="19573"/>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3" name="直線コネクタ 12"/>
          <p:cNvSpPr/>
          <p:nvPr/>
        </p:nvSpPr>
        <p:spPr>
          <a:xfrm>
            <a:off x="587427" y="4145262"/>
            <a:ext cx="7802272" cy="17293"/>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6" name="タイトル 1"/>
          <p:cNvSpPr>
            <a:spLocks noGrp="1"/>
          </p:cNvSpPr>
          <p:nvPr>
            <p:ph type="title"/>
          </p:nvPr>
        </p:nvSpPr>
        <p:spPr>
          <a:xfrm>
            <a:off x="482605" y="604858"/>
            <a:ext cx="7989752" cy="827374"/>
          </a:xfrm>
        </p:spPr>
        <p:txBody>
          <a:bodyPr>
            <a:normAutofit/>
          </a:bodyPr>
          <a:lstStyle/>
          <a:p>
            <a:pPr algn="ctr"/>
            <a:r>
              <a:rPr lang="ja-JP" altLang="en-US" sz="4000" b="1" dirty="0" smtClean="0">
                <a:latin typeface="Meiryo UI" panose="020B0604030504040204" pitchFamily="50" charset="-128"/>
                <a:ea typeface="Meiryo UI" panose="020B0604030504040204" pitchFamily="50" charset="-128"/>
              </a:rPr>
              <a:t>会社ルール</a:t>
            </a:r>
            <a:endParaRPr kumimoji="1" lang="ja-JP" altLang="en-US" sz="4000" dirty="0"/>
          </a:p>
        </p:txBody>
      </p:sp>
      <p:sp>
        <p:nvSpPr>
          <p:cNvPr id="17" name="テキスト ボックス 16"/>
          <p:cNvSpPr txBox="1"/>
          <p:nvPr/>
        </p:nvSpPr>
        <p:spPr>
          <a:xfrm>
            <a:off x="548171" y="1196006"/>
            <a:ext cx="7989751" cy="659476"/>
          </a:xfrm>
          <a:prstGeom prst="rect">
            <a:avLst/>
          </a:prstGeom>
          <a:noFill/>
        </p:spPr>
        <p:txBody>
          <a:bodyPr wrap="square" rtlCol="0">
            <a:spAutoFit/>
          </a:bodyPr>
          <a:lstStyle/>
          <a:p>
            <a:pPr algn="ctr">
              <a:lnSpc>
                <a:spcPct val="110000"/>
              </a:lnSpc>
            </a:pPr>
            <a:r>
              <a:rPr lang="en-US" altLang="ja-JP" sz="3600" dirty="0" err="1">
                <a:solidFill>
                  <a:schemeClr val="bg1"/>
                </a:solidFill>
              </a:rPr>
              <a:t>Peraturan</a:t>
            </a:r>
            <a:r>
              <a:rPr lang="en-US" altLang="ja-JP" sz="3600" dirty="0">
                <a:solidFill>
                  <a:schemeClr val="bg1"/>
                </a:solidFill>
              </a:rPr>
              <a:t> Perusahaan</a:t>
            </a:r>
          </a:p>
        </p:txBody>
      </p:sp>
      <p:sp>
        <p:nvSpPr>
          <p:cNvPr id="19" name="フリーフォーム 18"/>
          <p:cNvSpPr/>
          <p:nvPr/>
        </p:nvSpPr>
        <p:spPr>
          <a:xfrm>
            <a:off x="4181714" y="2233481"/>
            <a:ext cx="7819785" cy="3878122"/>
          </a:xfrm>
          <a:custGeom>
            <a:avLst/>
            <a:gdLst>
              <a:gd name="connsiteX0" fmla="*/ 0 w 5317053"/>
              <a:gd name="connsiteY0" fmla="*/ 0 h 3878122"/>
              <a:gd name="connsiteX1" fmla="*/ 5317053 w 5317053"/>
              <a:gd name="connsiteY1" fmla="*/ 0 h 3878122"/>
              <a:gd name="connsiteX2" fmla="*/ 5317053 w 5317053"/>
              <a:gd name="connsiteY2" fmla="*/ 3878122 h 3878122"/>
              <a:gd name="connsiteX3" fmla="*/ 0 w 5317053"/>
              <a:gd name="connsiteY3" fmla="*/ 3878122 h 3878122"/>
              <a:gd name="connsiteX4" fmla="*/ 0 w 5317053"/>
              <a:gd name="connsiteY4" fmla="*/ 0 h 3878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7053" h="3878122">
                <a:moveTo>
                  <a:pt x="0" y="0"/>
                </a:moveTo>
                <a:lnTo>
                  <a:pt x="5317053" y="0"/>
                </a:lnTo>
                <a:lnTo>
                  <a:pt x="5317053" y="3878122"/>
                </a:lnTo>
                <a:lnTo>
                  <a:pt x="0" y="387812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lvl="0" defTabSz="1066800">
              <a:lnSpc>
                <a:spcPct val="200000"/>
              </a:lnSpc>
              <a:spcBef>
                <a:spcPct val="0"/>
              </a:spcBef>
              <a:spcAft>
                <a:spcPct val="35000"/>
              </a:spcAft>
            </a:pPr>
            <a:r>
              <a:rPr lang="ja-JP" altLang="en-US" u="none" strike="noStrike" kern="1200" dirty="0" smtClean="0">
                <a:solidFill>
                  <a:schemeClr val="tx1"/>
                </a:solidFill>
                <a:effectLst/>
                <a:latin typeface="Times New Roman" panose="02020603050405020304" pitchFamily="18" charset="0"/>
                <a:ea typeface="Meiryo UI" panose="020B0604030504040204" pitchFamily="50" charset="-128"/>
                <a:cs typeface="Times New Roman" panose="02020603050405020304" pitchFamily="18" charset="0"/>
              </a:rPr>
              <a:t>⋆</a:t>
            </a:r>
            <a:r>
              <a:rPr lang="en-US" altLang="ja-JP" dirty="0" err="1">
                <a:solidFill>
                  <a:schemeClr val="tx1"/>
                </a:solidFill>
              </a:rPr>
              <a:t>Kondisi</a:t>
            </a:r>
            <a:r>
              <a:rPr lang="en-US" altLang="ja-JP" dirty="0">
                <a:solidFill>
                  <a:schemeClr val="tx1"/>
                </a:solidFill>
              </a:rPr>
              <a:t> </a:t>
            </a:r>
            <a:r>
              <a:rPr lang="en-US" altLang="ja-JP" dirty="0" err="1" smtClean="0">
                <a:solidFill>
                  <a:schemeClr val="tx1"/>
                </a:solidFill>
              </a:rPr>
              <a:t>Kerja</a:t>
            </a:r>
            <a:endParaRPr lang="en-US" altLang="ja-JP" dirty="0" smtClean="0">
              <a:solidFill>
                <a:schemeClr val="tx1"/>
              </a:solidFill>
            </a:endParaRPr>
          </a:p>
          <a:p>
            <a:pPr lvl="0" defTabSz="1066800">
              <a:lnSpc>
                <a:spcPct val="200000"/>
              </a:lnSpc>
              <a:spcBef>
                <a:spcPct val="0"/>
              </a:spcBef>
              <a:spcAft>
                <a:spcPct val="35000"/>
              </a:spcAft>
            </a:pPr>
            <a:r>
              <a:rPr lang="ja-JP" altLang="en-US" u="none" strike="noStrike" kern="1200" dirty="0" smtClean="0">
                <a:solidFill>
                  <a:schemeClr val="tx1"/>
                </a:solidFill>
                <a:effectLst/>
                <a:latin typeface="Times New Roman" panose="02020603050405020304" pitchFamily="18" charset="0"/>
                <a:ea typeface="Meiryo UI" panose="020B0604030504040204" pitchFamily="50" charset="-128"/>
                <a:cs typeface="Times New Roman" panose="02020603050405020304" pitchFamily="18" charset="0"/>
              </a:rPr>
              <a:t>⋆</a:t>
            </a:r>
            <a:r>
              <a:rPr lang="es-ES" altLang="ja-JP" dirty="0"/>
              <a:t>Membaca dan Memahami Buku “Shiawase Terminal</a:t>
            </a:r>
            <a:r>
              <a:rPr lang="es-ES" altLang="ja-JP" dirty="0" smtClean="0"/>
              <a:t>”</a:t>
            </a:r>
          </a:p>
          <a:p>
            <a:pPr lvl="0" defTabSz="1066800">
              <a:lnSpc>
                <a:spcPct val="200000"/>
              </a:lnSpc>
              <a:spcBef>
                <a:spcPct val="0"/>
              </a:spcBef>
              <a:spcAft>
                <a:spcPct val="35000"/>
              </a:spcAft>
            </a:pPr>
            <a:r>
              <a:rPr lang="ja-JP" altLang="en-US" dirty="0" smtClean="0">
                <a:solidFill>
                  <a:schemeClr val="tx1"/>
                </a:solidFill>
                <a:latin typeface="Times New Roman" panose="02020603050405020304" pitchFamily="18" charset="0"/>
                <a:ea typeface="Meiryo UI" panose="020B0604030504040204" pitchFamily="50" charset="-128"/>
                <a:cs typeface="Times New Roman" panose="02020603050405020304" pitchFamily="18" charset="0"/>
              </a:rPr>
              <a:t>⋆ </a:t>
            </a:r>
            <a:r>
              <a:rPr lang="en-US" altLang="ja-JP" dirty="0" err="1" smtClean="0"/>
              <a:t>Peraturan</a:t>
            </a:r>
            <a:r>
              <a:rPr lang="en-US" altLang="ja-JP" dirty="0" smtClean="0"/>
              <a:t> </a:t>
            </a:r>
            <a:r>
              <a:rPr lang="en-US" altLang="ja-JP" dirty="0" err="1"/>
              <a:t>Asrama</a:t>
            </a:r>
            <a:endParaRPr lang="en-US" altLang="ja-JP" dirty="0" smtClean="0">
              <a:solidFill>
                <a:srgbClr val="FF0000"/>
              </a:solidFill>
            </a:endParaRPr>
          </a:p>
        </p:txBody>
      </p:sp>
      <p:sp>
        <p:nvSpPr>
          <p:cNvPr id="20" name="直線コネクタ 19"/>
          <p:cNvSpPr/>
          <p:nvPr/>
        </p:nvSpPr>
        <p:spPr>
          <a:xfrm flipV="1">
            <a:off x="711200" y="6165931"/>
            <a:ext cx="7812208" cy="0"/>
          </a:xfrm>
          <a:prstGeom prst="line">
            <a:avLst/>
          </a:prstGeom>
        </p:spPr>
        <p:style>
          <a:lnRef idx="2">
            <a:schemeClr val="accent1">
              <a:tint val="5000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Tree>
    <p:extLst>
      <p:ext uri="{BB962C8B-B14F-4D97-AF65-F5344CB8AC3E}">
        <p14:creationId xmlns:p14="http://schemas.microsoft.com/office/powerpoint/2010/main" val="36554448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p:cNvSpPr>
            <a:spLocks noGrp="1"/>
          </p:cNvSpPr>
          <p:nvPr>
            <p:ph type="title"/>
          </p:nvPr>
        </p:nvSpPr>
        <p:spPr>
          <a:xfrm>
            <a:off x="581349" y="531013"/>
            <a:ext cx="7989752" cy="827374"/>
          </a:xfrm>
        </p:spPr>
        <p:txBody>
          <a:bodyPr>
            <a:normAutofit/>
          </a:bodyPr>
          <a:lstStyle/>
          <a:p>
            <a:pPr algn="ctr">
              <a:lnSpc>
                <a:spcPct val="107000"/>
              </a:lnSpc>
              <a:spcAft>
                <a:spcPts val="800"/>
              </a:spcAft>
            </a:pPr>
            <a:r>
              <a:rPr lang="ja-JP" altLang="ja-JP" sz="4000" b="1" kern="100" dirty="0" smtClean="0">
                <a:latin typeface="Times New Roman" panose="02020603050405020304" pitchFamily="18" charset="0"/>
                <a:ea typeface="Meiryo UI" panose="020B0604030504040204" pitchFamily="50" charset="-128"/>
                <a:cs typeface="Times New Roman" panose="02020603050405020304" pitchFamily="18" charset="0"/>
              </a:rPr>
              <a:t>労働</a:t>
            </a:r>
            <a:r>
              <a:rPr lang="ja-JP" altLang="ja-JP" sz="4000" b="1" kern="100" dirty="0">
                <a:latin typeface="Times New Roman" panose="02020603050405020304" pitchFamily="18" charset="0"/>
                <a:ea typeface="Meiryo UI" panose="020B0604030504040204" pitchFamily="50" charset="-128"/>
                <a:cs typeface="Times New Roman" panose="02020603050405020304" pitchFamily="18" charset="0"/>
              </a:rPr>
              <a:t>条件</a:t>
            </a:r>
            <a:endParaRPr lang="ja-JP" altLang="ja-JP" sz="4400" b="1" kern="100" dirty="0">
              <a:latin typeface="Times New Roman" panose="02020603050405020304" pitchFamily="18" charset="0"/>
              <a:ea typeface="游明朝" panose="02020400000000000000" pitchFamily="18" charset="-128"/>
              <a:cs typeface="Times New Roman" panose="02020603050405020304" pitchFamily="18" charset="0"/>
            </a:endParaRPr>
          </a:p>
        </p:txBody>
      </p:sp>
      <p:sp>
        <p:nvSpPr>
          <p:cNvPr id="4" name="テキスト ボックス 3"/>
          <p:cNvSpPr txBox="1"/>
          <p:nvPr/>
        </p:nvSpPr>
        <p:spPr>
          <a:xfrm>
            <a:off x="3400751" y="789411"/>
            <a:ext cx="2707950" cy="1033424"/>
          </a:xfrm>
          <a:prstGeom prst="rect">
            <a:avLst/>
          </a:prstGeom>
          <a:noFill/>
        </p:spPr>
        <p:txBody>
          <a:bodyPr wrap="square" rtlCol="0">
            <a:spAutoFit/>
          </a:bodyPr>
          <a:lstStyle/>
          <a:p>
            <a:pPr lvl="0" defTabSz="1066800">
              <a:lnSpc>
                <a:spcPct val="200000"/>
              </a:lnSpc>
              <a:spcBef>
                <a:spcPct val="0"/>
              </a:spcBef>
              <a:spcAft>
                <a:spcPct val="35000"/>
              </a:spcAft>
            </a:pPr>
            <a:r>
              <a:rPr lang="en-US" altLang="ja-JP" sz="3600" dirty="0" err="1">
                <a:solidFill>
                  <a:schemeClr val="bg1"/>
                </a:solidFill>
              </a:rPr>
              <a:t>Kondisi</a:t>
            </a:r>
            <a:r>
              <a:rPr lang="en-US" altLang="ja-JP" sz="3600" dirty="0">
                <a:solidFill>
                  <a:schemeClr val="bg1"/>
                </a:solidFill>
              </a:rPr>
              <a:t> </a:t>
            </a:r>
            <a:r>
              <a:rPr lang="en-US" altLang="ja-JP" sz="3600" dirty="0" err="1">
                <a:solidFill>
                  <a:schemeClr val="bg1"/>
                </a:solidFill>
              </a:rPr>
              <a:t>Kerja</a:t>
            </a:r>
            <a:endParaRPr lang="en-US" altLang="ja-JP" sz="3600" dirty="0">
              <a:solidFill>
                <a:schemeClr val="bg1"/>
              </a:solidFill>
            </a:endParaRPr>
          </a:p>
        </p:txBody>
      </p:sp>
      <p:pic>
        <p:nvPicPr>
          <p:cNvPr id="7" name="図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235" y="602527"/>
            <a:ext cx="1953015" cy="1164834"/>
          </a:xfrm>
          <a:prstGeom prst="rect">
            <a:avLst/>
          </a:prstGeom>
        </p:spPr>
      </p:pic>
      <p:grpSp>
        <p:nvGrpSpPr>
          <p:cNvPr id="15" name="グループ化 14"/>
          <p:cNvGrpSpPr/>
          <p:nvPr/>
        </p:nvGrpSpPr>
        <p:grpSpPr>
          <a:xfrm>
            <a:off x="24300" y="1878308"/>
            <a:ext cx="9009323" cy="4256165"/>
            <a:chOff x="-158026" y="1878308"/>
            <a:chExt cx="9009323" cy="4256165"/>
          </a:xfrm>
        </p:grpSpPr>
        <p:sp>
          <p:nvSpPr>
            <p:cNvPr id="5" name="正方形/長方形 4"/>
            <p:cNvSpPr/>
            <p:nvPr/>
          </p:nvSpPr>
          <p:spPr>
            <a:xfrm>
              <a:off x="-158026" y="1878308"/>
              <a:ext cx="4787899" cy="4256165"/>
            </a:xfrm>
            <a:prstGeom prst="rect">
              <a:avLst/>
            </a:prstGeom>
          </p:spPr>
          <p:txBody>
            <a:bodyPr wrap="square">
              <a:spAutoFit/>
            </a:bodyPr>
            <a:lstStyle/>
            <a:p>
              <a:pPr algn="just">
                <a:lnSpc>
                  <a:spcPct val="107000"/>
                </a:lnSpc>
                <a:spcAft>
                  <a:spcPts val="800"/>
                </a:spcAft>
              </a:pP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労働</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時間、休暇について具体的にご案内します</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a:t>
              </a:r>
              <a:endParaRPr lang="en-US" altLang="ja-JP" sz="1600" kern="100" dirty="0">
                <a:latin typeface="Times New Roman" panose="02020603050405020304" pitchFamily="18" charset="0"/>
                <a:ea typeface="游明朝" panose="02020400000000000000" pitchFamily="18" charset="-128"/>
                <a:cs typeface="Times New Roman" panose="02020603050405020304" pitchFamily="18" charset="0"/>
              </a:endParaRPr>
            </a:p>
            <a:p>
              <a:pPr algn="just">
                <a:lnSpc>
                  <a:spcPct val="107000"/>
                </a:lnSpc>
                <a:spcAft>
                  <a:spcPts val="800"/>
                </a:spcAft>
              </a:pP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株式会社ホン</a:t>
              </a:r>
              <a:r>
                <a:rPr lang="ja-JP" altLang="en-US" sz="1400" kern="100" dirty="0">
                  <a:latin typeface="Times New Roman" panose="02020603050405020304" pitchFamily="18" charset="0"/>
                  <a:ea typeface="Meiryo UI" panose="020B0604030504040204" pitchFamily="50" charset="-128"/>
                  <a:cs typeface="Times New Roman" panose="02020603050405020304" pitchFamily="18" charset="0"/>
                </a:rPr>
                <a:t>ダ</a:t>
              </a: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モビリティ中部の</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技能</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実習生の労働条件に</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ついて説明</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します。</a:t>
              </a:r>
              <a:endParaRPr lang="ja-JP" altLang="ja-JP" sz="1400" kern="100" dirty="0">
                <a:latin typeface="Times New Roman" panose="02020603050405020304" pitchFamily="18" charset="0"/>
                <a:ea typeface="游明朝" panose="02020400000000000000" pitchFamily="18" charset="-128"/>
                <a:cs typeface="Times New Roman" panose="02020603050405020304" pitchFamily="18" charset="0"/>
              </a:endParaRPr>
            </a:p>
            <a:p>
              <a:pPr algn="just">
                <a:lnSpc>
                  <a:spcPct val="107000"/>
                </a:lnSpc>
                <a:spcAft>
                  <a:spcPts val="800"/>
                </a:spcAft>
              </a:pPr>
              <a:r>
                <a:rPr lang="ja-JP" altLang="en-US" kern="100" dirty="0">
                  <a:latin typeface="Times New Roman" panose="02020603050405020304" pitchFamily="18" charset="0"/>
                  <a:ea typeface="Meiryo UI" panose="020B0604030504040204" pitchFamily="50" charset="-128"/>
                  <a:cs typeface="Times New Roman" panose="02020603050405020304" pitchFamily="18" charset="0"/>
                </a:rPr>
                <a:t>・</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労働</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時間は、</a:t>
              </a:r>
              <a:r>
                <a:rPr lang="ja-JP" altLang="ja-JP" sz="2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通常</a:t>
              </a:r>
              <a:r>
                <a:rPr lang="en-US" altLang="ja-JP" sz="2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1</a:t>
              </a:r>
              <a:r>
                <a:rPr lang="ja-JP" altLang="ja-JP" sz="2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日</a:t>
              </a:r>
              <a:r>
                <a:rPr lang="en-US" altLang="ja-JP" sz="2400" b="1" kern="100"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8</a:t>
              </a:r>
              <a:r>
                <a:rPr lang="ja-JP" altLang="ja-JP" sz="2400" b="1" kern="100" dirty="0" smtClean="0">
                  <a:solidFill>
                    <a:srgbClr val="FF0000"/>
                  </a:solidFill>
                  <a:latin typeface="Times New Roman" panose="02020603050405020304" pitchFamily="18" charset="0"/>
                  <a:ea typeface="Meiryo UI" panose="020B0604030504040204" pitchFamily="50" charset="-128"/>
                  <a:cs typeface="Times New Roman" panose="02020603050405020304" pitchFamily="18" charset="0"/>
                </a:rPr>
                <a:t>時間</a:t>
              </a: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a:t>
              </a:r>
              <a:r>
                <a:rPr lang="en-US"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9:30</a:t>
              </a: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a:t>
              </a:r>
              <a:r>
                <a:rPr lang="en-US"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18:30</a:t>
              </a: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のうち</a:t>
              </a:r>
              <a:r>
                <a:rPr lang="ja-JP" altLang="en-US" sz="1400" kern="100" dirty="0">
                  <a:latin typeface="Times New Roman" panose="02020603050405020304" pitchFamily="18" charset="0"/>
                  <a:ea typeface="Meiryo UI" panose="020B0604030504040204" pitchFamily="50" charset="-128"/>
                  <a:cs typeface="Times New Roman" panose="02020603050405020304" pitchFamily="18" charset="0"/>
                </a:rPr>
                <a:t>　</a:t>
              </a: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1</a:t>
              </a:r>
              <a:r>
                <a:rPr lang="ja-JP" altLang="en-US" sz="1400" kern="100" dirty="0" smtClean="0">
                  <a:latin typeface="Times New Roman" panose="02020603050405020304" pitchFamily="18" charset="0"/>
                  <a:ea typeface="Meiryo UI" panose="020B0604030504040204" pitchFamily="50" charset="-128"/>
                  <a:cs typeface="Times New Roman" panose="02020603050405020304" pitchFamily="18" charset="0"/>
                </a:rPr>
                <a:t>時間休憩）</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週</a:t>
              </a:r>
              <a:r>
                <a:rPr lang="en-US" altLang="ja-JP" sz="1400" kern="100" dirty="0">
                  <a:latin typeface="Times New Roman" panose="02020603050405020304" pitchFamily="18" charset="0"/>
                  <a:ea typeface="Meiryo UI" panose="020B0604030504040204" pitchFamily="50" charset="-128"/>
                  <a:cs typeface="Times New Roman" panose="02020603050405020304" pitchFamily="18" charset="0"/>
                </a:rPr>
                <a:t>40</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時間が基本です。繁忙期には残業がある場合</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もあります</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が</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、残業</a:t>
              </a:r>
              <a:r>
                <a:rPr lang="ja-JP" altLang="ja-JP" sz="1400" kern="100" dirty="0">
                  <a:latin typeface="Times New Roman" panose="02020603050405020304" pitchFamily="18" charset="0"/>
                  <a:ea typeface="Meiryo UI" panose="020B0604030504040204" pitchFamily="50" charset="-128"/>
                  <a:cs typeface="Times New Roman" panose="02020603050405020304" pitchFamily="18" charset="0"/>
                </a:rPr>
                <a:t>には法定の手当が支払われます</a:t>
              </a:r>
              <a:r>
                <a:rPr lang="ja-JP" altLang="ja-JP" sz="1400" kern="100" dirty="0" smtClean="0">
                  <a:latin typeface="Times New Roman" panose="02020603050405020304" pitchFamily="18" charset="0"/>
                  <a:ea typeface="Meiryo UI" panose="020B0604030504040204" pitchFamily="50" charset="-128"/>
                  <a:cs typeface="Times New Roman" panose="02020603050405020304" pitchFamily="18" charset="0"/>
                </a:rPr>
                <a:t>。</a:t>
              </a:r>
              <a:endParaRPr lang="en-US" altLang="ja-JP" sz="1400" dirty="0" smtClean="0"/>
            </a:p>
            <a:p>
              <a:pPr algn="just"/>
              <a:r>
                <a:rPr lang="ja-JP" altLang="en-US" dirty="0">
                  <a:latin typeface="Meiryo UI" panose="020B0604030504040204" pitchFamily="50" charset="-128"/>
                  <a:ea typeface="Meiryo UI" panose="020B0604030504040204" pitchFamily="50" charset="-128"/>
                </a:rPr>
                <a:t>・</a:t>
              </a:r>
              <a:r>
                <a:rPr lang="ja-JP" altLang="ja-JP" sz="1400" dirty="0" smtClean="0">
                  <a:latin typeface="Meiryo UI" panose="020B0604030504040204" pitchFamily="50" charset="-128"/>
                  <a:ea typeface="Meiryo UI" panose="020B0604030504040204" pitchFamily="50" charset="-128"/>
                </a:rPr>
                <a:t>休日</a:t>
              </a:r>
              <a:r>
                <a:rPr lang="en-US" altLang="ja-JP" sz="1400" dirty="0">
                  <a:latin typeface="Meiryo UI" panose="020B0604030504040204" pitchFamily="50" charset="-128"/>
                  <a:ea typeface="Meiryo UI" panose="020B0604030504040204" pitchFamily="50" charset="-128"/>
                </a:rPr>
                <a:t>: </a:t>
              </a:r>
              <a:r>
                <a:rPr lang="ja-JP" altLang="ja-JP" sz="2400" b="1" dirty="0">
                  <a:latin typeface="Meiryo UI" panose="020B0604030504040204" pitchFamily="50" charset="-128"/>
                  <a:ea typeface="Meiryo UI" panose="020B0604030504040204" pitchFamily="50" charset="-128"/>
                </a:rPr>
                <a:t>火曜日・水曜日</a:t>
              </a:r>
              <a:r>
                <a:rPr lang="ja-JP" altLang="ja-JP" sz="1400" dirty="0">
                  <a:latin typeface="Meiryo UI" panose="020B0604030504040204" pitchFamily="50" charset="-128"/>
                  <a:ea typeface="Meiryo UI" panose="020B0604030504040204" pitchFamily="50" charset="-128"/>
                </a:rPr>
                <a:t>（週休</a:t>
              </a:r>
              <a:r>
                <a:rPr lang="en-US" altLang="ja-JP" sz="1400" dirty="0">
                  <a:latin typeface="Meiryo UI" panose="020B0604030504040204" pitchFamily="50" charset="-128"/>
                  <a:ea typeface="Meiryo UI" panose="020B0604030504040204" pitchFamily="50" charset="-128"/>
                </a:rPr>
                <a:t>2</a:t>
              </a:r>
              <a:r>
                <a:rPr lang="ja-JP" altLang="ja-JP" sz="1400" dirty="0">
                  <a:latin typeface="Meiryo UI" panose="020B0604030504040204" pitchFamily="50" charset="-128"/>
                  <a:ea typeface="Meiryo UI" panose="020B0604030504040204" pitchFamily="50" charset="-128"/>
                </a:rPr>
                <a:t>日制</a:t>
              </a:r>
              <a:r>
                <a:rPr lang="ja-JP" altLang="ja-JP" sz="1400" dirty="0" smtClean="0">
                  <a:latin typeface="Meiryo UI" panose="020B0604030504040204" pitchFamily="50" charset="-128"/>
                  <a:ea typeface="Meiryo UI" panose="020B0604030504040204" pitchFamily="50" charset="-128"/>
                </a:rPr>
                <a:t>）</a:t>
              </a:r>
              <a:endParaRPr lang="en-US" altLang="ja-JP" sz="1400" dirty="0" smtClean="0">
                <a:latin typeface="Meiryo UI" panose="020B0604030504040204" pitchFamily="50" charset="-128"/>
                <a:ea typeface="Meiryo UI" panose="020B0604030504040204" pitchFamily="50" charset="-128"/>
              </a:endParaRPr>
            </a:p>
            <a:p>
              <a:pPr algn="just"/>
              <a:r>
                <a:rPr lang="ja-JP" altLang="ja-JP" sz="1700" b="1" u="sng" dirty="0" smtClean="0">
                  <a:solidFill>
                    <a:srgbClr val="FF0000"/>
                  </a:solidFill>
                  <a:latin typeface="Meiryo UI" panose="020B0604030504040204" pitchFamily="50" charset="-128"/>
                  <a:ea typeface="Meiryo UI" panose="020B0604030504040204" pitchFamily="50" charset="-128"/>
                </a:rPr>
                <a:t>有休は</a:t>
              </a:r>
              <a:r>
                <a:rPr lang="en-US" altLang="ja-JP" sz="1700" b="1" u="sng" dirty="0">
                  <a:solidFill>
                    <a:srgbClr val="FF0000"/>
                  </a:solidFill>
                  <a:latin typeface="Meiryo UI" panose="020B0604030504040204" pitchFamily="50" charset="-128"/>
                  <a:ea typeface="Meiryo UI" panose="020B0604030504040204" pitchFamily="50" charset="-128"/>
                </a:rPr>
                <a:t>2</a:t>
              </a:r>
              <a:r>
                <a:rPr lang="ja-JP" altLang="ja-JP" sz="1700" b="1" u="sng" dirty="0" smtClean="0">
                  <a:solidFill>
                    <a:srgbClr val="FF0000"/>
                  </a:solidFill>
                  <a:latin typeface="Meiryo UI" panose="020B0604030504040204" pitchFamily="50" charset="-128"/>
                  <a:ea typeface="Meiryo UI" panose="020B0604030504040204" pitchFamily="50" charset="-128"/>
                </a:rPr>
                <a:t>ヶ月後</a:t>
              </a:r>
              <a:r>
                <a:rPr lang="ja-JP" altLang="ja-JP" sz="1700" b="1" u="sng" dirty="0">
                  <a:solidFill>
                    <a:srgbClr val="FF0000"/>
                  </a:solidFill>
                  <a:latin typeface="Meiryo UI" panose="020B0604030504040204" pitchFamily="50" charset="-128"/>
                  <a:ea typeface="Meiryo UI" panose="020B0604030504040204" pitchFamily="50" charset="-128"/>
                </a:rPr>
                <a:t>から付与されます</a:t>
              </a:r>
              <a:r>
                <a:rPr lang="ja-JP" altLang="ja-JP" sz="1700" b="1" dirty="0" smtClean="0">
                  <a:solidFill>
                    <a:srgbClr val="FF0000"/>
                  </a:solidFill>
                  <a:latin typeface="Meiryo UI" panose="020B0604030504040204" pitchFamily="50" charset="-128"/>
                  <a:ea typeface="Meiryo UI" panose="020B0604030504040204" pitchFamily="50" charset="-128"/>
                </a:rPr>
                <a:t>。</a:t>
              </a:r>
              <a:endParaRPr lang="en-US" altLang="ja-JP" sz="1700" b="1" dirty="0" smtClean="0">
                <a:solidFill>
                  <a:srgbClr val="FF0000"/>
                </a:solidFill>
                <a:latin typeface="Meiryo UI" panose="020B0604030504040204" pitchFamily="50" charset="-128"/>
                <a:ea typeface="Meiryo UI" panose="020B0604030504040204" pitchFamily="50" charset="-128"/>
              </a:endParaRPr>
            </a:p>
            <a:p>
              <a:pPr algn="just"/>
              <a:endParaRPr lang="en-US" altLang="ja-JP" sz="1700" b="1" dirty="0" smtClean="0">
                <a:solidFill>
                  <a:srgbClr val="FF0000"/>
                </a:solidFill>
                <a:latin typeface="Meiryo UI" panose="020B0604030504040204" pitchFamily="50" charset="-128"/>
                <a:ea typeface="Meiryo UI" panose="020B0604030504040204" pitchFamily="50" charset="-128"/>
              </a:endParaRPr>
            </a:p>
            <a:p>
              <a:pPr algn="just"/>
              <a:r>
                <a:rPr lang="ja-JP" altLang="ja-JP" sz="1400" dirty="0" smtClean="0">
                  <a:latin typeface="Meiryo UI" panose="020B0604030504040204" pitchFamily="50" charset="-128"/>
                  <a:ea typeface="Meiryo UI" panose="020B0604030504040204" pitchFamily="50" charset="-128"/>
                </a:rPr>
                <a:t>労働</a:t>
              </a:r>
              <a:r>
                <a:rPr lang="ja-JP" altLang="ja-JP" sz="1400" dirty="0">
                  <a:latin typeface="Meiryo UI" panose="020B0604030504040204" pitchFamily="50" charset="-128"/>
                  <a:ea typeface="Meiryo UI" panose="020B0604030504040204" pitchFamily="50" charset="-128"/>
                </a:rPr>
                <a:t>契約書の内容を丁寧に確認し、理解を</a:t>
              </a:r>
              <a:r>
                <a:rPr lang="ja-JP" altLang="ja-JP" sz="1400" dirty="0" smtClean="0">
                  <a:latin typeface="Meiryo UI" panose="020B0604030504040204" pitchFamily="50" charset="-128"/>
                  <a:ea typeface="Meiryo UI" panose="020B0604030504040204" pitchFamily="50" charset="-128"/>
                </a:rPr>
                <a:t>深めて</a:t>
              </a:r>
              <a:r>
                <a:rPr lang="ja-JP" altLang="en-US" sz="1400" dirty="0">
                  <a:latin typeface="Meiryo UI" panose="020B0604030504040204" pitchFamily="50" charset="-128"/>
                  <a:ea typeface="Meiryo UI" panose="020B0604030504040204" pitchFamily="50" charset="-128"/>
                </a:rPr>
                <a:t>ください</a:t>
              </a:r>
              <a:r>
                <a:rPr lang="ja-JP" altLang="ja-JP" sz="1400" dirty="0" smtClean="0">
                  <a:latin typeface="Meiryo UI" panose="020B0604030504040204" pitchFamily="50" charset="-128"/>
                  <a:ea typeface="Meiryo UI" panose="020B0604030504040204" pitchFamily="50" charset="-128"/>
                </a:rPr>
                <a:t>。</a:t>
              </a:r>
              <a:endParaRPr lang="en-US" altLang="ja-JP" sz="1400" dirty="0" smtClean="0">
                <a:latin typeface="Meiryo UI" panose="020B0604030504040204" pitchFamily="50" charset="-128"/>
                <a:ea typeface="Meiryo UI" panose="020B0604030504040204" pitchFamily="50" charset="-128"/>
              </a:endParaRPr>
            </a:p>
            <a:p>
              <a:pPr lvl="0" algn="just">
                <a:spcAft>
                  <a:spcPts val="0"/>
                </a:spcAft>
                <a:buSzPts val="1000"/>
                <a:tabLst>
                  <a:tab pos="457200" algn="l"/>
                </a:tabLst>
              </a:pPr>
              <a:endParaRPr lang="ja-JP" altLang="ja-JP" dirty="0">
                <a:latin typeface="Meiryo UI" panose="020B0604030504040204" pitchFamily="50" charset="-128"/>
                <a:ea typeface="Meiryo UI" panose="020B0604030504040204" pitchFamily="50" charset="-128"/>
              </a:endParaRPr>
            </a:p>
            <a:p>
              <a:pPr lvl="0" algn="just">
                <a:spcAft>
                  <a:spcPts val="0"/>
                </a:spcAft>
                <a:buSzPts val="1000"/>
                <a:tabLst>
                  <a:tab pos="457200" algn="l"/>
                </a:tabLst>
              </a:pPr>
              <a:r>
                <a:rPr lang="ja-JP" altLang="en-US" dirty="0"/>
                <a:t>・</a:t>
              </a:r>
              <a:r>
                <a:rPr lang="ja-JP" altLang="ja-JP" sz="1600" b="1" dirty="0" smtClean="0">
                  <a:latin typeface="Meiryo UI" panose="020B0604030504040204" pitchFamily="50" charset="-128"/>
                  <a:ea typeface="Meiryo UI" panose="020B0604030504040204" pitchFamily="50" charset="-128"/>
                  <a:cs typeface="ＭＳ ゴシック" panose="020B0609070205080204" pitchFamily="49" charset="-128"/>
                </a:rPr>
                <a:t>労務管理の</a:t>
              </a:r>
              <a:r>
                <a:rPr lang="ja-JP" altLang="ja-JP" sz="1600" b="1" dirty="0">
                  <a:latin typeface="Meiryo UI" panose="020B0604030504040204" pitchFamily="50" charset="-128"/>
                  <a:ea typeface="Meiryo UI" panose="020B0604030504040204" pitchFamily="50" charset="-128"/>
                  <a:cs typeface="ＭＳ ゴシック" panose="020B0609070205080204" pitchFamily="49" charset="-128"/>
                </a:rPr>
                <a:t>注意点</a:t>
              </a:r>
              <a:r>
                <a:rPr lang="en-US" altLang="ja-JP" sz="1600" b="1" dirty="0">
                  <a:latin typeface="Meiryo UI" panose="020B0604030504040204" pitchFamily="50" charset="-128"/>
                  <a:ea typeface="Meiryo UI" panose="020B0604030504040204" pitchFamily="50" charset="-128"/>
                </a:rPr>
                <a:t>: </a:t>
              </a:r>
              <a:endParaRPr lang="en-US" altLang="ja-JP" sz="1600" b="1" dirty="0">
                <a:latin typeface="Meiryo UI" panose="020B0604030504040204" pitchFamily="50" charset="-128"/>
                <a:ea typeface="Meiryo UI" panose="020B0604030504040204" pitchFamily="50" charset="-128"/>
                <a:cs typeface="ＭＳ ゴシック" panose="020B0609070205080204" pitchFamily="49" charset="-128"/>
              </a:endParaRPr>
            </a:p>
            <a:p>
              <a:pPr lvl="0" algn="just">
                <a:spcAft>
                  <a:spcPts val="0"/>
                </a:spcAft>
                <a:buSzPts val="1000"/>
                <a:tabLst>
                  <a:tab pos="457200" algn="l"/>
                </a:tabLst>
              </a:pPr>
              <a:r>
                <a:rPr lang="ja-JP" altLang="ja-JP" sz="1400" dirty="0">
                  <a:latin typeface="Meiryo UI" panose="020B0604030504040204" pitchFamily="50" charset="-128"/>
                  <a:ea typeface="Meiryo UI" panose="020B0604030504040204" pitchFamily="50" charset="-128"/>
                  <a:cs typeface="ＭＳ ゴシック" panose="020B0609070205080204" pitchFamily="49" charset="-128"/>
                </a:rPr>
                <a:t>勤怠管理システムの利用方法、残業のルール、給与の</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支払い</a:t>
              </a:r>
              <a:r>
                <a:rPr lang="vi-VN" altLang="ja-JP" sz="1400" dirty="0" smtClean="0">
                  <a:latin typeface="Meiryo UI" panose="020B0604030504040204" pitchFamily="50" charset="-128"/>
                  <a:ea typeface="Meiryo UI" panose="020B0604030504040204" pitchFamily="50" charset="-128"/>
                  <a:cs typeface="ＭＳ ゴシック" panose="020B0609070205080204" pitchFamily="49" charset="-128"/>
                </a:rPr>
                <a:t>   </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について</a:t>
              </a:r>
              <a:r>
                <a:rPr lang="ja-JP" altLang="en-US" sz="1400" dirty="0">
                  <a:latin typeface="Meiryo UI" panose="020B0604030504040204" pitchFamily="50" charset="-128"/>
                  <a:ea typeface="Meiryo UI" panose="020B0604030504040204" pitchFamily="50" charset="-128"/>
                  <a:cs typeface="ＭＳ ゴシック" panose="020B0609070205080204" pitchFamily="49" charset="-128"/>
                </a:rPr>
                <a:t>です</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a:t>
              </a:r>
              <a:r>
                <a:rPr lang="ja-JP" altLang="ja-JP" sz="1400" dirty="0">
                  <a:latin typeface="Meiryo UI" panose="020B0604030504040204" pitchFamily="50" charset="-128"/>
                  <a:ea typeface="Meiryo UI" panose="020B0604030504040204" pitchFamily="50" charset="-128"/>
                  <a:cs typeface="ＭＳ ゴシック" panose="020B0609070205080204" pitchFamily="49" charset="-128"/>
                </a:rPr>
                <a:t>特</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に</a:t>
              </a:r>
              <a:r>
                <a:rPr lang="ja-JP" altLang="en-US" sz="1400" dirty="0" smtClean="0">
                  <a:latin typeface="Meiryo UI" panose="020B0604030504040204" pitchFamily="50" charset="-128"/>
                  <a:ea typeface="Meiryo UI" panose="020B0604030504040204" pitchFamily="50" charset="-128"/>
                  <a:cs typeface="ＭＳ ゴシック" panose="020B0609070205080204" pitchFamily="49" charset="-128"/>
                </a:rPr>
                <a:t>自</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発的な</a:t>
              </a:r>
              <a:r>
                <a:rPr lang="ja-JP" altLang="en-US" sz="1400" dirty="0" smtClean="0">
                  <a:latin typeface="Meiryo UI" panose="020B0604030504040204" pitchFamily="50" charset="-128"/>
                  <a:ea typeface="Meiryo UI" panose="020B0604030504040204" pitchFamily="50" charset="-128"/>
                  <a:cs typeface="ＭＳ ゴシック" panose="020B0609070205080204" pitchFamily="49" charset="-128"/>
                </a:rPr>
                <a:t>残業</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は認められ</a:t>
              </a:r>
              <a:r>
                <a:rPr lang="ja-JP" altLang="en-US" sz="1400" dirty="0">
                  <a:latin typeface="Meiryo UI" panose="020B0604030504040204" pitchFamily="50" charset="-128"/>
                  <a:ea typeface="Meiryo UI" panose="020B0604030504040204" pitchFamily="50" charset="-128"/>
                  <a:cs typeface="ＭＳ ゴシック" panose="020B0609070205080204" pitchFamily="49" charset="-128"/>
                </a:rPr>
                <a:t>せん。</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適切</a:t>
              </a:r>
              <a:r>
                <a:rPr lang="ja-JP" altLang="ja-JP" sz="1400" dirty="0">
                  <a:latin typeface="Meiryo UI" panose="020B0604030504040204" pitchFamily="50" charset="-128"/>
                  <a:ea typeface="Meiryo UI" panose="020B0604030504040204" pitchFamily="50" charset="-128"/>
                  <a:cs typeface="ＭＳ ゴシック" panose="020B0609070205080204" pitchFamily="49" charset="-128"/>
                </a:rPr>
                <a:t>な勤怠管理が重要</a:t>
              </a:r>
              <a:r>
                <a:rPr lang="ja-JP" altLang="ja-JP" sz="1400" dirty="0" smtClean="0">
                  <a:latin typeface="Meiryo UI" panose="020B0604030504040204" pitchFamily="50" charset="-128"/>
                  <a:ea typeface="Meiryo UI" panose="020B0604030504040204" pitchFamily="50" charset="-128"/>
                  <a:cs typeface="ＭＳ ゴシック" panose="020B0609070205080204" pitchFamily="49" charset="-128"/>
                </a:rPr>
                <a:t>で</a:t>
              </a:r>
              <a:r>
                <a:rPr lang="ja-JP" altLang="en-US" sz="1400" dirty="0">
                  <a:latin typeface="Meiryo UI" panose="020B0604030504040204" pitchFamily="50" charset="-128"/>
                  <a:ea typeface="Meiryo UI" panose="020B0604030504040204" pitchFamily="50" charset="-128"/>
                  <a:cs typeface="ＭＳ ゴシック" panose="020B0609070205080204" pitchFamily="49" charset="-128"/>
                </a:rPr>
                <a:t>す</a:t>
              </a:r>
              <a:r>
                <a:rPr lang="ja-JP" altLang="en-US" sz="1400" dirty="0" smtClean="0">
                  <a:latin typeface="Meiryo UI" panose="020B0604030504040204" pitchFamily="50" charset="-128"/>
                  <a:ea typeface="Meiryo UI" panose="020B0604030504040204" pitchFamily="50" charset="-128"/>
                  <a:cs typeface="ＭＳ ゴシック" panose="020B0609070205080204" pitchFamily="49" charset="-128"/>
                </a:rPr>
                <a:t>。</a:t>
              </a:r>
              <a:endParaRPr lang="ja-JP" altLang="ja-JP" dirty="0"/>
            </a:p>
          </p:txBody>
        </p:sp>
        <p:sp>
          <p:nvSpPr>
            <p:cNvPr id="11" name="テキスト ボックス 10"/>
            <p:cNvSpPr txBox="1"/>
            <p:nvPr/>
          </p:nvSpPr>
          <p:spPr>
            <a:xfrm>
              <a:off x="4775199" y="1878308"/>
              <a:ext cx="4076098" cy="3970318"/>
            </a:xfrm>
            <a:prstGeom prst="rect">
              <a:avLst/>
            </a:prstGeom>
            <a:noFill/>
          </p:spPr>
          <p:txBody>
            <a:bodyPr wrap="square" rtlCol="0">
              <a:spAutoFit/>
            </a:bodyPr>
            <a:lstStyle/>
            <a:p>
              <a:pPr algn="just"/>
              <a:r>
                <a:rPr lang="vi-VN" altLang="ja-JP" sz="1050" kern="100" dirty="0" smtClean="0">
                  <a:latin typeface="Times New Roman" panose="02020603050405020304" pitchFamily="18" charset="0"/>
                  <a:ea typeface="Meiryo UI" panose="020B0604030504040204" pitchFamily="50" charset="-128"/>
                  <a:cs typeface="Times New Roman" panose="02020603050405020304" pitchFamily="18" charset="0"/>
                </a:rPr>
                <a:t>Kami </a:t>
              </a:r>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akan menjelaskan secara detail mengenai jam kerja dan hari libur.</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Kami akan menjelaskan kondisi kerja peserta magang teknis di Honda Mobility Chubu Co., Ltd</a:t>
              </a:r>
              <a:r>
                <a:rPr lang="vi-VN" altLang="ja-JP" sz="1050" kern="100" dirty="0" smtClean="0">
                  <a:latin typeface="Times New Roman" panose="02020603050405020304" pitchFamily="18" charset="0"/>
                  <a:ea typeface="Meiryo UI" panose="020B0604030504040204" pitchFamily="50" charset="-128"/>
                  <a:cs typeface="Times New Roman" panose="02020603050405020304" pitchFamily="18" charset="0"/>
                </a:rPr>
                <a:t>.</a:t>
              </a:r>
              <a:endParaRPr lang="en-US" altLang="ja-JP" sz="1050" kern="100" dirty="0" smtClean="0">
                <a:latin typeface="Times New Roman" panose="02020603050405020304" pitchFamily="18" charset="0"/>
                <a:ea typeface="Meiryo UI" panose="020B0604030504040204" pitchFamily="50" charset="-128"/>
                <a:cs typeface="Times New Roman" panose="02020603050405020304" pitchFamily="18" charset="0"/>
              </a:endParaRPr>
            </a:p>
            <a:p>
              <a:pPr algn="just"/>
              <a:endParaRPr lang="en-US" altLang="ja-JP" sz="1050" kern="100" dirty="0">
                <a:latin typeface="Times New Roman" panose="02020603050405020304" pitchFamily="18" charset="0"/>
                <a:ea typeface="Meiryo UI" panose="020B0604030504040204" pitchFamily="50" charset="-128"/>
                <a:cs typeface="Times New Roman" panose="02020603050405020304" pitchFamily="18" charset="0"/>
              </a:endParaRPr>
            </a:p>
            <a:p>
              <a:pPr algn="just"/>
              <a:endPar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endParaRPr>
            </a:p>
            <a:p>
              <a:pPr algn="just"/>
              <a:r>
                <a:rPr lang="ja-JP" altLang="en-US" sz="1050" kern="100" dirty="0">
                  <a:latin typeface="Times New Roman" panose="02020603050405020304" pitchFamily="18" charset="0"/>
                  <a:ea typeface="Meiryo UI" panose="020B0604030504040204" pitchFamily="50" charset="-128"/>
                  <a:cs typeface="Times New Roman" panose="02020603050405020304" pitchFamily="18" charset="0"/>
                </a:rPr>
                <a:t>・</a:t>
              </a:r>
              <a:r>
                <a:rPr lang="vi-VN" altLang="ja-JP" sz="1050" kern="100" dirty="0" smtClean="0">
                  <a:latin typeface="Times New Roman" panose="02020603050405020304" pitchFamily="18" charset="0"/>
                  <a:ea typeface="Meiryo UI" panose="020B0604030504040204" pitchFamily="50" charset="-128"/>
                  <a:cs typeface="Times New Roman" panose="02020603050405020304" pitchFamily="18" charset="0"/>
                </a:rPr>
                <a:t>Jam </a:t>
              </a:r>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kerja pada dasarnya adalah </a:t>
              </a:r>
              <a:r>
                <a:rPr lang="vi-VN" altLang="ja-JP" sz="1050" b="1" kern="100" dirty="0">
                  <a:latin typeface="Times New Roman" panose="02020603050405020304" pitchFamily="18" charset="0"/>
                  <a:ea typeface="Meiryo UI" panose="020B0604030504040204" pitchFamily="50" charset="-128"/>
                  <a:cs typeface="Times New Roman" panose="02020603050405020304" pitchFamily="18" charset="0"/>
                </a:rPr>
                <a:t>8 jam per hari</a:t>
              </a:r>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 </a:t>
              </a:r>
              <a:endParaRPr lang="en-US" altLang="ja-JP" sz="1050" kern="100" dirty="0" smtClean="0">
                <a:latin typeface="Times New Roman" panose="02020603050405020304" pitchFamily="18" charset="0"/>
                <a:ea typeface="Meiryo UI" panose="020B0604030504040204" pitchFamily="50" charset="-128"/>
                <a:cs typeface="Times New Roman" panose="02020603050405020304" pitchFamily="18" charset="0"/>
              </a:endParaRPr>
            </a:p>
            <a:p>
              <a:pPr algn="just"/>
              <a:r>
                <a:rPr lang="vi-VN" altLang="ja-JP" sz="1050" kern="100" dirty="0" smtClean="0">
                  <a:latin typeface="Times New Roman" panose="02020603050405020304" pitchFamily="18" charset="0"/>
                  <a:ea typeface="Meiryo UI" panose="020B0604030504040204" pitchFamily="50" charset="-128"/>
                  <a:cs typeface="Times New Roman" panose="02020603050405020304" pitchFamily="18" charset="0"/>
                </a:rPr>
                <a:t>yaitu </a:t>
              </a:r>
              <a:r>
                <a:rPr lang="vi-VN" altLang="ja-JP" sz="1050" b="1" kern="100" dirty="0">
                  <a:latin typeface="Times New Roman" panose="02020603050405020304" pitchFamily="18" charset="0"/>
                  <a:ea typeface="Meiryo UI" panose="020B0604030504040204" pitchFamily="50" charset="-128"/>
                  <a:cs typeface="Times New Roman" panose="02020603050405020304" pitchFamily="18" charset="0"/>
                </a:rPr>
                <a:t>dari 09:30 sampai 18:30</a:t>
              </a:r>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 termasuk istirahat 1 jam.</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Dalam 1 minggu, jam kerja dasar adalah 40 jam.</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Pada masa sibuk, mungkin ada kerja lembur. Namun, untuk kerja lembur akan dibayarkan tunjangan lembur sesuai dengan hukum yang berlaku.</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Hari libur</a:t>
              </a:r>
              <a:r>
                <a:rPr lang="vi-VN" altLang="ja-JP" sz="1050" kern="100" dirty="0" smtClean="0">
                  <a:latin typeface="Times New Roman" panose="02020603050405020304" pitchFamily="18" charset="0"/>
                  <a:ea typeface="Meiryo UI" panose="020B0604030504040204" pitchFamily="50" charset="-128"/>
                  <a:cs typeface="Times New Roman" panose="02020603050405020304" pitchFamily="18" charset="0"/>
                </a:rPr>
                <a:t>:</a:t>
              </a:r>
              <a:endParaRPr lang="en-US" altLang="ja-JP" sz="1050" kern="100" dirty="0" smtClean="0">
                <a:latin typeface="Times New Roman" panose="02020603050405020304" pitchFamily="18" charset="0"/>
                <a:ea typeface="Meiryo UI" panose="020B0604030504040204" pitchFamily="50" charset="-128"/>
                <a:cs typeface="Times New Roman" panose="02020603050405020304" pitchFamily="18" charset="0"/>
              </a:endParaRPr>
            </a:p>
            <a:p>
              <a:pPr algn="just"/>
              <a:endPar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endParaRPr>
            </a:p>
            <a:p>
              <a:pPr algn="just"/>
              <a:r>
                <a:rPr lang="ja-JP" altLang="en-US" sz="1050" kern="100" dirty="0" smtClean="0">
                  <a:latin typeface="Times New Roman" panose="02020603050405020304" pitchFamily="18" charset="0"/>
                  <a:ea typeface="Meiryo UI" panose="020B0604030504040204" pitchFamily="50" charset="-128"/>
                  <a:cs typeface="Times New Roman" panose="02020603050405020304" pitchFamily="18" charset="0"/>
                </a:rPr>
                <a:t>・</a:t>
              </a:r>
              <a:r>
                <a:rPr lang="vi-VN" altLang="ja-JP" sz="1050" kern="100" dirty="0" smtClean="0">
                  <a:latin typeface="Times New Roman" panose="02020603050405020304" pitchFamily="18" charset="0"/>
                  <a:ea typeface="Meiryo UI" panose="020B0604030504040204" pitchFamily="50" charset="-128"/>
                  <a:cs typeface="Times New Roman" panose="02020603050405020304" pitchFamily="18" charset="0"/>
                </a:rPr>
                <a:t>Setiap </a:t>
              </a:r>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hari Selasa dan Rabu</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Sistem libur adalah </a:t>
              </a:r>
              <a:r>
                <a:rPr lang="vi-VN" altLang="ja-JP" sz="1050" b="1" kern="100" dirty="0">
                  <a:latin typeface="Times New Roman" panose="02020603050405020304" pitchFamily="18" charset="0"/>
                  <a:ea typeface="Meiryo UI" panose="020B0604030504040204" pitchFamily="50" charset="-128"/>
                  <a:cs typeface="Times New Roman" panose="02020603050405020304" pitchFamily="18" charset="0"/>
                </a:rPr>
                <a:t>2 hari dalam seminggu.</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Cuti berbayar akan diberikan setelah 2 bulan bekerja.</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Mohon baca dan periksa isi kontrak kerja dengan baik agar dapat memahaminya dengan benar.</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Hal penting tentang manajemen kerja</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Kami juga akan menjelaskan tentang:</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Cara menggunakan sistem pencatatan kehadiran</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Aturan kerja lembur</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Pembayaran gaji</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Khususnya, kerja lembur atas kemauan sendiri tidak diperbolehkan.</a:t>
              </a:r>
            </a:p>
            <a:p>
              <a:pPr algn="just"/>
              <a:r>
                <a:rPr lang="vi-VN" altLang="ja-JP" sz="1050" kern="100" dirty="0">
                  <a:latin typeface="Times New Roman" panose="02020603050405020304" pitchFamily="18" charset="0"/>
                  <a:ea typeface="Meiryo UI" panose="020B0604030504040204" pitchFamily="50" charset="-128"/>
                  <a:cs typeface="Times New Roman" panose="02020603050405020304" pitchFamily="18" charset="0"/>
                </a:rPr>
                <a:t>Karena itu, mencatat waktu kerja dengan benar sangat penting.</a:t>
              </a:r>
              <a:endParaRPr lang="vi-VN" altLang="ja-JP" sz="1050" u="sng" kern="100" dirty="0" smtClean="0">
                <a:latin typeface="Times New Roman" panose="02020603050405020304" pitchFamily="18" charset="0"/>
                <a:ea typeface="Meiryo UI" panose="020B0604030504040204" pitchFamily="50" charset="-128"/>
                <a:cs typeface="Times New Roman" panose="02020603050405020304" pitchFamily="18" charset="0"/>
              </a:endParaRPr>
            </a:p>
          </p:txBody>
        </p:sp>
      </p:grpSp>
    </p:spTree>
    <p:extLst>
      <p:ext uri="{BB962C8B-B14F-4D97-AF65-F5344CB8AC3E}">
        <p14:creationId xmlns:p14="http://schemas.microsoft.com/office/powerpoint/2010/main" val="29440251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280909" y="872573"/>
            <a:ext cx="8558367" cy="784830"/>
          </a:xfrm>
          <a:prstGeom prst="rect">
            <a:avLst/>
          </a:prstGeom>
          <a:noFill/>
        </p:spPr>
        <p:txBody>
          <a:bodyPr wrap="square" rtlCol="0">
            <a:spAutoFit/>
          </a:bodyPr>
          <a:lstStyle/>
          <a:p>
            <a:r>
              <a:rPr lang="ja-JP" altLang="en-US" sz="3600" b="1" dirty="0">
                <a:latin typeface="Meiryo UI" panose="020B0604030504040204" pitchFamily="50" charset="-128"/>
                <a:ea typeface="Meiryo UI" panose="020B0604030504040204" pitchFamily="50" charset="-128"/>
                <a:cs typeface="Meiryo UI" panose="020B0604030504040204" pitchFamily="50" charset="-128"/>
              </a:rPr>
              <a:t>年間休日は業界トップクラスの</a:t>
            </a:r>
            <a:r>
              <a:rPr lang="en-US" altLang="ja-JP" sz="4500" b="1"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120</a:t>
            </a:r>
            <a:r>
              <a:rPr lang="ja-JP" altLang="en-US" sz="4500" b="1" dirty="0">
                <a:solidFill>
                  <a:srgbClr val="C00000"/>
                </a:solidFill>
                <a:latin typeface="Meiryo UI" panose="020B0604030504040204" pitchFamily="50" charset="-128"/>
                <a:ea typeface="Meiryo UI" panose="020B0604030504040204" pitchFamily="50" charset="-128"/>
                <a:cs typeface="Meiryo UI" panose="020B0604030504040204" pitchFamily="50" charset="-128"/>
              </a:rPr>
              <a:t>日</a:t>
            </a:r>
            <a:r>
              <a:rPr lang="en-US" altLang="ja-JP" sz="36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3600" b="1" dirty="0">
                <a:latin typeface="Meiryo UI" panose="020B0604030504040204" pitchFamily="50" charset="-128"/>
                <a:ea typeface="Meiryo UI" panose="020B0604030504040204" pitchFamily="50" charset="-128"/>
                <a:cs typeface="Meiryo UI" panose="020B0604030504040204" pitchFamily="50" charset="-128"/>
              </a:rPr>
              <a:t>！</a:t>
            </a:r>
          </a:p>
        </p:txBody>
      </p:sp>
      <p:graphicFrame>
        <p:nvGraphicFramePr>
          <p:cNvPr id="4" name="表 3"/>
          <p:cNvGraphicFramePr>
            <a:graphicFrameLocks noGrp="1"/>
          </p:cNvGraphicFramePr>
          <p:nvPr>
            <p:extLst>
              <p:ext uri="{D42A27DB-BD31-4B8C-83A1-F6EECF244321}">
                <p14:modId xmlns:p14="http://schemas.microsoft.com/office/powerpoint/2010/main" val="2480966953"/>
              </p:ext>
            </p:extLst>
          </p:nvPr>
        </p:nvGraphicFramePr>
        <p:xfrm>
          <a:off x="280909" y="3790698"/>
          <a:ext cx="3835353" cy="2197509"/>
        </p:xfrm>
        <a:graphic>
          <a:graphicData uri="http://schemas.openxmlformats.org/drawingml/2006/table">
            <a:tbl>
              <a:tblPr firstRow="1" bandRow="1">
                <a:tableStyleId>{5940675A-B579-460E-94D1-54222C63F5DA}</a:tableStyleId>
              </a:tblPr>
              <a:tblGrid>
                <a:gridCol w="3835353">
                  <a:extLst>
                    <a:ext uri="{9D8B030D-6E8A-4147-A177-3AD203B41FA5}">
                      <a16:colId xmlns:a16="http://schemas.microsoft.com/office/drawing/2014/main" val="20000"/>
                    </a:ext>
                  </a:extLst>
                </a:gridCol>
              </a:tblGrid>
              <a:tr h="732503">
                <a:tc>
                  <a:txBody>
                    <a:bodyPr/>
                    <a:lstStyle/>
                    <a:p>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ゴールデンウィーク（</a:t>
                      </a:r>
                      <a:r>
                        <a:rPr kumimoji="1"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月）</a:t>
                      </a:r>
                      <a:endParaRPr kumimoji="1"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2100" b="1" baseline="0"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100" b="1" baseline="0"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連休</a:t>
                      </a:r>
                      <a:endParaRPr kumimoji="1"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endParaRPr>
                    </a:p>
                  </a:txBody>
                  <a:tcPr marL="108000" marR="68580" marT="34290" marB="34290"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2503">
                <a:tc>
                  <a:txBody>
                    <a:bodyPr/>
                    <a:lstStyle/>
                    <a:p>
                      <a:r>
                        <a:rPr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夏季</a:t>
                      </a:r>
                      <a:r>
                        <a:rPr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休暇　　　　　（</a:t>
                      </a:r>
                      <a:r>
                        <a:rPr lang="en-US" altLang="ja-JP"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8</a:t>
                      </a:r>
                      <a:r>
                        <a:rPr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月</a:t>
                      </a:r>
                      <a:r>
                        <a:rPr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　　</a:t>
                      </a:r>
                      <a:endParaRPr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endParaRPr>
                    </a:p>
                    <a:p>
                      <a:r>
                        <a:rPr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連休</a:t>
                      </a:r>
                    </a:p>
                  </a:txBody>
                  <a:tcPr marL="108000" marR="68580" marT="34290" marB="34290"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732503">
                <a:tc>
                  <a:txBody>
                    <a:bodyPr/>
                    <a:lstStyle/>
                    <a:p>
                      <a:r>
                        <a:rPr kumimoji="1"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年末・年始</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休暇　（</a:t>
                      </a:r>
                      <a:r>
                        <a:rPr kumimoji="1"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月</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2100" b="1" dirty="0" smtClean="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rPr>
                        <a:t>連休</a:t>
                      </a:r>
                      <a:endParaRPr kumimoji="1" lang="ja-JP" altLang="en-US" sz="2100" b="1" dirty="0">
                        <a:solidFill>
                          <a:schemeClr val="bg1"/>
                        </a:solidFill>
                        <a:effectLst>
                          <a:glow rad="88900">
                            <a:schemeClr val="tx1"/>
                          </a:glow>
                        </a:effectLst>
                        <a:latin typeface="Meiryo UI" panose="020B0604030504040204" pitchFamily="50" charset="-128"/>
                        <a:ea typeface="Meiryo UI" panose="020B0604030504040204" pitchFamily="50" charset="-128"/>
                        <a:cs typeface="Meiryo UI" panose="020B0604030504040204" pitchFamily="50" charset="-128"/>
                      </a:endParaRPr>
                    </a:p>
                  </a:txBody>
                  <a:tcPr marL="108000" marR="68580" marT="34290" marB="34290"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sp>
        <p:nvSpPr>
          <p:cNvPr id="5" name="テキスト ボックス 4"/>
          <p:cNvSpPr txBox="1"/>
          <p:nvPr/>
        </p:nvSpPr>
        <p:spPr>
          <a:xfrm>
            <a:off x="1333608" y="1701623"/>
            <a:ext cx="6284093" cy="553998"/>
          </a:xfrm>
          <a:prstGeom prst="rect">
            <a:avLst/>
          </a:prstGeom>
          <a:noFill/>
        </p:spPr>
        <p:txBody>
          <a:bodyPr wrap="none" rtlCol="0">
            <a:spAutoFit/>
          </a:bodyPr>
          <a:lstStyle/>
          <a:p>
            <a:r>
              <a:rPr lang="ja-JP" altLang="en-US" sz="3000" b="1" dirty="0">
                <a:latin typeface="Meiryo UI" panose="020B0604030504040204" pitchFamily="50" charset="-128"/>
                <a:ea typeface="Meiryo UI" panose="020B0604030504040204" pitchFamily="50" charset="-128"/>
                <a:cs typeface="Meiryo UI" panose="020B0604030504040204" pitchFamily="50" charset="-128"/>
              </a:rPr>
              <a:t>毎週 火・水曜日休日＋大型３</a:t>
            </a:r>
            <a:r>
              <a:rPr lang="ja-JP" altLang="en-US" sz="3000" b="1" dirty="0" smtClean="0">
                <a:latin typeface="Meiryo UI" panose="020B0604030504040204" pitchFamily="50" charset="-128"/>
                <a:ea typeface="Meiryo UI" panose="020B0604030504040204" pitchFamily="50" charset="-128"/>
                <a:cs typeface="Meiryo UI" panose="020B0604030504040204" pitchFamily="50" charset="-128"/>
              </a:rPr>
              <a:t>大連休</a:t>
            </a:r>
            <a:endParaRPr lang="en-US" altLang="ja-JP" sz="30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正方形/長方形 7">
            <a:extLst/>
          </p:cNvPr>
          <p:cNvSpPr/>
          <p:nvPr/>
        </p:nvSpPr>
        <p:spPr>
          <a:xfrm>
            <a:off x="2879480" y="87710"/>
            <a:ext cx="3209925" cy="333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ja-JP" altLang="en-US" sz="2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休日について</a:t>
            </a:r>
          </a:p>
        </p:txBody>
      </p:sp>
      <p:sp>
        <p:nvSpPr>
          <p:cNvPr id="14" name="角丸四角形 13"/>
          <p:cNvSpPr/>
          <p:nvPr/>
        </p:nvSpPr>
        <p:spPr>
          <a:xfrm>
            <a:off x="1852221" y="2349898"/>
            <a:ext cx="5191676" cy="689550"/>
          </a:xfrm>
          <a:prstGeom prst="roundRect">
            <a:avLst/>
          </a:prstGeom>
          <a:solidFill>
            <a:srgbClr val="FFFFCC"/>
          </a:solidFill>
          <a:effectLst>
            <a:softEdge rad="63500"/>
          </a:effectLst>
        </p:spPr>
        <p:txBody>
          <a:bodyPr wrap="square">
            <a:spAutoFit/>
          </a:bodyPr>
          <a:lstStyle/>
          <a:p>
            <a:pPr algn="ctr">
              <a:spcBef>
                <a:spcPts val="900"/>
              </a:spcBef>
              <a:defRPr/>
            </a:pPr>
            <a:r>
              <a:rPr kumimoji="0" lang="ja-JP" altLang="en-US" sz="2100" b="1" kern="0" dirty="0">
                <a:solidFill>
                  <a:srgbClr val="C00000"/>
                </a:solidFill>
                <a:effectLst>
                  <a:glow rad="127000">
                    <a:prstClr val="white"/>
                  </a:glow>
                  <a:outerShdw blurRad="38100" dist="38100" dir="2700000" algn="tl">
                    <a:srgbClr val="000000">
                      <a:alpha val="43137"/>
                    </a:srgbClr>
                  </a:outerShdw>
                </a:effectLst>
                <a:latin typeface="Meiryo UI" panose="020B0604030504040204" pitchFamily="50" charset="-128"/>
                <a:ea typeface="Meiryo UI" panose="020B0604030504040204" pitchFamily="50" charset="-128"/>
              </a:rPr>
              <a:t>通常の火・水と大型連休は店舗一斉クローズ　</a:t>
            </a:r>
            <a:r>
              <a:rPr kumimoji="0" lang="ja-JP" altLang="en-US" sz="1350" b="1" kern="0" dirty="0">
                <a:solidFill>
                  <a:srgbClr val="C00000"/>
                </a:solidFill>
                <a:effectLst>
                  <a:glow rad="127000">
                    <a:prstClr val="white"/>
                  </a:glow>
                  <a:outerShdw blurRad="38100" dist="38100" dir="2700000" algn="tl">
                    <a:srgbClr val="000000">
                      <a:alpha val="43137"/>
                    </a:srgbClr>
                  </a:outerShdw>
                </a:effectLst>
                <a:latin typeface="Meiryo UI" panose="020B0604030504040204" pitchFamily="50" charset="-128"/>
                <a:ea typeface="Meiryo UI" panose="020B0604030504040204" pitchFamily="50" charset="-128"/>
              </a:rPr>
              <a:t>スタッフ全員が休みのためゆっくり休める！！</a:t>
            </a:r>
          </a:p>
        </p:txBody>
      </p:sp>
      <p:pic>
        <p:nvPicPr>
          <p:cNvPr id="3" name="図 2"/>
          <p:cNvPicPr>
            <a:picLocks noChangeAspect="1"/>
          </p:cNvPicPr>
          <p:nvPr/>
        </p:nvPicPr>
        <p:blipFill>
          <a:blip r:embed="rId3" cstate="print"/>
          <a:stretch>
            <a:fillRect/>
          </a:stretch>
        </p:blipFill>
        <p:spPr>
          <a:xfrm>
            <a:off x="4533040" y="4037197"/>
            <a:ext cx="2126255" cy="1436300"/>
          </a:xfrm>
          <a:prstGeom prst="rect">
            <a:avLst/>
          </a:prstGeom>
        </p:spPr>
      </p:pic>
      <p:pic>
        <p:nvPicPr>
          <p:cNvPr id="7" name="図 6"/>
          <p:cNvPicPr>
            <a:picLocks noChangeAspect="1"/>
          </p:cNvPicPr>
          <p:nvPr/>
        </p:nvPicPr>
        <p:blipFill>
          <a:blip r:embed="rId4"/>
          <a:stretch>
            <a:fillRect/>
          </a:stretch>
        </p:blipFill>
        <p:spPr>
          <a:xfrm>
            <a:off x="6718577" y="3339160"/>
            <a:ext cx="2120957" cy="1416188"/>
          </a:xfrm>
          <a:prstGeom prst="rect">
            <a:avLst/>
          </a:prstGeom>
        </p:spPr>
      </p:pic>
      <p:pic>
        <p:nvPicPr>
          <p:cNvPr id="10" name="図 9"/>
          <p:cNvPicPr>
            <a:picLocks noChangeAspect="1"/>
          </p:cNvPicPr>
          <p:nvPr/>
        </p:nvPicPr>
        <p:blipFill>
          <a:blip r:embed="rId5"/>
          <a:stretch>
            <a:fillRect/>
          </a:stretch>
        </p:blipFill>
        <p:spPr>
          <a:xfrm>
            <a:off x="6718579" y="4817460"/>
            <a:ext cx="2134063" cy="1422708"/>
          </a:xfrm>
          <a:prstGeom prst="rect">
            <a:avLst/>
          </a:prstGeom>
        </p:spPr>
      </p:pic>
      <p:pic>
        <p:nvPicPr>
          <p:cNvPr id="12" name="Picture 12" descr="ゴールデンウィーク」のイラスト文字 | かわいいフリー素材集 いらすとや"/>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8638" y="3872824"/>
            <a:ext cx="1053284" cy="78601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8" descr="夏休み」のイラスト文字 | かわいいフリー素材集 いらすとや"/>
          <p:cNvPicPr>
            <a:picLocks noChangeAspect="1" noChangeArrowheads="1"/>
          </p:cNvPicPr>
          <p:nvPr/>
        </p:nvPicPr>
        <p:blipFill>
          <a:blip r:embed="rId7" cstate="print">
            <a:duotone>
              <a:prstClr val="black"/>
              <a:srgbClr val="92D050">
                <a:tint val="45000"/>
                <a:satMod val="400000"/>
              </a:srgbClr>
            </a:duotone>
            <a:extLst>
              <a:ext uri="{28A0092B-C50C-407E-A947-70E740481C1C}">
                <a14:useLocalDpi xmlns:a14="http://schemas.microsoft.com/office/drawing/2010/main" val="0"/>
              </a:ext>
            </a:extLst>
          </a:blip>
          <a:srcRect/>
          <a:stretch>
            <a:fillRect/>
          </a:stretch>
        </p:blipFill>
        <p:spPr bwMode="auto">
          <a:xfrm>
            <a:off x="3640410" y="4787431"/>
            <a:ext cx="914838" cy="399225"/>
          </a:xfrm>
          <a:prstGeom prst="rect">
            <a:avLst/>
          </a:prstGeom>
          <a:noFill/>
          <a:effectLst>
            <a:glow rad="101600">
              <a:schemeClr val="bg1">
                <a:alpha val="60000"/>
              </a:schemeClr>
            </a:glow>
          </a:effectLst>
          <a:extLst>
            <a:ext uri="{909E8E84-426E-40DD-AFC4-6F175D3DCCD1}">
              <a14:hiddenFill xmlns:a14="http://schemas.microsoft.com/office/drawing/2010/main">
                <a:solidFill>
                  <a:srgbClr val="FFFFFF"/>
                </a:solidFill>
              </a14:hiddenFill>
            </a:ext>
          </a:extLst>
        </p:spPr>
      </p:pic>
      <p:pic>
        <p:nvPicPr>
          <p:cNvPr id="9" name="図 8"/>
          <p:cNvPicPr>
            <a:picLocks noChangeAspect="1"/>
          </p:cNvPicPr>
          <p:nvPr/>
        </p:nvPicPr>
        <p:blipFill>
          <a:blip r:embed="rId8"/>
          <a:stretch>
            <a:fillRect/>
          </a:stretch>
        </p:blipFill>
        <p:spPr>
          <a:xfrm>
            <a:off x="3679235" y="5557124"/>
            <a:ext cx="923624" cy="484674"/>
          </a:xfrm>
          <a:prstGeom prst="rect">
            <a:avLst/>
          </a:prstGeom>
        </p:spPr>
      </p:pic>
      <p:sp>
        <p:nvSpPr>
          <p:cNvPr id="11" name="円形吹き出し 10"/>
          <p:cNvSpPr/>
          <p:nvPr/>
        </p:nvSpPr>
        <p:spPr>
          <a:xfrm>
            <a:off x="7402685" y="2429818"/>
            <a:ext cx="1722842" cy="847230"/>
          </a:xfrm>
          <a:prstGeom prst="wedgeEllipseCallout">
            <a:avLst>
              <a:gd name="adj1" fmla="val -52598"/>
              <a:gd name="adj2" fmla="val -49729"/>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b="1" dirty="0">
              <a:solidFill>
                <a:schemeClr val="tx1"/>
              </a:solidFill>
              <a:latin typeface="Meiryo UI" panose="020B0604030504040204" pitchFamily="50" charset="-128"/>
              <a:ea typeface="Meiryo UI" panose="020B0604030504040204" pitchFamily="50" charset="-128"/>
            </a:endParaRPr>
          </a:p>
        </p:txBody>
      </p:sp>
      <p:sp>
        <p:nvSpPr>
          <p:cNvPr id="15" name="テキスト ボックス 14"/>
          <p:cNvSpPr txBox="1"/>
          <p:nvPr/>
        </p:nvSpPr>
        <p:spPr>
          <a:xfrm>
            <a:off x="7402686" y="2473670"/>
            <a:ext cx="1551296" cy="996097"/>
          </a:xfrm>
          <a:prstGeom prst="rect">
            <a:avLst/>
          </a:prstGeom>
          <a:noFill/>
        </p:spPr>
        <p:txBody>
          <a:bodyPr wrap="square" rtlCol="0">
            <a:spAutoFit/>
          </a:bodyPr>
          <a:lstStyle/>
          <a:p>
            <a:pPr algn="ctr"/>
            <a:r>
              <a:rPr lang="ja-JP" altLang="en-US" sz="1500" b="1" dirty="0">
                <a:latin typeface="Meiryo UI" panose="020B0604030504040204" pitchFamily="50" charset="-128"/>
                <a:ea typeface="Meiryo UI" panose="020B0604030504040204" pitchFamily="50" charset="-128"/>
              </a:rPr>
              <a:t>ファミリー休日</a:t>
            </a:r>
            <a:endParaRPr lang="en-US" altLang="ja-JP" sz="1500" b="1" dirty="0">
              <a:latin typeface="Meiryo UI" panose="020B0604030504040204" pitchFamily="50" charset="-128"/>
              <a:ea typeface="Meiryo UI" panose="020B0604030504040204" pitchFamily="50" charset="-128"/>
            </a:endParaRPr>
          </a:p>
          <a:p>
            <a:pPr algn="ctr"/>
            <a:r>
              <a:rPr lang="ja-JP" altLang="en-US" sz="1500" b="1" dirty="0">
                <a:latin typeface="Meiryo UI" panose="020B0604030504040204" pitchFamily="50" charset="-128"/>
                <a:ea typeface="Meiryo UI" panose="020B0604030504040204" pitchFamily="50" charset="-128"/>
              </a:rPr>
              <a:t>年</a:t>
            </a:r>
            <a:r>
              <a:rPr lang="en-US" altLang="ja-JP" sz="1500" b="1" dirty="0">
                <a:latin typeface="Meiryo UI" panose="020B0604030504040204" pitchFamily="50" charset="-128"/>
                <a:ea typeface="Meiryo UI" panose="020B0604030504040204" pitchFamily="50" charset="-128"/>
              </a:rPr>
              <a:t>4</a:t>
            </a:r>
            <a:r>
              <a:rPr lang="ja-JP" altLang="en-US" sz="1500" b="1" dirty="0">
                <a:latin typeface="Meiryo UI" panose="020B0604030504040204" pitchFamily="50" charset="-128"/>
                <a:ea typeface="Meiryo UI" panose="020B0604030504040204" pitchFamily="50" charset="-128"/>
              </a:rPr>
              <a:t>日土日休み</a:t>
            </a:r>
            <a:endParaRPr lang="en-US" altLang="ja-JP" sz="1500" b="1" dirty="0">
              <a:latin typeface="Meiryo UI" panose="020B0604030504040204" pitchFamily="50" charset="-128"/>
              <a:ea typeface="Meiryo UI" panose="020B0604030504040204" pitchFamily="50" charset="-128"/>
            </a:endParaRPr>
          </a:p>
          <a:p>
            <a:pPr algn="ctr"/>
            <a:r>
              <a:rPr lang="ja-JP" altLang="en-US" sz="1500" b="1" dirty="0">
                <a:latin typeface="Meiryo UI" panose="020B0604030504040204" pitchFamily="50" charset="-128"/>
                <a:ea typeface="Meiryo UI" panose="020B0604030504040204" pitchFamily="50" charset="-128"/>
              </a:rPr>
              <a:t>あるよ！</a:t>
            </a:r>
          </a:p>
          <a:p>
            <a:endParaRPr lang="ja-JP" altLang="en-US" sz="1350" dirty="0"/>
          </a:p>
        </p:txBody>
      </p:sp>
      <p:sp>
        <p:nvSpPr>
          <p:cNvPr id="16" name="正方形/長方形 15"/>
          <p:cNvSpPr/>
          <p:nvPr/>
        </p:nvSpPr>
        <p:spPr>
          <a:xfrm>
            <a:off x="3560424" y="605701"/>
            <a:ext cx="1989647" cy="400110"/>
          </a:xfrm>
          <a:prstGeom prst="rect">
            <a:avLst/>
          </a:prstGeom>
        </p:spPr>
        <p:txBody>
          <a:bodyPr wrap="none">
            <a:spAutoFit/>
          </a:bodyPr>
          <a:lstStyle/>
          <a:p>
            <a:r>
              <a:rPr lang="en-US" altLang="ja-JP" sz="2000" dirty="0" err="1"/>
              <a:t>Tentang</a:t>
            </a:r>
            <a:r>
              <a:rPr lang="en-US" altLang="ja-JP" sz="2000" dirty="0"/>
              <a:t> </a:t>
            </a:r>
            <a:r>
              <a:rPr lang="en-US" altLang="ja-JP" sz="2000" dirty="0" err="1"/>
              <a:t>hari</a:t>
            </a:r>
            <a:r>
              <a:rPr lang="en-US" altLang="ja-JP" sz="2000" dirty="0"/>
              <a:t> </a:t>
            </a:r>
            <a:r>
              <a:rPr lang="en-US" altLang="ja-JP" sz="2000" dirty="0" err="1"/>
              <a:t>libur</a:t>
            </a:r>
            <a:endParaRPr lang="ja-JP" altLang="en-US" sz="2000" dirty="0">
              <a:latin typeface="Arial" panose="020B0604020202020204" pitchFamily="34" charset="0"/>
              <a:cs typeface="Arial" panose="020B0604020202020204" pitchFamily="34" charset="0"/>
            </a:endParaRPr>
          </a:p>
        </p:txBody>
      </p:sp>
      <p:sp>
        <p:nvSpPr>
          <p:cNvPr id="17" name="正方形/長方形 16"/>
          <p:cNvSpPr/>
          <p:nvPr/>
        </p:nvSpPr>
        <p:spPr>
          <a:xfrm>
            <a:off x="1160360" y="1469148"/>
            <a:ext cx="6242325" cy="307777"/>
          </a:xfrm>
          <a:prstGeom prst="rect">
            <a:avLst/>
          </a:prstGeom>
        </p:spPr>
        <p:txBody>
          <a:bodyPr wrap="square">
            <a:spAutoFit/>
          </a:bodyPr>
          <a:lstStyle/>
          <a:p>
            <a:r>
              <a:rPr lang="en-US" altLang="ja-JP" sz="1400" dirty="0" err="1"/>
              <a:t>Jumlah</a:t>
            </a:r>
            <a:r>
              <a:rPr lang="en-US" altLang="ja-JP" sz="1400" dirty="0"/>
              <a:t> </a:t>
            </a:r>
            <a:r>
              <a:rPr lang="en-US" altLang="ja-JP" sz="1400" dirty="0" err="1"/>
              <a:t>hari</a:t>
            </a:r>
            <a:r>
              <a:rPr lang="en-US" altLang="ja-JP" sz="1400" dirty="0"/>
              <a:t> </a:t>
            </a:r>
            <a:r>
              <a:rPr lang="en-US" altLang="ja-JP" sz="1400" dirty="0" err="1"/>
              <a:t>libur</a:t>
            </a:r>
            <a:r>
              <a:rPr lang="en-US" altLang="ja-JP" sz="1400" dirty="0"/>
              <a:t> </a:t>
            </a:r>
            <a:r>
              <a:rPr lang="en-US" altLang="ja-JP" sz="1400" dirty="0" err="1"/>
              <a:t>tahunan</a:t>
            </a:r>
            <a:r>
              <a:rPr lang="en-US" altLang="ja-JP" sz="1400" dirty="0"/>
              <a:t> </a:t>
            </a:r>
            <a:r>
              <a:rPr lang="en-US" altLang="ja-JP" sz="1400" dirty="0" err="1"/>
              <a:t>mencapai</a:t>
            </a:r>
            <a:r>
              <a:rPr lang="en-US" altLang="ja-JP" sz="1400" dirty="0"/>
              <a:t> 120 </a:t>
            </a:r>
            <a:r>
              <a:rPr lang="en-US" altLang="ja-JP" sz="1400" dirty="0" err="1"/>
              <a:t>hari</a:t>
            </a:r>
            <a:r>
              <a:rPr lang="en-US" altLang="ja-JP" sz="1400" dirty="0"/>
              <a:t>, </a:t>
            </a:r>
            <a:r>
              <a:rPr lang="en-US" altLang="ja-JP" sz="1400" dirty="0" err="1"/>
              <a:t>termasuk</a:t>
            </a:r>
            <a:r>
              <a:rPr lang="en-US" altLang="ja-JP" sz="1400" dirty="0"/>
              <a:t> yang </a:t>
            </a:r>
            <a:r>
              <a:rPr lang="en-US" altLang="ja-JP" sz="1400" dirty="0" err="1"/>
              <a:t>tertinggi</a:t>
            </a:r>
            <a:r>
              <a:rPr lang="en-US" altLang="ja-JP" sz="1400" dirty="0"/>
              <a:t> di </a:t>
            </a:r>
            <a:r>
              <a:rPr lang="en-US" altLang="ja-JP" sz="1400" dirty="0" err="1"/>
              <a:t>industri</a:t>
            </a:r>
            <a:r>
              <a:rPr lang="en-US" altLang="ja-JP" sz="1400" dirty="0"/>
              <a:t> </a:t>
            </a:r>
            <a:r>
              <a:rPr lang="en-US" altLang="ja-JP" sz="1400" dirty="0" err="1"/>
              <a:t>ini</a:t>
            </a:r>
            <a:r>
              <a:rPr lang="en-US" altLang="ja-JP" sz="1400" dirty="0"/>
              <a:t>!!</a:t>
            </a:r>
            <a:r>
              <a:rPr lang="vi-VN" altLang="ja-JP" sz="1400" dirty="0" smtClean="0"/>
              <a:t>.</a:t>
            </a:r>
            <a:endParaRPr lang="ja-JP" altLang="en-US" sz="1400" dirty="0"/>
          </a:p>
        </p:txBody>
      </p:sp>
      <p:sp>
        <p:nvSpPr>
          <p:cNvPr id="18" name="正方形/長方形 17"/>
          <p:cNvSpPr/>
          <p:nvPr/>
        </p:nvSpPr>
        <p:spPr>
          <a:xfrm>
            <a:off x="842002" y="2148004"/>
            <a:ext cx="8732391" cy="307777"/>
          </a:xfrm>
          <a:prstGeom prst="rect">
            <a:avLst/>
          </a:prstGeom>
        </p:spPr>
        <p:txBody>
          <a:bodyPr wrap="square">
            <a:spAutoFit/>
          </a:bodyPr>
          <a:lstStyle/>
          <a:p>
            <a:r>
              <a:rPr lang="en-US" altLang="ja-JP" sz="1400" dirty="0" err="1"/>
              <a:t>Libur</a:t>
            </a:r>
            <a:r>
              <a:rPr lang="en-US" altLang="ja-JP" sz="1400" dirty="0"/>
              <a:t> </a:t>
            </a:r>
            <a:r>
              <a:rPr lang="en-US" altLang="ja-JP" sz="1400" dirty="0" err="1"/>
              <a:t>setiap</a:t>
            </a:r>
            <a:r>
              <a:rPr lang="en-US" altLang="ja-JP" sz="1400" dirty="0"/>
              <a:t> </a:t>
            </a:r>
            <a:r>
              <a:rPr lang="en-US" altLang="ja-JP" sz="1400" dirty="0" err="1"/>
              <a:t>minggu</a:t>
            </a:r>
            <a:r>
              <a:rPr lang="en-US" altLang="ja-JP" sz="1400" dirty="0"/>
              <a:t> </a:t>
            </a:r>
            <a:r>
              <a:rPr lang="en-US" altLang="ja-JP" sz="1400" dirty="0" err="1"/>
              <a:t>pada</a:t>
            </a:r>
            <a:r>
              <a:rPr lang="en-US" altLang="ja-JP" sz="1400" dirty="0"/>
              <a:t> </a:t>
            </a:r>
            <a:r>
              <a:rPr lang="en-US" altLang="ja-JP" sz="1400" dirty="0" err="1"/>
              <a:t>hari</a:t>
            </a:r>
            <a:r>
              <a:rPr lang="en-US" altLang="ja-JP" sz="1400" dirty="0"/>
              <a:t> </a:t>
            </a:r>
            <a:r>
              <a:rPr lang="en-US" altLang="ja-JP" sz="1400" dirty="0" err="1"/>
              <a:t>Selasa</a:t>
            </a:r>
            <a:r>
              <a:rPr lang="en-US" altLang="ja-JP" sz="1400" dirty="0"/>
              <a:t> </a:t>
            </a:r>
            <a:r>
              <a:rPr lang="en-US" altLang="ja-JP" sz="1400" dirty="0" err="1"/>
              <a:t>dan</a:t>
            </a:r>
            <a:r>
              <a:rPr lang="en-US" altLang="ja-JP" sz="1400" dirty="0"/>
              <a:t> </a:t>
            </a:r>
            <a:r>
              <a:rPr lang="en-US" altLang="ja-JP" sz="1400" dirty="0" err="1"/>
              <a:t>Rabu</a:t>
            </a:r>
            <a:r>
              <a:rPr lang="en-US" altLang="ja-JP" sz="1400" dirty="0"/>
              <a:t>, </a:t>
            </a:r>
            <a:r>
              <a:rPr lang="en-US" altLang="ja-JP" sz="1400" dirty="0" err="1"/>
              <a:t>serta</a:t>
            </a:r>
            <a:r>
              <a:rPr lang="en-US" altLang="ja-JP" sz="1400" dirty="0"/>
              <a:t> </a:t>
            </a:r>
            <a:r>
              <a:rPr lang="en-US" altLang="ja-JP" sz="1400" dirty="0" err="1"/>
              <a:t>menikmati</a:t>
            </a:r>
            <a:r>
              <a:rPr lang="en-US" altLang="ja-JP" sz="1400" dirty="0"/>
              <a:t> 3 kali </a:t>
            </a:r>
            <a:r>
              <a:rPr lang="en-US" altLang="ja-JP" sz="1400" dirty="0" err="1"/>
              <a:t>libur</a:t>
            </a:r>
            <a:r>
              <a:rPr lang="en-US" altLang="ja-JP" sz="1400" dirty="0"/>
              <a:t> </a:t>
            </a:r>
            <a:r>
              <a:rPr lang="en-US" altLang="ja-JP" sz="1400" dirty="0" err="1"/>
              <a:t>panjang</a:t>
            </a:r>
            <a:r>
              <a:rPr lang="en-US" altLang="ja-JP" sz="1400" dirty="0"/>
              <a:t> </a:t>
            </a:r>
            <a:r>
              <a:rPr lang="en-US" altLang="ja-JP" sz="1400" dirty="0" err="1"/>
              <a:t>besar</a:t>
            </a:r>
            <a:r>
              <a:rPr lang="en-US" altLang="ja-JP" sz="1400" dirty="0"/>
              <a:t> </a:t>
            </a:r>
            <a:r>
              <a:rPr lang="en-US" altLang="ja-JP" sz="1400" dirty="0" err="1"/>
              <a:t>setiap</a:t>
            </a:r>
            <a:r>
              <a:rPr lang="en-US" altLang="ja-JP" sz="1400" dirty="0"/>
              <a:t> </a:t>
            </a:r>
            <a:r>
              <a:rPr lang="en-US" altLang="ja-JP" sz="1400" dirty="0" err="1"/>
              <a:t>tahun</a:t>
            </a:r>
            <a:r>
              <a:rPr lang="en-US" altLang="ja-JP" sz="1400" dirty="0"/>
              <a:t>!</a:t>
            </a:r>
            <a:endParaRPr lang="ja-JP" altLang="en-US" sz="1400" dirty="0"/>
          </a:p>
        </p:txBody>
      </p:sp>
      <p:sp>
        <p:nvSpPr>
          <p:cNvPr id="19" name="正方形/長方形 18"/>
          <p:cNvSpPr/>
          <p:nvPr/>
        </p:nvSpPr>
        <p:spPr>
          <a:xfrm>
            <a:off x="928576" y="2914299"/>
            <a:ext cx="4721674" cy="461665"/>
          </a:xfrm>
          <a:prstGeom prst="rect">
            <a:avLst/>
          </a:prstGeom>
        </p:spPr>
        <p:txBody>
          <a:bodyPr wrap="square">
            <a:spAutoFit/>
          </a:bodyPr>
          <a:lstStyle/>
          <a:p>
            <a:r>
              <a:rPr lang="en-US" altLang="ja-JP" sz="1200" dirty="0" err="1"/>
              <a:t>Toko</a:t>
            </a:r>
            <a:r>
              <a:rPr lang="en-US" altLang="ja-JP" sz="1200" dirty="0"/>
              <a:t> </a:t>
            </a:r>
            <a:r>
              <a:rPr lang="en-US" altLang="ja-JP" sz="1200" dirty="0" err="1"/>
              <a:t>tutup</a:t>
            </a:r>
            <a:r>
              <a:rPr lang="en-US" altLang="ja-JP" sz="1200" dirty="0"/>
              <a:t> </a:t>
            </a:r>
            <a:r>
              <a:rPr lang="en-US" altLang="ja-JP" sz="1200" dirty="0" err="1"/>
              <a:t>serentak</a:t>
            </a:r>
            <a:r>
              <a:rPr lang="en-US" altLang="ja-JP" sz="1200" dirty="0"/>
              <a:t> </a:t>
            </a:r>
            <a:r>
              <a:rPr lang="en-US" altLang="ja-JP" sz="1200" dirty="0" err="1"/>
              <a:t>pada</a:t>
            </a:r>
            <a:r>
              <a:rPr lang="en-US" altLang="ja-JP" sz="1200" dirty="0"/>
              <a:t> </a:t>
            </a:r>
            <a:r>
              <a:rPr lang="en-US" altLang="ja-JP" sz="1200" dirty="0" err="1"/>
              <a:t>hari</a:t>
            </a:r>
            <a:r>
              <a:rPr lang="en-US" altLang="ja-JP" sz="1200" dirty="0"/>
              <a:t> </a:t>
            </a:r>
            <a:r>
              <a:rPr lang="en-US" altLang="ja-JP" sz="1200" dirty="0" err="1"/>
              <a:t>libur</a:t>
            </a:r>
            <a:r>
              <a:rPr lang="en-US" altLang="ja-JP" sz="1200" dirty="0"/>
              <a:t> </a:t>
            </a:r>
            <a:r>
              <a:rPr lang="en-US" altLang="ja-JP" sz="1200" dirty="0" err="1"/>
              <a:t>Selasa-Rabu</a:t>
            </a:r>
            <a:r>
              <a:rPr lang="en-US" altLang="ja-JP" sz="1200" dirty="0"/>
              <a:t> </a:t>
            </a:r>
            <a:r>
              <a:rPr lang="en-US" altLang="ja-JP" sz="1200" dirty="0" err="1"/>
              <a:t>dan</a:t>
            </a:r>
            <a:r>
              <a:rPr lang="en-US" altLang="ja-JP" sz="1200" dirty="0"/>
              <a:t> </a:t>
            </a:r>
            <a:r>
              <a:rPr lang="en-US" altLang="ja-JP" sz="1200" dirty="0" err="1"/>
              <a:t>libur</a:t>
            </a:r>
            <a:r>
              <a:rPr lang="en-US" altLang="ja-JP" sz="1200" dirty="0"/>
              <a:t> </a:t>
            </a:r>
            <a:r>
              <a:rPr lang="en-US" altLang="ja-JP" sz="1200" dirty="0" err="1"/>
              <a:t>panjang</a:t>
            </a:r>
            <a:r>
              <a:rPr lang="en-US" altLang="ja-JP" sz="1200" dirty="0"/>
              <a:t>. </a:t>
            </a:r>
            <a:endParaRPr lang="en-US" altLang="ja-JP" sz="1200" dirty="0" smtClean="0"/>
          </a:p>
          <a:p>
            <a:r>
              <a:rPr lang="en-US" altLang="ja-JP" sz="1200" dirty="0" err="1" smtClean="0"/>
              <a:t>Semua</a:t>
            </a:r>
            <a:r>
              <a:rPr lang="en-US" altLang="ja-JP" sz="1200" dirty="0" smtClean="0"/>
              <a:t> </a:t>
            </a:r>
            <a:r>
              <a:rPr lang="en-US" altLang="ja-JP" sz="1200" dirty="0" err="1"/>
              <a:t>staf</a:t>
            </a:r>
            <a:r>
              <a:rPr lang="en-US" altLang="ja-JP" sz="1200" dirty="0"/>
              <a:t> </a:t>
            </a:r>
            <a:r>
              <a:rPr lang="en-US" altLang="ja-JP" sz="1200" dirty="0" err="1"/>
              <a:t>libur</a:t>
            </a:r>
            <a:r>
              <a:rPr lang="en-US" altLang="ja-JP" sz="1200" dirty="0"/>
              <a:t> </a:t>
            </a:r>
            <a:r>
              <a:rPr lang="en-US" altLang="ja-JP" sz="1200" dirty="0" err="1"/>
              <a:t>sehingga</a:t>
            </a:r>
            <a:r>
              <a:rPr lang="en-US" altLang="ja-JP" sz="1200" dirty="0"/>
              <a:t> </a:t>
            </a:r>
            <a:r>
              <a:rPr lang="en-US" altLang="ja-JP" sz="1200" dirty="0" err="1"/>
              <a:t>dapat</a:t>
            </a:r>
            <a:r>
              <a:rPr lang="en-US" altLang="ja-JP" sz="1200" dirty="0"/>
              <a:t> </a:t>
            </a:r>
            <a:r>
              <a:rPr lang="en-US" altLang="ja-JP" sz="1200" dirty="0" err="1"/>
              <a:t>beristirahat</a:t>
            </a:r>
            <a:r>
              <a:rPr lang="en-US" altLang="ja-JP" sz="1200" dirty="0"/>
              <a:t> </a:t>
            </a:r>
            <a:r>
              <a:rPr lang="en-US" altLang="ja-JP" sz="1200" dirty="0" err="1"/>
              <a:t>dengan</a:t>
            </a:r>
            <a:r>
              <a:rPr lang="en-US" altLang="ja-JP" sz="1200" dirty="0"/>
              <a:t> </a:t>
            </a:r>
            <a:r>
              <a:rPr lang="en-US" altLang="ja-JP" sz="1200" dirty="0" err="1"/>
              <a:t>nyaman</a:t>
            </a:r>
            <a:r>
              <a:rPr lang="en-US" altLang="ja-JP" sz="1200" dirty="0"/>
              <a:t>!</a:t>
            </a:r>
            <a:endParaRPr lang="ja-JP" altLang="en-US" sz="1200" dirty="0"/>
          </a:p>
        </p:txBody>
      </p:sp>
      <p:sp>
        <p:nvSpPr>
          <p:cNvPr id="20" name="正方形/長方形 19"/>
          <p:cNvSpPr/>
          <p:nvPr/>
        </p:nvSpPr>
        <p:spPr>
          <a:xfrm>
            <a:off x="0" y="3319819"/>
            <a:ext cx="6851649" cy="253916"/>
          </a:xfrm>
          <a:prstGeom prst="rect">
            <a:avLst/>
          </a:prstGeom>
        </p:spPr>
        <p:txBody>
          <a:bodyPr wrap="square">
            <a:spAutoFit/>
          </a:bodyPr>
          <a:lstStyle/>
          <a:p>
            <a:r>
              <a:rPr lang="en-US" altLang="ja-JP" sz="1050" b="1" dirty="0" err="1"/>
              <a:t>Tersedia</a:t>
            </a:r>
            <a:r>
              <a:rPr lang="en-US" altLang="ja-JP" sz="1050" b="1" dirty="0"/>
              <a:t> Family Holiday: 4 </a:t>
            </a:r>
            <a:r>
              <a:rPr lang="en-US" altLang="ja-JP" sz="1050" b="1" dirty="0" err="1"/>
              <a:t>hari</a:t>
            </a:r>
            <a:r>
              <a:rPr lang="en-US" altLang="ja-JP" sz="1050" b="1" dirty="0"/>
              <a:t> </a:t>
            </a:r>
            <a:r>
              <a:rPr lang="en-US" altLang="ja-JP" sz="1050" b="1" dirty="0" err="1"/>
              <a:t>libur</a:t>
            </a:r>
            <a:r>
              <a:rPr lang="en-US" altLang="ja-JP" sz="1050" b="1" dirty="0"/>
              <a:t> </a:t>
            </a:r>
            <a:r>
              <a:rPr lang="en-US" altLang="ja-JP" sz="1050" b="1" dirty="0" err="1"/>
              <a:t>tambahan</a:t>
            </a:r>
            <a:r>
              <a:rPr lang="en-US" altLang="ja-JP" sz="1050" b="1" dirty="0"/>
              <a:t> per </a:t>
            </a:r>
            <a:r>
              <a:rPr lang="en-US" altLang="ja-JP" sz="1050" b="1" dirty="0" err="1"/>
              <a:t>tahun</a:t>
            </a:r>
            <a:r>
              <a:rPr lang="en-US" altLang="ja-JP" sz="1050" b="1" dirty="0"/>
              <a:t> yang </a:t>
            </a:r>
            <a:r>
              <a:rPr lang="en-US" altLang="ja-JP" sz="1050" b="1" dirty="0" err="1"/>
              <a:t>bisa</a:t>
            </a:r>
            <a:r>
              <a:rPr lang="en-US" altLang="ja-JP" sz="1050" b="1" dirty="0"/>
              <a:t> </a:t>
            </a:r>
            <a:r>
              <a:rPr lang="en-US" altLang="ja-JP" sz="1050" b="1" dirty="0" err="1"/>
              <a:t>diambil</a:t>
            </a:r>
            <a:r>
              <a:rPr lang="en-US" altLang="ja-JP" sz="1050" b="1" dirty="0"/>
              <a:t> </a:t>
            </a:r>
            <a:r>
              <a:rPr lang="en-US" altLang="ja-JP" sz="1050" b="1" dirty="0" err="1"/>
              <a:t>pada</a:t>
            </a:r>
            <a:r>
              <a:rPr lang="en-US" altLang="ja-JP" sz="1050" b="1" dirty="0"/>
              <a:t> </a:t>
            </a:r>
            <a:r>
              <a:rPr lang="en-US" altLang="ja-JP" sz="1050" b="1" dirty="0" err="1"/>
              <a:t>hari</a:t>
            </a:r>
            <a:r>
              <a:rPr lang="en-US" altLang="ja-JP" sz="1050" b="1" dirty="0"/>
              <a:t> </a:t>
            </a:r>
            <a:r>
              <a:rPr lang="en-US" altLang="ja-JP" sz="1050" b="1" dirty="0" err="1"/>
              <a:t>Sabtu</a:t>
            </a:r>
            <a:r>
              <a:rPr lang="en-US" altLang="ja-JP" sz="1050" b="1" dirty="0"/>
              <a:t> </a:t>
            </a:r>
            <a:r>
              <a:rPr lang="en-US" altLang="ja-JP" sz="1050" b="1" dirty="0" err="1"/>
              <a:t>atau</a:t>
            </a:r>
            <a:r>
              <a:rPr lang="en-US" altLang="ja-JP" sz="1050" b="1" dirty="0"/>
              <a:t> </a:t>
            </a:r>
            <a:r>
              <a:rPr lang="en-US" altLang="ja-JP" sz="1050" b="1" dirty="0" err="1"/>
              <a:t>Minggu</a:t>
            </a:r>
            <a:r>
              <a:rPr lang="en-US" altLang="ja-JP" sz="1050" b="1" dirty="0" smtClean="0"/>
              <a:t>!</a:t>
            </a:r>
            <a:endParaRPr lang="en-US" altLang="ja-JP" sz="1050" dirty="0"/>
          </a:p>
        </p:txBody>
      </p:sp>
      <p:sp>
        <p:nvSpPr>
          <p:cNvPr id="21" name="正方形/長方形 20"/>
          <p:cNvSpPr/>
          <p:nvPr/>
        </p:nvSpPr>
        <p:spPr>
          <a:xfrm>
            <a:off x="280909" y="6041798"/>
            <a:ext cx="4572000" cy="769441"/>
          </a:xfrm>
          <a:prstGeom prst="rect">
            <a:avLst/>
          </a:prstGeom>
        </p:spPr>
        <p:txBody>
          <a:bodyPr>
            <a:spAutoFit/>
          </a:bodyPr>
          <a:lstStyle/>
          <a:p>
            <a:r>
              <a:rPr lang="en-US" altLang="ja-JP" sz="1100" b="1" dirty="0" err="1"/>
              <a:t>Tiga</a:t>
            </a:r>
            <a:r>
              <a:rPr lang="en-US" altLang="ja-JP" sz="1100" b="1" dirty="0"/>
              <a:t> </a:t>
            </a:r>
            <a:r>
              <a:rPr lang="en-US" altLang="ja-JP" sz="1100" b="1" dirty="0" err="1"/>
              <a:t>periode</a:t>
            </a:r>
            <a:r>
              <a:rPr lang="en-US" altLang="ja-JP" sz="1100" b="1" dirty="0"/>
              <a:t> </a:t>
            </a:r>
            <a:r>
              <a:rPr lang="en-US" altLang="ja-JP" sz="1100" b="1" dirty="0" err="1"/>
              <a:t>libur</a:t>
            </a:r>
            <a:r>
              <a:rPr lang="en-US" altLang="ja-JP" sz="1100" b="1" dirty="0"/>
              <a:t> </a:t>
            </a:r>
            <a:r>
              <a:rPr lang="en-US" altLang="ja-JP" sz="1100" b="1" dirty="0" err="1"/>
              <a:t>panjang</a:t>
            </a:r>
            <a:r>
              <a:rPr lang="en-US" altLang="ja-JP" sz="1100" b="1" dirty="0"/>
              <a:t> </a:t>
            </a:r>
            <a:r>
              <a:rPr lang="en-US" altLang="ja-JP" sz="1100" b="1" dirty="0" err="1"/>
              <a:t>dalam</a:t>
            </a:r>
            <a:r>
              <a:rPr lang="en-US" altLang="ja-JP" sz="1100" b="1" dirty="0"/>
              <a:t> </a:t>
            </a:r>
            <a:r>
              <a:rPr lang="en-US" altLang="ja-JP" sz="1100" b="1" dirty="0" err="1"/>
              <a:t>setahun</a:t>
            </a:r>
            <a:r>
              <a:rPr lang="en-US" altLang="ja-JP" sz="1100" b="1" dirty="0" smtClean="0"/>
              <a:t>:</a:t>
            </a:r>
          </a:p>
          <a:p>
            <a:r>
              <a:rPr lang="en-US" altLang="ja-JP" sz="1100" dirty="0" err="1" smtClean="0"/>
              <a:t>Libur</a:t>
            </a:r>
            <a:r>
              <a:rPr lang="en-US" altLang="ja-JP" sz="1100" dirty="0" smtClean="0"/>
              <a:t> </a:t>
            </a:r>
            <a:r>
              <a:rPr lang="en-US" altLang="ja-JP" sz="1100" dirty="0"/>
              <a:t>Golden Week (April–Mei): 5</a:t>
            </a:r>
            <a:r>
              <a:rPr lang="en-US" altLang="ja-JP" sz="1100" dirty="0" smtClean="0"/>
              <a:t>hari </a:t>
            </a:r>
            <a:r>
              <a:rPr lang="en-US" altLang="ja-JP" sz="1100" dirty="0" err="1" smtClean="0"/>
              <a:t>libur</a:t>
            </a:r>
            <a:r>
              <a:rPr lang="en-US" altLang="ja-JP" sz="1100" dirty="0" smtClean="0"/>
              <a:t> </a:t>
            </a:r>
            <a:r>
              <a:rPr lang="en-US" altLang="ja-JP" sz="1100" dirty="0" err="1" smtClean="0"/>
              <a:t>berturut-turut</a:t>
            </a:r>
            <a:endParaRPr lang="en-US" altLang="ja-JP" sz="1100" dirty="0" smtClean="0"/>
          </a:p>
          <a:p>
            <a:r>
              <a:rPr lang="en-US" altLang="ja-JP" sz="1100" dirty="0" err="1" smtClean="0"/>
              <a:t>Libur</a:t>
            </a:r>
            <a:r>
              <a:rPr lang="en-US" altLang="ja-JP" sz="1100" dirty="0" smtClean="0"/>
              <a:t> </a:t>
            </a:r>
            <a:r>
              <a:rPr lang="en-US" altLang="ja-JP" sz="1100" dirty="0" err="1" smtClean="0"/>
              <a:t>Obon</a:t>
            </a:r>
            <a:r>
              <a:rPr lang="en-US" altLang="ja-JP" sz="1100" dirty="0" smtClean="0"/>
              <a:t> (</a:t>
            </a:r>
            <a:r>
              <a:rPr lang="en-US" altLang="ja-JP" sz="1100" dirty="0" err="1" smtClean="0"/>
              <a:t>Agustus</a:t>
            </a:r>
            <a:r>
              <a:rPr lang="en-US" altLang="ja-JP" sz="1100" dirty="0" smtClean="0"/>
              <a:t>)</a:t>
            </a:r>
            <a:r>
              <a:rPr lang="en-US" altLang="ja-JP" sz="1100" b="1" dirty="0" smtClean="0">
                <a:latin typeface="Arial" panose="020B0604020202020204" pitchFamily="34" charset="0"/>
                <a:cs typeface="Arial" panose="020B0604020202020204" pitchFamily="34" charset="0"/>
              </a:rPr>
              <a:t>):</a:t>
            </a:r>
            <a:r>
              <a:rPr lang="en-US" altLang="ja-JP" sz="1100" dirty="0" smtClean="0">
                <a:latin typeface="Arial" panose="020B0604020202020204" pitchFamily="34" charset="0"/>
                <a:cs typeface="Arial" panose="020B0604020202020204" pitchFamily="34" charset="0"/>
              </a:rPr>
              <a:t> </a:t>
            </a:r>
            <a:r>
              <a:rPr lang="en-US" altLang="ja-JP" sz="1100" dirty="0" smtClean="0"/>
              <a:t>9 </a:t>
            </a:r>
            <a:r>
              <a:rPr lang="en-US" altLang="ja-JP" sz="1100" dirty="0" err="1"/>
              <a:t>hari</a:t>
            </a:r>
            <a:r>
              <a:rPr lang="en-US" altLang="ja-JP" sz="1100" dirty="0"/>
              <a:t> </a:t>
            </a:r>
            <a:r>
              <a:rPr lang="en-US" altLang="ja-JP" sz="1100" dirty="0" err="1"/>
              <a:t>libur</a:t>
            </a:r>
            <a:r>
              <a:rPr lang="en-US" altLang="ja-JP" sz="1100" dirty="0"/>
              <a:t> </a:t>
            </a:r>
            <a:r>
              <a:rPr lang="en-US" altLang="ja-JP" sz="1100" dirty="0" err="1"/>
              <a:t>berturut-turut</a:t>
            </a:r>
            <a:endParaRPr lang="en-US" altLang="ja-JP" sz="1100" dirty="0"/>
          </a:p>
          <a:p>
            <a:r>
              <a:rPr lang="en-US" altLang="ja-JP" sz="1100" b="1" dirty="0" err="1" smtClean="0"/>
              <a:t>Libur</a:t>
            </a:r>
            <a:r>
              <a:rPr lang="en-US" altLang="ja-JP" sz="1100" b="1" dirty="0" smtClean="0"/>
              <a:t> </a:t>
            </a:r>
            <a:r>
              <a:rPr lang="en-US" altLang="ja-JP" sz="1100" b="1" dirty="0" err="1"/>
              <a:t>Tahun</a:t>
            </a:r>
            <a:r>
              <a:rPr lang="en-US" altLang="ja-JP" sz="1100" b="1" dirty="0"/>
              <a:t> </a:t>
            </a:r>
            <a:r>
              <a:rPr lang="en-US" altLang="ja-JP" sz="1100" b="1" dirty="0" err="1"/>
              <a:t>Baru</a:t>
            </a:r>
            <a:r>
              <a:rPr lang="en-US" altLang="ja-JP" sz="1100" b="1" dirty="0"/>
              <a:t> (</a:t>
            </a:r>
            <a:r>
              <a:rPr lang="en-US" altLang="ja-JP" sz="1100" b="1" dirty="0" err="1"/>
              <a:t>Desember</a:t>
            </a:r>
            <a:r>
              <a:rPr lang="en-US" altLang="ja-JP" sz="1100" b="1" dirty="0"/>
              <a:t>–</a:t>
            </a:r>
            <a:r>
              <a:rPr lang="en-US" altLang="ja-JP" sz="1100" b="1" dirty="0" err="1"/>
              <a:t>Januari</a:t>
            </a:r>
            <a:r>
              <a:rPr lang="en-US" altLang="ja-JP" sz="1100" b="1" dirty="0"/>
              <a:t>):</a:t>
            </a:r>
            <a:r>
              <a:rPr lang="en-US" altLang="ja-JP" sz="1100" dirty="0"/>
              <a:t> 9</a:t>
            </a:r>
            <a:r>
              <a:rPr lang="en-US" altLang="ja-JP" sz="1100" dirty="0" smtClean="0"/>
              <a:t>hari </a:t>
            </a:r>
            <a:r>
              <a:rPr lang="en-US" altLang="ja-JP" sz="1100" dirty="0" err="1"/>
              <a:t>libur</a:t>
            </a:r>
            <a:r>
              <a:rPr lang="en-US" altLang="ja-JP" sz="1100" dirty="0"/>
              <a:t> </a:t>
            </a:r>
            <a:r>
              <a:rPr lang="en-US" altLang="ja-JP" sz="1100" dirty="0" err="1"/>
              <a:t>berturut-turut</a:t>
            </a:r>
            <a:endParaRPr lang="en-US" altLang="ja-JP" sz="1100" dirty="0"/>
          </a:p>
        </p:txBody>
      </p:sp>
      <p:sp>
        <p:nvSpPr>
          <p:cNvPr id="6" name="角丸四角形吹き出し 5"/>
          <p:cNvSpPr/>
          <p:nvPr/>
        </p:nvSpPr>
        <p:spPr>
          <a:xfrm>
            <a:off x="-1117600" y="5003799"/>
            <a:ext cx="1028700" cy="469697"/>
          </a:xfrm>
          <a:prstGeom prst="wedgeRoundRectCallout">
            <a:avLst>
              <a:gd name="adj1" fmla="val 80402"/>
              <a:gd name="adj2" fmla="val 513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t>修正済</a:t>
            </a:r>
            <a:endParaRPr kumimoji="1" lang="ja-JP" altLang="en-US" dirty="0"/>
          </a:p>
        </p:txBody>
      </p:sp>
      <p:sp>
        <p:nvSpPr>
          <p:cNvPr id="22" name="角丸四角形吹き出し 21"/>
          <p:cNvSpPr/>
          <p:nvPr/>
        </p:nvSpPr>
        <p:spPr>
          <a:xfrm>
            <a:off x="-1117600" y="3637975"/>
            <a:ext cx="1028700" cy="469697"/>
          </a:xfrm>
          <a:prstGeom prst="wedgeRoundRectCallout">
            <a:avLst>
              <a:gd name="adj1" fmla="val 80402"/>
              <a:gd name="adj2" fmla="val 513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t>修正済</a:t>
            </a:r>
            <a:endParaRPr kumimoji="1" lang="ja-JP" altLang="en-US" dirty="0"/>
          </a:p>
        </p:txBody>
      </p:sp>
    </p:spTree>
    <p:extLst>
      <p:ext uri="{BB962C8B-B14F-4D97-AF65-F5344CB8AC3E}">
        <p14:creationId xmlns:p14="http://schemas.microsoft.com/office/powerpoint/2010/main" val="91661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グループ化 15"/>
          <p:cNvGrpSpPr/>
          <p:nvPr/>
        </p:nvGrpSpPr>
        <p:grpSpPr>
          <a:xfrm>
            <a:off x="2959019" y="2997236"/>
            <a:ext cx="6184982" cy="2862322"/>
            <a:chOff x="4731273" y="4028502"/>
            <a:chExt cx="8246641" cy="3816428"/>
          </a:xfrm>
        </p:grpSpPr>
        <p:sp>
          <p:nvSpPr>
            <p:cNvPr id="18" name="正方形/長方形 17"/>
            <p:cNvSpPr/>
            <p:nvPr/>
          </p:nvSpPr>
          <p:spPr>
            <a:xfrm>
              <a:off x="4731273" y="4028502"/>
              <a:ext cx="7877409" cy="3816428"/>
            </a:xfrm>
            <a:prstGeom prst="rect">
              <a:avLst/>
            </a:prstGeom>
          </p:spPr>
          <p:txBody>
            <a:bodyPr wrap="square">
              <a:spAutoFit/>
            </a:bodyPr>
            <a:lstStyle/>
            <a:p>
              <a:pPr>
                <a:lnSpc>
                  <a:spcPct val="150000"/>
                </a:lnSpc>
              </a:pPr>
              <a:r>
                <a:rPr lang="ja-JP" altLang="en-US" sz="2100" b="1" dirty="0" smtClean="0">
                  <a:solidFill>
                    <a:srgbClr val="000000"/>
                  </a:solidFill>
                  <a:latin typeface="Meiryo UI" panose="020B0604030504040204" pitchFamily="50" charset="-128"/>
                  <a:ea typeface="Meiryo UI" panose="020B0604030504040204" pitchFamily="50" charset="-128"/>
                </a:rPr>
                <a:t>法定有給</a:t>
              </a:r>
              <a:r>
                <a:rPr lang="ja-JP" altLang="en-US" sz="2100" b="1" dirty="0">
                  <a:solidFill>
                    <a:srgbClr val="000000"/>
                  </a:solidFill>
                  <a:latin typeface="Meiryo UI" panose="020B0604030504040204" pitchFamily="50" charset="-128"/>
                  <a:ea typeface="Meiryo UI" panose="020B0604030504040204" pitchFamily="50" charset="-128"/>
                </a:rPr>
                <a:t>取得義務日数</a:t>
              </a:r>
              <a:r>
                <a:rPr lang="en-US" altLang="ja-JP" sz="2100" b="1" dirty="0">
                  <a:solidFill>
                    <a:srgbClr val="000000"/>
                  </a:solidFill>
                  <a:latin typeface="Meiryo UI" panose="020B0604030504040204" pitchFamily="50" charset="-128"/>
                  <a:ea typeface="Meiryo UI" panose="020B0604030504040204" pitchFamily="50" charset="-128"/>
                </a:rPr>
                <a:t>		</a:t>
              </a:r>
              <a:r>
                <a:rPr lang="ja-JP" altLang="en-US" sz="2100" b="1" dirty="0">
                  <a:solidFill>
                    <a:srgbClr val="000000"/>
                  </a:solidFill>
                  <a:latin typeface="Meiryo UI" panose="020B0604030504040204" pitchFamily="50" charset="-128"/>
                  <a:ea typeface="Meiryo UI" panose="020B0604030504040204" pitchFamily="50" charset="-128"/>
                </a:rPr>
                <a:t>年間 </a:t>
              </a:r>
              <a:r>
                <a:rPr lang="en-US" altLang="ja-JP" sz="3600" b="1" dirty="0">
                  <a:solidFill>
                    <a:srgbClr val="000000"/>
                  </a:solidFill>
                  <a:latin typeface="Meiryo UI" panose="020B0604030504040204" pitchFamily="50" charset="-128"/>
                  <a:ea typeface="Meiryo UI" panose="020B0604030504040204" pitchFamily="50" charset="-128"/>
                </a:rPr>
                <a:t>5</a:t>
              </a:r>
              <a:r>
                <a:rPr lang="ja-JP" altLang="en-US" b="1" dirty="0">
                  <a:solidFill>
                    <a:srgbClr val="000000"/>
                  </a:solidFill>
                  <a:latin typeface="Meiryo UI" panose="020B0604030504040204" pitchFamily="50" charset="-128"/>
                  <a:ea typeface="Meiryo UI" panose="020B0604030504040204" pitchFamily="50" charset="-128"/>
                </a:rPr>
                <a:t>日間</a:t>
              </a:r>
              <a:endParaRPr lang="en-US" altLang="ja-JP" b="1" dirty="0">
                <a:solidFill>
                  <a:srgbClr val="000000"/>
                </a:solidFill>
                <a:latin typeface="Meiryo UI" panose="020B0604030504040204" pitchFamily="50" charset="-128"/>
                <a:ea typeface="Meiryo UI" panose="020B0604030504040204" pitchFamily="50" charset="-128"/>
              </a:endParaRPr>
            </a:p>
            <a:p>
              <a:r>
                <a:rPr lang="ja-JP" altLang="en-US" sz="2100" b="1" dirty="0">
                  <a:solidFill>
                    <a:srgbClr val="000000"/>
                  </a:solidFill>
                  <a:latin typeface="Meiryo UI" panose="020B0604030504040204" pitchFamily="50" charset="-128"/>
                  <a:ea typeface="Meiryo UI" panose="020B0604030504040204" pitchFamily="50" charset="-128"/>
                </a:rPr>
                <a:t>会社目標有休取得日数</a:t>
              </a:r>
              <a:r>
                <a:rPr lang="en-US" altLang="ja-JP" sz="2100" b="1" dirty="0">
                  <a:solidFill>
                    <a:srgbClr val="000000"/>
                  </a:solidFill>
                  <a:latin typeface="Meiryo UI" panose="020B0604030504040204" pitchFamily="50" charset="-128"/>
                  <a:ea typeface="Meiryo UI" panose="020B0604030504040204" pitchFamily="50" charset="-128"/>
                </a:rPr>
                <a:t>		</a:t>
              </a:r>
              <a:r>
                <a:rPr lang="ja-JP" altLang="en-US" sz="2100" b="1" dirty="0">
                  <a:solidFill>
                    <a:srgbClr val="000000"/>
                  </a:solidFill>
                  <a:latin typeface="Meiryo UI" panose="020B0604030504040204" pitchFamily="50" charset="-128"/>
                  <a:ea typeface="Meiryo UI" panose="020B0604030504040204" pitchFamily="50" charset="-128"/>
                </a:rPr>
                <a:t>年間 </a:t>
              </a:r>
              <a:r>
                <a:rPr lang="en-US" altLang="ja-JP" sz="3300" b="1" dirty="0" smtClean="0">
                  <a:solidFill>
                    <a:srgbClr val="000000"/>
                  </a:solidFill>
                  <a:latin typeface="Meiryo UI" panose="020B0604030504040204" pitchFamily="50" charset="-128"/>
                  <a:ea typeface="Meiryo UI" panose="020B0604030504040204" pitchFamily="50" charset="-128"/>
                </a:rPr>
                <a:t>15</a:t>
              </a:r>
              <a:r>
                <a:rPr lang="ja-JP" altLang="en-US" sz="2100" b="1" dirty="0" smtClean="0">
                  <a:solidFill>
                    <a:srgbClr val="000000"/>
                  </a:solidFill>
                  <a:latin typeface="Meiryo UI" panose="020B0604030504040204" pitchFamily="50" charset="-128"/>
                  <a:ea typeface="Meiryo UI" panose="020B0604030504040204" pitchFamily="50" charset="-128"/>
                </a:rPr>
                <a:t>日間</a:t>
              </a:r>
              <a:endParaRPr lang="en-US" altLang="ja-JP" sz="2100" b="1" dirty="0">
                <a:solidFill>
                  <a:srgbClr val="000000"/>
                </a:solidFill>
                <a:latin typeface="Meiryo UI" panose="020B0604030504040204" pitchFamily="50" charset="-128"/>
                <a:ea typeface="Meiryo UI" panose="020B0604030504040204" pitchFamily="50" charset="-128"/>
              </a:endParaRPr>
            </a:p>
            <a:p>
              <a:endParaRPr lang="en-US" altLang="ja-JP" sz="3000" b="1" dirty="0">
                <a:solidFill>
                  <a:srgbClr val="000000"/>
                </a:solidFill>
                <a:latin typeface="Meiryo UI" panose="020B0604030504040204" pitchFamily="50" charset="-128"/>
                <a:ea typeface="Meiryo UI" panose="020B0604030504040204" pitchFamily="50" charset="-128"/>
              </a:endParaRPr>
            </a:p>
            <a:p>
              <a:endParaRPr lang="en-US" altLang="ja-JP" sz="2100" b="1" dirty="0">
                <a:solidFill>
                  <a:srgbClr val="000000"/>
                </a:solidFill>
                <a:latin typeface="Meiryo UI" panose="020B0604030504040204" pitchFamily="50" charset="-128"/>
                <a:ea typeface="Meiryo UI" panose="020B0604030504040204" pitchFamily="50" charset="-128"/>
              </a:endParaRPr>
            </a:p>
            <a:p>
              <a:r>
                <a:rPr lang="ja-JP" altLang="en-US" sz="2100" b="1" dirty="0">
                  <a:solidFill>
                    <a:srgbClr val="000000"/>
                  </a:solidFill>
                  <a:latin typeface="Meiryo UI" panose="020B0604030504040204" pitchFamily="50" charset="-128"/>
                  <a:ea typeface="Meiryo UI" panose="020B0604030504040204" pitchFamily="50" charset="-128"/>
                </a:rPr>
                <a:t>　</a:t>
              </a:r>
              <a:r>
                <a:rPr lang="en-US" altLang="ja-JP" sz="2100" b="1" dirty="0" smtClean="0">
                  <a:solidFill>
                    <a:srgbClr val="000000"/>
                  </a:solidFill>
                  <a:latin typeface="Meiryo UI" panose="020B0604030504040204" pitchFamily="50" charset="-128"/>
                  <a:ea typeface="Meiryo UI" panose="020B0604030504040204" pitchFamily="50" charset="-128"/>
                </a:rPr>
                <a:t>2025</a:t>
              </a:r>
              <a:r>
                <a:rPr lang="ja-JP" altLang="en-US" sz="2100" b="1" dirty="0" smtClean="0">
                  <a:solidFill>
                    <a:srgbClr val="000000"/>
                  </a:solidFill>
                  <a:latin typeface="Meiryo UI" panose="020B0604030504040204" pitchFamily="50" charset="-128"/>
                  <a:ea typeface="Meiryo UI" panose="020B0604030504040204" pitchFamily="50" charset="-128"/>
                </a:rPr>
                <a:t>年</a:t>
              </a:r>
              <a:r>
                <a:rPr lang="ja-JP" altLang="en-US" sz="2100" b="1" dirty="0">
                  <a:solidFill>
                    <a:srgbClr val="000000"/>
                  </a:solidFill>
                  <a:latin typeface="Meiryo UI" panose="020B0604030504040204" pitchFamily="50" charset="-128"/>
                  <a:ea typeface="Meiryo UI" panose="020B0604030504040204" pitchFamily="50" charset="-128"/>
                </a:rPr>
                <a:t>平均実績</a:t>
              </a:r>
              <a:r>
                <a:rPr lang="en-US" altLang="ja-JP" sz="2100" b="1" dirty="0">
                  <a:solidFill>
                    <a:srgbClr val="000000"/>
                  </a:solidFill>
                  <a:latin typeface="Meiryo UI" panose="020B0604030504040204" pitchFamily="50" charset="-128"/>
                  <a:ea typeface="Meiryo UI" panose="020B0604030504040204" pitchFamily="50" charset="-128"/>
                </a:rPr>
                <a:t>	</a:t>
              </a:r>
            </a:p>
            <a:p>
              <a:r>
                <a:rPr lang="ja-JP" altLang="en-US" sz="2100" b="1" dirty="0">
                  <a:solidFill>
                    <a:srgbClr val="000000"/>
                  </a:solidFill>
                  <a:latin typeface="Meiryo UI" panose="020B0604030504040204" pitchFamily="50" charset="-128"/>
                  <a:ea typeface="Meiryo UI" panose="020B0604030504040204" pitchFamily="50" charset="-128"/>
                </a:rPr>
                <a:t>　</a:t>
              </a:r>
              <a:r>
                <a:rPr lang="en-US" altLang="ja-JP" sz="2100" b="1" dirty="0">
                  <a:solidFill>
                    <a:srgbClr val="000000"/>
                  </a:solidFill>
                  <a:latin typeface="Meiryo UI" panose="020B0604030504040204" pitchFamily="50" charset="-128"/>
                  <a:ea typeface="Meiryo UI" panose="020B0604030504040204" pitchFamily="50" charset="-128"/>
                </a:rPr>
                <a:t>※</a:t>
              </a:r>
              <a:r>
                <a:rPr lang="ja-JP" altLang="en-US" sz="2100" b="1" dirty="0">
                  <a:solidFill>
                    <a:srgbClr val="000000"/>
                  </a:solidFill>
                  <a:latin typeface="Meiryo UI" panose="020B0604030504040204" pitchFamily="50" charset="-128"/>
                  <a:ea typeface="Meiryo UI" panose="020B0604030504040204" pitchFamily="50" charset="-128"/>
                </a:rPr>
                <a:t>時間有給休暇（</a:t>
              </a:r>
              <a:r>
                <a:rPr lang="en-US" altLang="ja-JP" sz="2100" b="1" dirty="0">
                  <a:solidFill>
                    <a:srgbClr val="000000"/>
                  </a:solidFill>
                  <a:latin typeface="Meiryo UI" panose="020B0604030504040204" pitchFamily="50" charset="-128"/>
                  <a:ea typeface="Meiryo UI" panose="020B0604030504040204" pitchFamily="50" charset="-128"/>
                </a:rPr>
                <a:t>1</a:t>
              </a:r>
              <a:r>
                <a:rPr lang="ja-JP" altLang="en-US" sz="2100" b="1" dirty="0">
                  <a:solidFill>
                    <a:srgbClr val="000000"/>
                  </a:solidFill>
                  <a:latin typeface="Meiryo UI" panose="020B0604030504040204" pitchFamily="50" charset="-128"/>
                  <a:ea typeface="Meiryo UI" panose="020B0604030504040204" pitchFamily="50" charset="-128"/>
                </a:rPr>
                <a:t>時間単位取得可能）を含む　</a:t>
              </a:r>
              <a:endParaRPr lang="ja-JP" altLang="en-US" sz="2100" dirty="0">
                <a:latin typeface="Meiryo UI" panose="020B0604030504040204" pitchFamily="50" charset="-128"/>
                <a:ea typeface="Meiryo UI" panose="020B0604030504040204" pitchFamily="50" charset="-128"/>
              </a:endParaRPr>
            </a:p>
          </p:txBody>
        </p:sp>
        <p:sp>
          <p:nvSpPr>
            <p:cNvPr id="8" name="正方形/長方形 7"/>
            <p:cNvSpPr/>
            <p:nvPr/>
          </p:nvSpPr>
          <p:spPr>
            <a:xfrm>
              <a:off x="8997764" y="6207439"/>
              <a:ext cx="3980150" cy="1354217"/>
            </a:xfrm>
            <a:prstGeom prst="rect">
              <a:avLst/>
            </a:prstGeom>
          </p:spPr>
          <p:txBody>
            <a:bodyPr wrap="none">
              <a:spAutoFit/>
            </a:bodyPr>
            <a:lstStyle/>
            <a:p>
              <a:r>
                <a:rPr lang="en-US" altLang="ja-JP" sz="6000" b="1" dirty="0" smtClean="0">
                  <a:solidFill>
                    <a:srgbClr val="0000FF"/>
                  </a:solidFill>
                  <a:latin typeface="Meiryo UI" panose="020B0604030504040204" pitchFamily="50" charset="-128"/>
                  <a:ea typeface="Meiryo UI" panose="020B0604030504040204" pitchFamily="50" charset="-128"/>
                </a:rPr>
                <a:t>11.00</a:t>
              </a:r>
              <a:r>
                <a:rPr lang="ja-JP" altLang="en-US" sz="2100" b="1" dirty="0">
                  <a:solidFill>
                    <a:srgbClr val="000000"/>
                  </a:solidFill>
                  <a:latin typeface="Meiryo UI" panose="020B0604030504040204" pitchFamily="50" charset="-128"/>
                  <a:ea typeface="Meiryo UI" panose="020B0604030504040204" pitchFamily="50" charset="-128"/>
                </a:rPr>
                <a:t>　日</a:t>
              </a:r>
              <a:endParaRPr lang="ja-JP" altLang="en-US" sz="1200" dirty="0"/>
            </a:p>
          </p:txBody>
        </p:sp>
        <p:sp>
          <p:nvSpPr>
            <p:cNvPr id="12" name="下矢印 11"/>
            <p:cNvSpPr/>
            <p:nvPr/>
          </p:nvSpPr>
          <p:spPr>
            <a:xfrm>
              <a:off x="9165914" y="5993717"/>
              <a:ext cx="1685460" cy="224243"/>
            </a:xfrm>
            <a:prstGeom prst="downArrow">
              <a:avLst>
                <a:gd name="adj1" fmla="val 50000"/>
                <a:gd name="adj2" fmla="val 10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grpSp>
      <p:sp>
        <p:nvSpPr>
          <p:cNvPr id="2" name="正方形/長方形 1">
            <a:extLst/>
          </p:cNvPr>
          <p:cNvSpPr>
            <a:spLocks noChangeArrowheads="1"/>
          </p:cNvSpPr>
          <p:nvPr/>
        </p:nvSpPr>
        <p:spPr bwMode="auto">
          <a:xfrm>
            <a:off x="1180407" y="160037"/>
            <a:ext cx="6845999" cy="295538"/>
          </a:xfrm>
          <a:prstGeom prst="rect">
            <a:avLst/>
          </a:prstGeom>
          <a:noFill/>
          <a:ln>
            <a:noFill/>
          </a:ln>
          <a:extLst/>
        </p:spPr>
        <p:txBody>
          <a:bodyPr anchor="ctr"/>
          <a:lstStyle/>
          <a:p>
            <a:pPr algn="ctr" defTabSz="514350" fontAlgn="base">
              <a:spcBef>
                <a:spcPct val="0"/>
              </a:spcBef>
              <a:spcAft>
                <a:spcPct val="0"/>
              </a:spcAft>
              <a:defRPr/>
            </a:pPr>
            <a:r>
              <a:rPr lang="ja-JP" altLang="en-US" sz="2100" b="1" dirty="0">
                <a:solidFill>
                  <a:srgbClr val="000000"/>
                </a:solidFill>
                <a:latin typeface="Meiryo UI" panose="020B0604030504040204" pitchFamily="50" charset="-128"/>
                <a:ea typeface="Meiryo UI" panose="020B0604030504040204" pitchFamily="50" charset="-128"/>
                <a:cs typeface="メイリオ" pitchFamily="50" charset="-128"/>
              </a:rPr>
              <a:t>有給休暇取得の取組み</a:t>
            </a:r>
          </a:p>
        </p:txBody>
      </p:sp>
      <p:sp>
        <p:nvSpPr>
          <p:cNvPr id="4" name="正方形/長方形 3"/>
          <p:cNvSpPr/>
          <p:nvPr/>
        </p:nvSpPr>
        <p:spPr>
          <a:xfrm>
            <a:off x="2959019" y="1600263"/>
            <a:ext cx="5578499" cy="646331"/>
          </a:xfrm>
          <a:prstGeom prst="rect">
            <a:avLst/>
          </a:prstGeom>
        </p:spPr>
        <p:txBody>
          <a:bodyPr wrap="square">
            <a:spAutoFit/>
          </a:bodyPr>
          <a:lstStyle/>
          <a:p>
            <a:pPr algn="ctr"/>
            <a:r>
              <a:rPr lang="ja-JP" altLang="en-US" b="1" dirty="0">
                <a:solidFill>
                  <a:srgbClr val="000000"/>
                </a:solidFill>
                <a:latin typeface="Meiryo UI" panose="020B0604030504040204" pitchFamily="50" charset="-128"/>
                <a:ea typeface="Meiryo UI" panose="020B0604030504040204" pitchFamily="50" charset="-128"/>
              </a:rPr>
              <a:t>仕事とプライベートの両方が充実することで</a:t>
            </a:r>
            <a:r>
              <a:rPr lang="ja-JP" altLang="en-US" b="1" dirty="0" smtClean="0">
                <a:solidFill>
                  <a:srgbClr val="000000"/>
                </a:solidFill>
                <a:latin typeface="Meiryo UI" panose="020B0604030504040204" pitchFamily="50" charset="-128"/>
                <a:ea typeface="Meiryo UI" panose="020B0604030504040204" pitchFamily="50" charset="-128"/>
              </a:rPr>
              <a:t>、</a:t>
            </a:r>
            <a:endParaRPr lang="en-US" altLang="ja-JP" b="1" dirty="0" smtClean="0">
              <a:solidFill>
                <a:srgbClr val="000000"/>
              </a:solidFill>
              <a:latin typeface="Meiryo UI" panose="020B0604030504040204" pitchFamily="50" charset="-128"/>
              <a:ea typeface="Meiryo UI" panose="020B0604030504040204" pitchFamily="50" charset="-128"/>
            </a:endParaRPr>
          </a:p>
          <a:p>
            <a:pPr algn="ctr"/>
            <a:r>
              <a:rPr lang="ja-JP" altLang="en-US" b="1" dirty="0" smtClean="0">
                <a:solidFill>
                  <a:srgbClr val="000000"/>
                </a:solidFill>
                <a:latin typeface="Meiryo UI" panose="020B0604030504040204" pitchFamily="50" charset="-128"/>
                <a:ea typeface="Meiryo UI" panose="020B0604030504040204" pitchFamily="50" charset="-128"/>
              </a:rPr>
              <a:t>心身ともに</a:t>
            </a:r>
            <a:r>
              <a:rPr lang="ja-JP" altLang="en-US" b="1" dirty="0">
                <a:solidFill>
                  <a:srgbClr val="000000"/>
                </a:solidFill>
                <a:latin typeface="Meiryo UI" panose="020B0604030504040204" pitchFamily="50" charset="-128"/>
                <a:ea typeface="Meiryo UI" panose="020B0604030504040204" pitchFamily="50" charset="-128"/>
              </a:rPr>
              <a:t>健康で有意義な生活を実現</a:t>
            </a:r>
            <a:endParaRPr lang="ja-JP" altLang="en-US" dirty="0">
              <a:latin typeface="Meiryo UI" panose="020B0604030504040204" pitchFamily="50" charset="-128"/>
              <a:ea typeface="Meiryo UI" panose="020B0604030504040204" pitchFamily="50" charset="-128"/>
            </a:endParaRPr>
          </a:p>
        </p:txBody>
      </p:sp>
      <p:pic>
        <p:nvPicPr>
          <p:cNvPr id="10" name="Picture 4" descr="働き方改革で残業時間や有給休暇はどう変わる？ ｜ 転職マニュアル"/>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112631" y="1700176"/>
            <a:ext cx="2677197" cy="1818747"/>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グループ化 13"/>
          <p:cNvGrpSpPr/>
          <p:nvPr/>
        </p:nvGrpSpPr>
        <p:grpSpPr>
          <a:xfrm>
            <a:off x="215502" y="3627006"/>
            <a:ext cx="2471458" cy="2686162"/>
            <a:chOff x="137159" y="3506841"/>
            <a:chExt cx="3295277" cy="3581550"/>
          </a:xfrm>
        </p:grpSpPr>
        <p:pic>
          <p:nvPicPr>
            <p:cNvPr id="7" name="図 6"/>
            <p:cNvPicPr>
              <a:picLocks noChangeAspect="1"/>
            </p:cNvPicPr>
            <p:nvPr/>
          </p:nvPicPr>
          <p:blipFill rotWithShape="1">
            <a:blip r:embed="rId4"/>
            <a:srcRect b="24936"/>
            <a:stretch/>
          </p:blipFill>
          <p:spPr>
            <a:xfrm>
              <a:off x="137159" y="3506841"/>
              <a:ext cx="3295277" cy="2473554"/>
            </a:xfrm>
            <a:prstGeom prst="rect">
              <a:avLst/>
            </a:prstGeom>
            <a:ln>
              <a:solidFill>
                <a:schemeClr val="tx1"/>
              </a:solidFill>
            </a:ln>
          </p:spPr>
        </p:pic>
        <p:sp>
          <p:nvSpPr>
            <p:cNvPr id="13" name="正方形/長方形 12"/>
            <p:cNvSpPr/>
            <p:nvPr/>
          </p:nvSpPr>
          <p:spPr>
            <a:xfrm>
              <a:off x="137159" y="5980395"/>
              <a:ext cx="3295277" cy="1107996"/>
            </a:xfrm>
            <a:prstGeom prst="rect">
              <a:avLst/>
            </a:prstGeom>
            <a:ln>
              <a:solidFill>
                <a:schemeClr val="tx1"/>
              </a:solidFill>
            </a:ln>
          </p:spPr>
          <p:txBody>
            <a:bodyPr wrap="square">
              <a:spAutoFit/>
            </a:bodyPr>
            <a:lstStyle/>
            <a:p>
              <a:pPr algn="ctr"/>
              <a:r>
                <a:rPr lang="en-US" altLang="ja-JP" sz="1600" dirty="0" err="1"/>
                <a:t>Kewajiban</a:t>
              </a:r>
              <a:r>
                <a:rPr lang="en-US" altLang="ja-JP" sz="1600" dirty="0"/>
                <a:t> </a:t>
              </a:r>
              <a:r>
                <a:rPr lang="en-US" altLang="ja-JP" sz="1600" dirty="0" err="1"/>
                <a:t>mengambil</a:t>
              </a:r>
              <a:r>
                <a:rPr lang="en-US" altLang="ja-JP" sz="1600" dirty="0"/>
                <a:t> </a:t>
              </a:r>
              <a:r>
                <a:rPr lang="en-US" altLang="ja-JP" sz="1600" dirty="0" err="1"/>
                <a:t>cuti</a:t>
              </a:r>
              <a:r>
                <a:rPr lang="en-US" altLang="ja-JP" sz="1600" dirty="0"/>
                <a:t> </a:t>
              </a:r>
              <a:r>
                <a:rPr lang="en-US" altLang="ja-JP" sz="1600" dirty="0" err="1"/>
                <a:t>berbayar</a:t>
              </a:r>
              <a:r>
                <a:rPr lang="en-US" altLang="ja-JP" sz="1600" dirty="0"/>
                <a:t> </a:t>
              </a:r>
              <a:r>
                <a:rPr lang="en-US" altLang="ja-JP" sz="1600" dirty="0" err="1"/>
                <a:t>selama</a:t>
              </a:r>
              <a:r>
                <a:rPr lang="en-US" altLang="ja-JP" sz="1600" dirty="0"/>
                <a:t> 5 </a:t>
              </a:r>
              <a:r>
                <a:rPr lang="en-US" altLang="ja-JP" sz="1600" dirty="0" err="1"/>
                <a:t>hari</a:t>
              </a:r>
              <a:r>
                <a:rPr lang="en-US" altLang="ja-JP" sz="1600" dirty="0"/>
                <a:t> per </a:t>
              </a:r>
              <a:r>
                <a:rPr lang="en-US" altLang="ja-JP" sz="1600" dirty="0" err="1"/>
                <a:t>tahun</a:t>
              </a:r>
              <a:endParaRPr lang="ja-JP" altLang="en-US" sz="1500" dirty="0">
                <a:effectLst>
                  <a:glow rad="101600">
                    <a:srgbClr val="FFC000">
                      <a:alpha val="60000"/>
                    </a:srgbClr>
                  </a:glow>
                </a:effectLst>
              </a:endParaRPr>
            </a:p>
          </p:txBody>
        </p:sp>
      </p:grpSp>
      <p:sp>
        <p:nvSpPr>
          <p:cNvPr id="5" name="正方形/長方形 4"/>
          <p:cNvSpPr/>
          <p:nvPr/>
        </p:nvSpPr>
        <p:spPr>
          <a:xfrm>
            <a:off x="659165" y="718149"/>
            <a:ext cx="8281093" cy="400110"/>
          </a:xfrm>
          <a:prstGeom prst="rect">
            <a:avLst/>
          </a:prstGeom>
        </p:spPr>
        <p:txBody>
          <a:bodyPr wrap="square">
            <a:spAutoFit/>
          </a:bodyPr>
          <a:lstStyle/>
          <a:p>
            <a:pPr algn="ctr"/>
            <a:r>
              <a:rPr lang="en-US" altLang="ja-JP" sz="2000" dirty="0"/>
              <a:t>Program </a:t>
            </a:r>
            <a:r>
              <a:rPr lang="en-US" altLang="ja-JP" sz="2000" dirty="0" err="1"/>
              <a:t>untuk</a:t>
            </a:r>
            <a:r>
              <a:rPr lang="en-US" altLang="ja-JP" sz="2000" dirty="0"/>
              <a:t> </a:t>
            </a:r>
            <a:r>
              <a:rPr lang="en-US" altLang="ja-JP" sz="2000" dirty="0" err="1"/>
              <a:t>mendorong</a:t>
            </a:r>
            <a:r>
              <a:rPr lang="en-US" altLang="ja-JP" sz="2000" dirty="0"/>
              <a:t> </a:t>
            </a:r>
            <a:r>
              <a:rPr lang="en-US" altLang="ja-JP" sz="2000" dirty="0" err="1"/>
              <a:t>penggunaan</a:t>
            </a:r>
            <a:r>
              <a:rPr lang="en-US" altLang="ja-JP" sz="2000" dirty="0"/>
              <a:t> </a:t>
            </a:r>
            <a:r>
              <a:rPr lang="en-US" altLang="ja-JP" sz="2000" dirty="0" err="1"/>
              <a:t>cuti</a:t>
            </a:r>
            <a:r>
              <a:rPr lang="en-US" altLang="ja-JP" sz="2000" dirty="0"/>
              <a:t> </a:t>
            </a:r>
            <a:r>
              <a:rPr lang="en-US" altLang="ja-JP" sz="2000" dirty="0" err="1"/>
              <a:t>tahunan</a:t>
            </a:r>
            <a:r>
              <a:rPr lang="en-US" altLang="ja-JP" sz="2000" dirty="0"/>
              <a:t> </a:t>
            </a:r>
            <a:r>
              <a:rPr lang="en-US" altLang="ja-JP" sz="2000" dirty="0" err="1"/>
              <a:t>berbayar</a:t>
            </a:r>
            <a:endParaRPr lang="ja-JP" altLang="en-US" sz="2000" dirty="0"/>
          </a:p>
        </p:txBody>
      </p:sp>
      <p:sp>
        <p:nvSpPr>
          <p:cNvPr id="9" name="正方形/長方形 8"/>
          <p:cNvSpPr/>
          <p:nvPr/>
        </p:nvSpPr>
        <p:spPr>
          <a:xfrm>
            <a:off x="3627047" y="2396711"/>
            <a:ext cx="4572000" cy="738664"/>
          </a:xfrm>
          <a:prstGeom prst="rect">
            <a:avLst/>
          </a:prstGeom>
        </p:spPr>
        <p:txBody>
          <a:bodyPr>
            <a:spAutoFit/>
          </a:bodyPr>
          <a:lstStyle/>
          <a:p>
            <a:r>
              <a:rPr lang="en-US" altLang="ja-JP" sz="1400" b="1" dirty="0" err="1"/>
              <a:t>Keseimbangan</a:t>
            </a:r>
            <a:r>
              <a:rPr lang="en-US" altLang="ja-JP" sz="1400" b="1" dirty="0"/>
              <a:t> </a:t>
            </a:r>
            <a:r>
              <a:rPr lang="en-US" altLang="ja-JP" sz="1400" b="1" dirty="0" err="1"/>
              <a:t>antara</a:t>
            </a:r>
            <a:r>
              <a:rPr lang="en-US" altLang="ja-JP" sz="1400" b="1" dirty="0"/>
              <a:t> </a:t>
            </a:r>
            <a:r>
              <a:rPr lang="en-US" altLang="ja-JP" sz="1400" b="1" dirty="0" err="1"/>
              <a:t>pekerjaan</a:t>
            </a:r>
            <a:r>
              <a:rPr lang="en-US" altLang="ja-JP" sz="1400" b="1" dirty="0"/>
              <a:t> </a:t>
            </a:r>
            <a:r>
              <a:rPr lang="en-US" altLang="ja-JP" sz="1400" b="1" dirty="0" err="1"/>
              <a:t>dan</a:t>
            </a:r>
            <a:r>
              <a:rPr lang="en-US" altLang="ja-JP" sz="1400" b="1" dirty="0"/>
              <a:t> </a:t>
            </a:r>
            <a:r>
              <a:rPr lang="en-US" altLang="ja-JP" sz="1400" b="1" dirty="0" err="1"/>
              <a:t>kehidupan</a:t>
            </a:r>
            <a:r>
              <a:rPr lang="en-US" altLang="ja-JP" sz="1400" b="1" dirty="0"/>
              <a:t> </a:t>
            </a:r>
            <a:r>
              <a:rPr lang="en-US" altLang="ja-JP" sz="1400" b="1" dirty="0" err="1"/>
              <a:t>pribadi</a:t>
            </a:r>
            <a:r>
              <a:rPr lang="en-US" altLang="ja-JP" sz="1400" b="1" dirty="0"/>
              <a:t> </a:t>
            </a:r>
            <a:r>
              <a:rPr lang="en-US" altLang="ja-JP" sz="1400" b="1" dirty="0" err="1"/>
              <a:t>membantu</a:t>
            </a:r>
            <a:r>
              <a:rPr lang="en-US" altLang="ja-JP" sz="1400" b="1" dirty="0"/>
              <a:t> </a:t>
            </a:r>
            <a:r>
              <a:rPr lang="en-US" altLang="ja-JP" sz="1400" b="1" dirty="0" err="1"/>
              <a:t>mewujudkan</a:t>
            </a:r>
            <a:r>
              <a:rPr lang="en-US" altLang="ja-JP" sz="1400" b="1" dirty="0"/>
              <a:t> </a:t>
            </a:r>
            <a:r>
              <a:rPr lang="en-US" altLang="ja-JP" sz="1400" b="1" dirty="0" err="1"/>
              <a:t>kehidupan</a:t>
            </a:r>
            <a:r>
              <a:rPr lang="en-US" altLang="ja-JP" sz="1400" b="1" dirty="0"/>
              <a:t> yang </a:t>
            </a:r>
            <a:r>
              <a:rPr lang="en-US" altLang="ja-JP" sz="1400" b="1" dirty="0" err="1"/>
              <a:t>sehat</a:t>
            </a:r>
            <a:r>
              <a:rPr lang="en-US" altLang="ja-JP" sz="1400" b="1" dirty="0"/>
              <a:t>, </a:t>
            </a:r>
            <a:r>
              <a:rPr lang="en-US" altLang="ja-JP" sz="1400" b="1" dirty="0" err="1"/>
              <a:t>bahagia</a:t>
            </a:r>
            <a:r>
              <a:rPr lang="en-US" altLang="ja-JP" sz="1400" b="1" dirty="0"/>
              <a:t>, </a:t>
            </a:r>
            <a:r>
              <a:rPr lang="en-US" altLang="ja-JP" sz="1400" b="1" dirty="0" err="1"/>
              <a:t>dan</a:t>
            </a:r>
            <a:r>
              <a:rPr lang="en-US" altLang="ja-JP" sz="1400" b="1" dirty="0"/>
              <a:t> </a:t>
            </a:r>
            <a:r>
              <a:rPr lang="en-US" altLang="ja-JP" sz="1400" b="1" dirty="0" err="1"/>
              <a:t>bermakna</a:t>
            </a:r>
            <a:r>
              <a:rPr lang="en-US" altLang="ja-JP" sz="1400" b="1" dirty="0" smtClean="0"/>
              <a:t>.</a:t>
            </a:r>
            <a:endParaRPr lang="en-US" altLang="ja-JP" sz="1400" dirty="0"/>
          </a:p>
        </p:txBody>
      </p:sp>
      <p:sp>
        <p:nvSpPr>
          <p:cNvPr id="15" name="正方形/長方形 14"/>
          <p:cNvSpPr/>
          <p:nvPr/>
        </p:nvSpPr>
        <p:spPr>
          <a:xfrm>
            <a:off x="2801629" y="4538011"/>
            <a:ext cx="5236578" cy="523220"/>
          </a:xfrm>
          <a:prstGeom prst="rect">
            <a:avLst/>
          </a:prstGeom>
        </p:spPr>
        <p:txBody>
          <a:bodyPr wrap="square">
            <a:spAutoFit/>
          </a:bodyPr>
          <a:lstStyle/>
          <a:p>
            <a:r>
              <a:rPr lang="en-US" altLang="ja-JP" sz="1400" b="1" dirty="0" err="1"/>
              <a:t>Kewajiban</a:t>
            </a:r>
            <a:r>
              <a:rPr lang="en-US" altLang="ja-JP" sz="1400" b="1" dirty="0"/>
              <a:t> </a:t>
            </a:r>
            <a:r>
              <a:rPr lang="en-US" altLang="ja-JP" sz="1400" b="1" dirty="0" err="1"/>
              <a:t>berdasarkan</a:t>
            </a:r>
            <a:r>
              <a:rPr lang="en-US" altLang="ja-JP" sz="1400" b="1" dirty="0"/>
              <a:t> </a:t>
            </a:r>
            <a:r>
              <a:rPr lang="en-US" altLang="ja-JP" sz="1400" b="1" dirty="0" err="1"/>
              <a:t>undang-undang</a:t>
            </a:r>
            <a:r>
              <a:rPr lang="en-US" altLang="ja-JP" sz="1400" b="1" dirty="0"/>
              <a:t>:</a:t>
            </a:r>
            <a:r>
              <a:rPr lang="en-US" altLang="ja-JP" sz="1400" dirty="0"/>
              <a:t> 5 </a:t>
            </a:r>
            <a:r>
              <a:rPr lang="en-US" altLang="ja-JP" sz="1400" dirty="0" err="1"/>
              <a:t>hari</a:t>
            </a:r>
            <a:r>
              <a:rPr lang="en-US" altLang="ja-JP" sz="1400" dirty="0"/>
              <a:t> per </a:t>
            </a:r>
            <a:r>
              <a:rPr lang="en-US" altLang="ja-JP" sz="1400" dirty="0" err="1"/>
              <a:t>tahun</a:t>
            </a:r>
            <a:r>
              <a:rPr lang="en-US" altLang="ja-JP" sz="1400" dirty="0"/>
              <a:t/>
            </a:r>
            <a:br>
              <a:rPr lang="en-US" altLang="ja-JP" sz="1400" dirty="0"/>
            </a:br>
            <a:r>
              <a:rPr lang="ja-JP" altLang="en-US" sz="1400" dirty="0" smtClean="0"/>
              <a:t> </a:t>
            </a:r>
            <a:r>
              <a:rPr lang="en-US" altLang="ja-JP" sz="1400" b="1" dirty="0"/>
              <a:t>Target </a:t>
            </a:r>
            <a:r>
              <a:rPr lang="en-US" altLang="ja-JP" sz="1400" b="1" dirty="0" err="1"/>
              <a:t>perusahaan</a:t>
            </a:r>
            <a:r>
              <a:rPr lang="en-US" altLang="ja-JP" sz="1400" b="1" dirty="0"/>
              <a:t>:</a:t>
            </a:r>
            <a:r>
              <a:rPr lang="en-US" altLang="ja-JP" sz="1400" dirty="0"/>
              <a:t> 14 </a:t>
            </a:r>
            <a:r>
              <a:rPr lang="en-US" altLang="ja-JP" sz="1400" dirty="0" err="1"/>
              <a:t>hari</a:t>
            </a:r>
            <a:r>
              <a:rPr lang="en-US" altLang="ja-JP" sz="1400" dirty="0"/>
              <a:t> per </a:t>
            </a:r>
            <a:r>
              <a:rPr lang="en-US" altLang="ja-JP" sz="1400" dirty="0" err="1"/>
              <a:t>tahun</a:t>
            </a:r>
            <a:endParaRPr lang="vi-VN" altLang="ja-JP" sz="1400" dirty="0"/>
          </a:p>
        </p:txBody>
      </p:sp>
      <p:sp>
        <p:nvSpPr>
          <p:cNvPr id="17" name="正方形/長方形 16"/>
          <p:cNvSpPr/>
          <p:nvPr/>
        </p:nvSpPr>
        <p:spPr>
          <a:xfrm>
            <a:off x="2801629" y="6146420"/>
            <a:ext cx="8078435" cy="523220"/>
          </a:xfrm>
          <a:prstGeom prst="rect">
            <a:avLst/>
          </a:prstGeom>
        </p:spPr>
        <p:txBody>
          <a:bodyPr wrap="square">
            <a:spAutoFit/>
          </a:bodyPr>
          <a:lstStyle/>
          <a:p>
            <a:r>
              <a:rPr lang="en-US" altLang="ja-JP" sz="1400" b="1" dirty="0"/>
              <a:t>Rata-rata </a:t>
            </a:r>
            <a:r>
              <a:rPr lang="en-US" altLang="ja-JP" sz="1400" b="1" dirty="0" err="1"/>
              <a:t>penggunaan</a:t>
            </a:r>
            <a:r>
              <a:rPr lang="en-US" altLang="ja-JP" sz="1400" b="1" dirty="0"/>
              <a:t> </a:t>
            </a:r>
            <a:r>
              <a:rPr lang="en-US" altLang="ja-JP" sz="1400" b="1" dirty="0" err="1"/>
              <a:t>cuti</a:t>
            </a:r>
            <a:r>
              <a:rPr lang="en-US" altLang="ja-JP" sz="1400" b="1" dirty="0"/>
              <a:t> </a:t>
            </a:r>
            <a:r>
              <a:rPr lang="en-US" altLang="ja-JP" sz="1400" b="1" dirty="0" err="1"/>
              <a:t>berbayar</a:t>
            </a:r>
            <a:r>
              <a:rPr lang="en-US" altLang="ja-JP" sz="1400" b="1" dirty="0"/>
              <a:t> </a:t>
            </a:r>
            <a:r>
              <a:rPr lang="en-US" altLang="ja-JP" sz="1400" b="1" dirty="0" err="1"/>
              <a:t>pada</a:t>
            </a:r>
            <a:r>
              <a:rPr lang="en-US" altLang="ja-JP" sz="1400" b="1" dirty="0"/>
              <a:t> </a:t>
            </a:r>
            <a:r>
              <a:rPr lang="en-US" altLang="ja-JP" sz="1400" b="1" dirty="0" err="1"/>
              <a:t>tahun</a:t>
            </a:r>
            <a:r>
              <a:rPr lang="en-US" altLang="ja-JP" sz="1400" b="1" dirty="0"/>
              <a:t> </a:t>
            </a:r>
            <a:r>
              <a:rPr lang="en-US" altLang="ja-JP" sz="1400" b="1" dirty="0" smtClean="0"/>
              <a:t>2025: 11,00 </a:t>
            </a:r>
            <a:r>
              <a:rPr lang="en-US" altLang="ja-JP" sz="1400" b="1" dirty="0" err="1"/>
              <a:t>hari</a:t>
            </a:r>
            <a:r>
              <a:rPr lang="en-US" altLang="ja-JP" sz="1400" dirty="0"/>
              <a:t/>
            </a:r>
            <a:br>
              <a:rPr lang="en-US" altLang="ja-JP" sz="1400" dirty="0"/>
            </a:br>
            <a:r>
              <a:rPr lang="en-US" altLang="ja-JP" sz="1400" dirty="0"/>
              <a:t>※ </a:t>
            </a:r>
            <a:r>
              <a:rPr lang="en-US" altLang="ja-JP" sz="1400" dirty="0" err="1"/>
              <a:t>Termasuk</a:t>
            </a:r>
            <a:r>
              <a:rPr lang="en-US" altLang="ja-JP" sz="1400" dirty="0"/>
              <a:t> </a:t>
            </a:r>
            <a:r>
              <a:rPr lang="en-US" altLang="ja-JP" sz="1400" dirty="0" err="1"/>
              <a:t>cuti</a:t>
            </a:r>
            <a:r>
              <a:rPr lang="en-US" altLang="ja-JP" sz="1400" dirty="0"/>
              <a:t> </a:t>
            </a:r>
            <a:r>
              <a:rPr lang="en-US" altLang="ja-JP" sz="1400" dirty="0" err="1"/>
              <a:t>berbayar</a:t>
            </a:r>
            <a:r>
              <a:rPr lang="en-US" altLang="ja-JP" sz="1400" dirty="0"/>
              <a:t> per jam (</a:t>
            </a:r>
            <a:r>
              <a:rPr lang="en-US" altLang="ja-JP" sz="1400" dirty="0" err="1"/>
              <a:t>dapat</a:t>
            </a:r>
            <a:r>
              <a:rPr lang="en-US" altLang="ja-JP" sz="1400" dirty="0"/>
              <a:t> </a:t>
            </a:r>
            <a:r>
              <a:rPr lang="en-US" altLang="ja-JP" sz="1400" dirty="0" err="1"/>
              <a:t>diambil</a:t>
            </a:r>
            <a:r>
              <a:rPr lang="en-US" altLang="ja-JP" sz="1400" dirty="0"/>
              <a:t> </a:t>
            </a:r>
            <a:r>
              <a:rPr lang="en-US" altLang="ja-JP" sz="1400" dirty="0" err="1"/>
              <a:t>mulai</a:t>
            </a:r>
            <a:r>
              <a:rPr lang="en-US" altLang="ja-JP" sz="1400" dirty="0"/>
              <a:t> </a:t>
            </a:r>
            <a:r>
              <a:rPr lang="en-US" altLang="ja-JP" sz="1400" dirty="0" err="1"/>
              <a:t>dari</a:t>
            </a:r>
            <a:r>
              <a:rPr lang="en-US" altLang="ja-JP" sz="1400" dirty="0"/>
              <a:t> 1 jam).</a:t>
            </a:r>
            <a:endParaRPr lang="vi-VN" altLang="ja-JP" sz="1400" dirty="0"/>
          </a:p>
        </p:txBody>
      </p:sp>
    </p:spTree>
    <p:extLst>
      <p:ext uri="{BB962C8B-B14F-4D97-AF65-F5344CB8AC3E}">
        <p14:creationId xmlns:p14="http://schemas.microsoft.com/office/powerpoint/2010/main" val="1385597113"/>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411220" y="1009098"/>
            <a:ext cx="7005580" cy="693523"/>
          </a:xfrm>
          <a:prstGeom prst="rect">
            <a:avLst/>
          </a:prstGeom>
        </p:spPr>
        <p:txBody>
          <a:bodyPr wrap="square">
            <a:spAutoFit/>
          </a:bodyPr>
          <a:lstStyle/>
          <a:p>
            <a:pPr>
              <a:lnSpc>
                <a:spcPct val="150000"/>
              </a:lnSpc>
            </a:pPr>
            <a:r>
              <a:rPr lang="en-US" altLang="ja-JP" sz="1400" b="1" dirty="0" smtClean="0">
                <a:solidFill>
                  <a:srgbClr val="FF0000"/>
                </a:solidFill>
                <a:latin typeface="Meiryo UI" panose="020B0604030504040204" pitchFamily="50" charset="-128"/>
                <a:ea typeface="Meiryo UI" panose="020B0604030504040204" pitchFamily="50" charset="-128"/>
              </a:rPr>
              <a:t>7</a:t>
            </a:r>
            <a:r>
              <a:rPr lang="ja-JP" altLang="en-US" sz="1400" b="1" dirty="0" smtClean="0">
                <a:solidFill>
                  <a:srgbClr val="FF0000"/>
                </a:solidFill>
                <a:latin typeface="Meiryo UI" panose="020B0604030504040204" pitchFamily="50" charset="-128"/>
                <a:ea typeface="Meiryo UI" panose="020B0604030504040204" pitchFamily="50" charset="-128"/>
              </a:rPr>
              <a:t>月1</a:t>
            </a:r>
            <a:r>
              <a:rPr lang="en-US" altLang="ja-JP" sz="1400" b="1" dirty="0" smtClean="0">
                <a:solidFill>
                  <a:srgbClr val="FF0000"/>
                </a:solidFill>
                <a:latin typeface="Meiryo UI" panose="020B0604030504040204" pitchFamily="50" charset="-128"/>
                <a:ea typeface="Meiryo UI" panose="020B0604030504040204" pitchFamily="50" charset="-128"/>
              </a:rPr>
              <a:t>2</a:t>
            </a:r>
            <a:r>
              <a:rPr lang="ja-JP" altLang="en-US" sz="1400" b="1" dirty="0" smtClean="0">
                <a:solidFill>
                  <a:srgbClr val="FF0000"/>
                </a:solidFill>
                <a:latin typeface="Meiryo UI" panose="020B0604030504040204" pitchFamily="50" charset="-128"/>
                <a:ea typeface="Meiryo UI" panose="020B0604030504040204" pitchFamily="50" charset="-128"/>
              </a:rPr>
              <a:t>日</a:t>
            </a:r>
            <a:r>
              <a:rPr lang="ja-JP" altLang="en-US" sz="1400" b="1" dirty="0">
                <a:solidFill>
                  <a:srgbClr val="FF0000"/>
                </a:solidFill>
                <a:latin typeface="Meiryo UI" panose="020B0604030504040204" pitchFamily="50" charset="-128"/>
                <a:ea typeface="Meiryo UI" panose="020B0604030504040204" pitchFamily="50" charset="-128"/>
              </a:rPr>
              <a:t>に入社</a:t>
            </a:r>
            <a:r>
              <a:rPr lang="ja-JP" altLang="en-US" sz="1400" b="1" dirty="0" smtClean="0">
                <a:solidFill>
                  <a:srgbClr val="FF0000"/>
                </a:solidFill>
                <a:latin typeface="Meiryo UI" panose="020B0604030504040204" pitchFamily="50" charset="-128"/>
                <a:ea typeface="Meiryo UI" panose="020B0604030504040204" pitchFamily="50" charset="-128"/>
              </a:rPr>
              <a:t>して、</a:t>
            </a:r>
            <a:r>
              <a:rPr lang="en-US" altLang="ja-JP" sz="1400" b="1" dirty="0">
                <a:solidFill>
                  <a:srgbClr val="FF0000"/>
                </a:solidFill>
                <a:latin typeface="Meiryo UI" panose="020B0604030504040204" pitchFamily="50" charset="-128"/>
                <a:ea typeface="Meiryo UI" panose="020B0604030504040204" pitchFamily="50" charset="-128"/>
              </a:rPr>
              <a:t>9</a:t>
            </a:r>
            <a:r>
              <a:rPr lang="ja-JP" altLang="en-US" sz="1400" b="1" dirty="0" smtClean="0">
                <a:solidFill>
                  <a:srgbClr val="FF0000"/>
                </a:solidFill>
                <a:latin typeface="Meiryo UI" panose="020B0604030504040204" pitchFamily="50" charset="-128"/>
                <a:ea typeface="Meiryo UI" panose="020B0604030504040204" pitchFamily="50" charset="-128"/>
              </a:rPr>
              <a:t>月</a:t>
            </a:r>
            <a:r>
              <a:rPr lang="en-US" altLang="ja-JP" sz="1400" b="1" dirty="0">
                <a:solidFill>
                  <a:srgbClr val="FF0000"/>
                </a:solidFill>
                <a:latin typeface="Meiryo UI" panose="020B0604030504040204" pitchFamily="50" charset="-128"/>
                <a:ea typeface="Meiryo UI" panose="020B0604030504040204" pitchFamily="50" charset="-128"/>
              </a:rPr>
              <a:t>11</a:t>
            </a:r>
            <a:r>
              <a:rPr lang="ja-JP" altLang="en-US" sz="1400" b="1" dirty="0" smtClean="0">
                <a:solidFill>
                  <a:srgbClr val="FF0000"/>
                </a:solidFill>
                <a:latin typeface="Meiryo UI" panose="020B0604030504040204" pitchFamily="50" charset="-128"/>
                <a:ea typeface="Meiryo UI" panose="020B0604030504040204" pitchFamily="50" charset="-128"/>
              </a:rPr>
              <a:t>日までに</a:t>
            </a:r>
            <a:r>
              <a:rPr lang="en-US" altLang="ja-JP" sz="1400" b="1" dirty="0" smtClean="0">
                <a:solidFill>
                  <a:srgbClr val="FF0000"/>
                </a:solidFill>
                <a:latin typeface="Meiryo UI" panose="020B0604030504040204" pitchFamily="50" charset="-128"/>
                <a:ea typeface="Meiryo UI" panose="020B0604030504040204" pitchFamily="50" charset="-128"/>
              </a:rPr>
              <a:t>70</a:t>
            </a:r>
            <a:r>
              <a:rPr lang="ja-JP" altLang="en-US" sz="1400" b="1" dirty="0" smtClean="0">
                <a:solidFill>
                  <a:srgbClr val="FF0000"/>
                </a:solidFill>
                <a:latin typeface="Meiryo UI" panose="020B0604030504040204" pitchFamily="50" charset="-128"/>
                <a:ea typeface="Meiryo UI" panose="020B0604030504040204" pitchFamily="50" charset="-128"/>
              </a:rPr>
              <a:t>％以上出勤していたら、</a:t>
            </a:r>
            <a:endParaRPr lang="en-US" altLang="ja-JP" sz="1400" b="1" dirty="0" smtClean="0">
              <a:solidFill>
                <a:srgbClr val="FF0000"/>
              </a:solidFill>
              <a:latin typeface="Meiryo UI" panose="020B0604030504040204" pitchFamily="50" charset="-128"/>
              <a:ea typeface="Meiryo UI" panose="020B0604030504040204" pitchFamily="50" charset="-128"/>
            </a:endParaRPr>
          </a:p>
          <a:p>
            <a:pPr>
              <a:lnSpc>
                <a:spcPct val="150000"/>
              </a:lnSpc>
            </a:pPr>
            <a:r>
              <a:rPr lang="ja-JP" altLang="en-US" sz="1400" b="1" dirty="0" smtClean="0">
                <a:solidFill>
                  <a:srgbClr val="FF0000"/>
                </a:solidFill>
                <a:latin typeface="Meiryo UI" panose="020B0604030504040204" pitchFamily="50" charset="-128"/>
                <a:ea typeface="Meiryo UI" panose="020B0604030504040204" pitchFamily="50" charset="-128"/>
              </a:rPr>
              <a:t>2026年９月</a:t>
            </a:r>
            <a:r>
              <a:rPr lang="en-US" altLang="ja-JP" sz="1400" b="1" dirty="0" smtClean="0">
                <a:solidFill>
                  <a:srgbClr val="FF0000"/>
                </a:solidFill>
                <a:latin typeface="Meiryo UI" panose="020B0604030504040204" pitchFamily="50" charset="-128"/>
                <a:ea typeface="Meiryo UI" panose="020B0604030504040204" pitchFamily="50" charset="-128"/>
              </a:rPr>
              <a:t>12</a:t>
            </a:r>
            <a:r>
              <a:rPr lang="ja-JP" altLang="en-US" sz="1400" b="1" dirty="0" smtClean="0">
                <a:solidFill>
                  <a:srgbClr val="FF0000"/>
                </a:solidFill>
                <a:latin typeface="Meiryo UI" panose="020B0604030504040204" pitchFamily="50" charset="-128"/>
                <a:ea typeface="Meiryo UI" panose="020B0604030504040204" pitchFamily="50" charset="-128"/>
              </a:rPr>
              <a:t>日の時点</a:t>
            </a:r>
            <a:r>
              <a:rPr lang="ja-JP" altLang="en-US" sz="1400" b="1" dirty="0">
                <a:solidFill>
                  <a:srgbClr val="FF0000"/>
                </a:solidFill>
                <a:latin typeface="Meiryo UI" panose="020B0604030504040204" pitchFamily="50" charset="-128"/>
                <a:ea typeface="Meiryo UI" panose="020B0604030504040204" pitchFamily="50" charset="-128"/>
              </a:rPr>
              <a:t>で</a:t>
            </a:r>
            <a:r>
              <a:rPr lang="ja-JP" altLang="en-US" sz="1400" b="1" dirty="0" smtClean="0">
                <a:solidFill>
                  <a:srgbClr val="FF0000"/>
                </a:solidFill>
                <a:latin typeface="Meiryo UI" panose="020B0604030504040204" pitchFamily="50" charset="-128"/>
                <a:ea typeface="Meiryo UI" panose="020B0604030504040204" pitchFamily="50" charset="-128"/>
              </a:rPr>
              <a:t>、</a:t>
            </a:r>
            <a:r>
              <a:rPr lang="en-US" altLang="ja-JP" sz="1400" b="1" dirty="0">
                <a:solidFill>
                  <a:srgbClr val="FF0000"/>
                </a:solidFill>
                <a:latin typeface="Meiryo UI" panose="020B0604030504040204" pitchFamily="50" charset="-128"/>
                <a:ea typeface="Meiryo UI" panose="020B0604030504040204" pitchFamily="50" charset="-128"/>
              </a:rPr>
              <a:t>5</a:t>
            </a:r>
            <a:r>
              <a:rPr lang="ja-JP" altLang="en-US" sz="1400" b="1" dirty="0" smtClean="0">
                <a:solidFill>
                  <a:srgbClr val="FF0000"/>
                </a:solidFill>
                <a:latin typeface="Meiryo UI" panose="020B0604030504040204" pitchFamily="50" charset="-128"/>
                <a:ea typeface="Meiryo UI" panose="020B0604030504040204" pitchFamily="50" charset="-128"/>
              </a:rPr>
              <a:t>日</a:t>
            </a:r>
            <a:r>
              <a:rPr lang="ja-JP" altLang="en-US" sz="1400" b="1" dirty="0">
                <a:solidFill>
                  <a:srgbClr val="FF0000"/>
                </a:solidFill>
                <a:latin typeface="Meiryo UI" panose="020B0604030504040204" pitchFamily="50" charset="-128"/>
                <a:ea typeface="Meiryo UI" panose="020B0604030504040204" pitchFamily="50" charset="-128"/>
              </a:rPr>
              <a:t>の有給休暇が使えるように</a:t>
            </a:r>
            <a:r>
              <a:rPr lang="ja-JP" altLang="en-US" sz="1400" b="1" dirty="0" smtClean="0">
                <a:solidFill>
                  <a:srgbClr val="FF0000"/>
                </a:solidFill>
                <a:latin typeface="Meiryo UI" panose="020B0604030504040204" pitchFamily="50" charset="-128"/>
                <a:ea typeface="Meiryo UI" panose="020B0604030504040204" pitchFamily="50" charset="-128"/>
              </a:rPr>
              <a:t>なります</a:t>
            </a:r>
            <a:endParaRPr lang="ja-JP" altLang="en-US" sz="1400" b="1" dirty="0">
              <a:latin typeface="Meiryo UI" panose="020B0604030504040204" pitchFamily="50" charset="-128"/>
              <a:ea typeface="Meiryo UI" panose="020B0604030504040204" pitchFamily="50" charset="-128"/>
            </a:endParaRPr>
          </a:p>
        </p:txBody>
      </p:sp>
      <p:sp>
        <p:nvSpPr>
          <p:cNvPr id="19" name="正方形/長方形 18"/>
          <p:cNvSpPr/>
          <p:nvPr/>
        </p:nvSpPr>
        <p:spPr>
          <a:xfrm>
            <a:off x="2881806" y="94734"/>
            <a:ext cx="2547492" cy="369332"/>
          </a:xfrm>
          <a:prstGeom prst="rect">
            <a:avLst/>
          </a:prstGeom>
        </p:spPr>
        <p:txBody>
          <a:bodyPr wrap="none">
            <a:spAutoFit/>
          </a:bodyPr>
          <a:lstStyle/>
          <a:p>
            <a:r>
              <a:rPr lang="ja-JP" altLang="en-US" b="1" dirty="0">
                <a:latin typeface="Meiryo UI" panose="020B0604030504040204" pitchFamily="50" charset="-128"/>
                <a:ea typeface="Meiryo UI" panose="020B0604030504040204" pitchFamily="50" charset="-128"/>
              </a:rPr>
              <a:t>有給休暇についての説明</a:t>
            </a:r>
          </a:p>
        </p:txBody>
      </p:sp>
      <p:sp>
        <p:nvSpPr>
          <p:cNvPr id="21" name="正方形/長方形 20"/>
          <p:cNvSpPr/>
          <p:nvPr/>
        </p:nvSpPr>
        <p:spPr>
          <a:xfrm>
            <a:off x="2534747" y="673964"/>
            <a:ext cx="3660939" cy="400110"/>
          </a:xfrm>
          <a:prstGeom prst="rect">
            <a:avLst/>
          </a:prstGeom>
        </p:spPr>
        <p:txBody>
          <a:bodyPr wrap="none">
            <a:spAutoFit/>
          </a:bodyPr>
          <a:lstStyle/>
          <a:p>
            <a:r>
              <a:rPr lang="en-US" altLang="ja-JP" sz="2000" dirty="0" err="1"/>
              <a:t>Penjelasan</a:t>
            </a:r>
            <a:r>
              <a:rPr lang="en-US" altLang="ja-JP" sz="2000" dirty="0"/>
              <a:t> </a:t>
            </a:r>
            <a:r>
              <a:rPr lang="en-US" altLang="ja-JP" sz="2000" dirty="0" err="1"/>
              <a:t>tentang</a:t>
            </a:r>
            <a:r>
              <a:rPr lang="en-US" altLang="ja-JP" sz="2000" dirty="0"/>
              <a:t> </a:t>
            </a:r>
            <a:r>
              <a:rPr lang="en-US" altLang="ja-JP" sz="2000" dirty="0" err="1"/>
              <a:t>Cuti</a:t>
            </a:r>
            <a:r>
              <a:rPr lang="en-US" altLang="ja-JP" sz="2000" dirty="0"/>
              <a:t> </a:t>
            </a:r>
            <a:r>
              <a:rPr lang="en-US" altLang="ja-JP" sz="2000" dirty="0" err="1"/>
              <a:t>Berbayar</a:t>
            </a:r>
            <a:r>
              <a:rPr lang="en-US" altLang="ja-JP" sz="2000" dirty="0"/>
              <a:t> </a:t>
            </a:r>
            <a:endParaRPr lang="ja-JP" altLang="en-US" sz="2000" dirty="0">
              <a:latin typeface="Arial" panose="020B0604020202020204" pitchFamily="34" charset="0"/>
              <a:cs typeface="Arial" panose="020B0604020202020204" pitchFamily="34" charset="0"/>
            </a:endParaRPr>
          </a:p>
        </p:txBody>
      </p:sp>
      <p:pic>
        <p:nvPicPr>
          <p:cNvPr id="3" name="図 2"/>
          <p:cNvPicPr>
            <a:picLocks noChangeAspect="1"/>
          </p:cNvPicPr>
          <p:nvPr/>
        </p:nvPicPr>
        <p:blipFill>
          <a:blip r:embed="rId3"/>
          <a:stretch>
            <a:fillRect/>
          </a:stretch>
        </p:blipFill>
        <p:spPr>
          <a:xfrm>
            <a:off x="411220" y="4934129"/>
            <a:ext cx="5419725" cy="1828800"/>
          </a:xfrm>
          <a:prstGeom prst="rect">
            <a:avLst/>
          </a:prstGeom>
        </p:spPr>
      </p:pic>
      <p:pic>
        <p:nvPicPr>
          <p:cNvPr id="4" name="図 3"/>
          <p:cNvPicPr>
            <a:picLocks noChangeAspect="1"/>
          </p:cNvPicPr>
          <p:nvPr/>
        </p:nvPicPr>
        <p:blipFill>
          <a:blip r:embed="rId4"/>
          <a:stretch>
            <a:fillRect/>
          </a:stretch>
        </p:blipFill>
        <p:spPr>
          <a:xfrm>
            <a:off x="411220" y="2950852"/>
            <a:ext cx="5261872" cy="1697348"/>
          </a:xfrm>
          <a:prstGeom prst="rect">
            <a:avLst/>
          </a:prstGeom>
        </p:spPr>
      </p:pic>
      <p:sp>
        <p:nvSpPr>
          <p:cNvPr id="5" name="正方形/長方形 4"/>
          <p:cNvSpPr/>
          <p:nvPr/>
        </p:nvSpPr>
        <p:spPr>
          <a:xfrm>
            <a:off x="411220" y="1735720"/>
            <a:ext cx="5599880" cy="954107"/>
          </a:xfrm>
          <a:prstGeom prst="rect">
            <a:avLst/>
          </a:prstGeom>
        </p:spPr>
        <p:txBody>
          <a:bodyPr wrap="square">
            <a:spAutoFit/>
          </a:bodyPr>
          <a:lstStyle/>
          <a:p>
            <a:r>
              <a:rPr lang="en-US" altLang="ja-JP" sz="1400" dirty="0" err="1">
                <a:latin typeface="Meiryo UI" panose="020B0604030504040204" pitchFamily="50" charset="-128"/>
                <a:ea typeface="Meiryo UI" panose="020B0604030504040204" pitchFamily="50" charset="-128"/>
              </a:rPr>
              <a:t>Jika</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Anda</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mulai</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bekerja</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pada</a:t>
            </a:r>
            <a:r>
              <a:rPr lang="en-US" altLang="ja-JP" sz="1400" dirty="0">
                <a:latin typeface="Meiryo UI" panose="020B0604030504040204" pitchFamily="50" charset="-128"/>
                <a:ea typeface="Meiryo UI" panose="020B0604030504040204" pitchFamily="50" charset="-128"/>
              </a:rPr>
              <a:t> 12 </a:t>
            </a:r>
            <a:r>
              <a:rPr lang="en-US" altLang="ja-JP" sz="1400" dirty="0" err="1">
                <a:latin typeface="Meiryo UI" panose="020B0604030504040204" pitchFamily="50" charset="-128"/>
                <a:ea typeface="Meiryo UI" panose="020B0604030504040204" pitchFamily="50" charset="-128"/>
              </a:rPr>
              <a:t>Juli</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dan</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telah</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masuk</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kerja</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lebih</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dari</a:t>
            </a:r>
            <a:r>
              <a:rPr lang="en-US" altLang="ja-JP" sz="1400" dirty="0">
                <a:latin typeface="Meiryo UI" panose="020B0604030504040204" pitchFamily="50" charset="-128"/>
                <a:ea typeface="Meiryo UI" panose="020B0604030504040204" pitchFamily="50" charset="-128"/>
              </a:rPr>
              <a:t> 70% </a:t>
            </a:r>
            <a:r>
              <a:rPr lang="en-US" altLang="ja-JP" sz="1400" dirty="0" err="1">
                <a:latin typeface="Meiryo UI" panose="020B0604030504040204" pitchFamily="50" charset="-128"/>
                <a:ea typeface="Meiryo UI" panose="020B0604030504040204" pitchFamily="50" charset="-128"/>
              </a:rPr>
              <a:t>hingga</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tanggal</a:t>
            </a:r>
            <a:r>
              <a:rPr lang="en-US" altLang="ja-JP" sz="1400" dirty="0">
                <a:latin typeface="Meiryo UI" panose="020B0604030504040204" pitchFamily="50" charset="-128"/>
                <a:ea typeface="Meiryo UI" panose="020B0604030504040204" pitchFamily="50" charset="-128"/>
              </a:rPr>
              <a:t> 11 September, </a:t>
            </a:r>
            <a:endParaRPr lang="en-US" altLang="ja-JP" sz="1400" dirty="0" smtClean="0">
              <a:latin typeface="Meiryo UI" panose="020B0604030504040204" pitchFamily="50" charset="-128"/>
              <a:ea typeface="Meiryo UI" panose="020B0604030504040204" pitchFamily="50" charset="-128"/>
            </a:endParaRPr>
          </a:p>
          <a:p>
            <a:r>
              <a:rPr lang="en-US" altLang="ja-JP" sz="1400" dirty="0" err="1" smtClean="0">
                <a:latin typeface="Meiryo UI" panose="020B0604030504040204" pitchFamily="50" charset="-128"/>
                <a:ea typeface="Meiryo UI" panose="020B0604030504040204" pitchFamily="50" charset="-128"/>
              </a:rPr>
              <a:t>maka</a:t>
            </a:r>
            <a:r>
              <a:rPr lang="en-US" altLang="ja-JP" sz="1400" dirty="0" smtClean="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per </a:t>
            </a:r>
            <a:r>
              <a:rPr lang="en-US" altLang="ja-JP" sz="1400" dirty="0" err="1">
                <a:latin typeface="Meiryo UI" panose="020B0604030504040204" pitchFamily="50" charset="-128"/>
                <a:ea typeface="Meiryo UI" panose="020B0604030504040204" pitchFamily="50" charset="-128"/>
              </a:rPr>
              <a:t>tanggal</a:t>
            </a:r>
            <a:r>
              <a:rPr lang="en-US" altLang="ja-JP" sz="1400" dirty="0">
                <a:latin typeface="Meiryo UI" panose="020B0604030504040204" pitchFamily="50" charset="-128"/>
                <a:ea typeface="Meiryo UI" panose="020B0604030504040204" pitchFamily="50" charset="-128"/>
              </a:rPr>
              <a:t> 12 September 2026, </a:t>
            </a:r>
            <a:r>
              <a:rPr lang="en-US" altLang="ja-JP" sz="1400" dirty="0" err="1">
                <a:latin typeface="Meiryo UI" panose="020B0604030504040204" pitchFamily="50" charset="-128"/>
                <a:ea typeface="Meiryo UI" panose="020B0604030504040204" pitchFamily="50" charset="-128"/>
              </a:rPr>
              <a:t>Anda</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dapat</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menggunakan</a:t>
            </a:r>
            <a:r>
              <a:rPr lang="en-US" altLang="ja-JP" sz="1400" dirty="0">
                <a:latin typeface="Meiryo UI" panose="020B0604030504040204" pitchFamily="50" charset="-128"/>
                <a:ea typeface="Meiryo UI" panose="020B0604030504040204" pitchFamily="50" charset="-128"/>
              </a:rPr>
              <a:t> 5 </a:t>
            </a:r>
            <a:r>
              <a:rPr lang="en-US" altLang="ja-JP" sz="1400" dirty="0" err="1">
                <a:latin typeface="Meiryo UI" panose="020B0604030504040204" pitchFamily="50" charset="-128"/>
                <a:ea typeface="Meiryo UI" panose="020B0604030504040204" pitchFamily="50" charset="-128"/>
              </a:rPr>
              <a:t>hari</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cuti</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berbayar</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cuti</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tahunan</a:t>
            </a:r>
            <a:r>
              <a:rPr lang="en-US" altLang="ja-JP" sz="1400" dirty="0">
                <a:latin typeface="Meiryo UI" panose="020B0604030504040204" pitchFamily="50" charset="-128"/>
                <a:ea typeface="Meiryo UI" panose="020B0604030504040204" pitchFamily="50" charset="-128"/>
              </a:rPr>
              <a:t>).</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766838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3249764" y="596334"/>
            <a:ext cx="5092700" cy="369332"/>
          </a:xfrm>
          <a:prstGeom prst="rect">
            <a:avLst/>
          </a:prstGeom>
        </p:spPr>
        <p:txBody>
          <a:bodyPr wrap="square">
            <a:spAutoFit/>
          </a:bodyPr>
          <a:lstStyle/>
          <a:p>
            <a:r>
              <a:rPr lang="en-US" altLang="ja-JP" dirty="0" err="1"/>
              <a:t>Tentang</a:t>
            </a:r>
            <a:r>
              <a:rPr lang="en-US" altLang="ja-JP" dirty="0"/>
              <a:t> </a:t>
            </a:r>
            <a:r>
              <a:rPr lang="en-US" altLang="ja-JP" dirty="0" err="1"/>
              <a:t>cuti</a:t>
            </a:r>
            <a:r>
              <a:rPr lang="en-US" altLang="ja-JP" dirty="0"/>
              <a:t> </a:t>
            </a:r>
            <a:r>
              <a:rPr lang="en-US" altLang="ja-JP" dirty="0" err="1"/>
              <a:t>keluarga</a:t>
            </a:r>
            <a:endParaRPr lang="ja-JP" altLang="en-US" dirty="0">
              <a:latin typeface="Arial" pitchFamily="34" charset="0"/>
              <a:ea typeface="Meiryo UI" panose="020B0604030504040204" pitchFamily="50" charset="-128"/>
              <a:cs typeface="Arial" pitchFamily="34" charset="0"/>
            </a:endParaRPr>
          </a:p>
        </p:txBody>
      </p:sp>
      <p:sp>
        <p:nvSpPr>
          <p:cNvPr id="8" name="正方形/長方形 7"/>
          <p:cNvSpPr/>
          <p:nvPr/>
        </p:nvSpPr>
        <p:spPr>
          <a:xfrm>
            <a:off x="3249764" y="88900"/>
            <a:ext cx="2130711" cy="369332"/>
          </a:xfrm>
          <a:prstGeom prst="rect">
            <a:avLst/>
          </a:prstGeom>
        </p:spPr>
        <p:txBody>
          <a:bodyPr wrap="none">
            <a:spAutoFit/>
          </a:bodyPr>
          <a:lstStyle/>
          <a:p>
            <a:r>
              <a:rPr lang="ja-JP" altLang="en-US" dirty="0">
                <a:latin typeface="Meiryo UI" panose="020B0604030504040204" pitchFamily="50" charset="-128"/>
                <a:ea typeface="Meiryo UI" panose="020B0604030504040204" pitchFamily="50" charset="-128"/>
                <a:cs typeface="Arial" panose="020B0604020202020204" pitchFamily="34" charset="0"/>
              </a:rPr>
              <a:t>ファミリー</a:t>
            </a:r>
            <a:r>
              <a:rPr lang="ja-JP" altLang="en-US" dirty="0" smtClean="0">
                <a:latin typeface="Meiryo UI" panose="020B0604030504040204" pitchFamily="50" charset="-128"/>
                <a:ea typeface="Meiryo UI" panose="020B0604030504040204" pitchFamily="50" charset="-128"/>
                <a:cs typeface="Arial" panose="020B0604020202020204" pitchFamily="34" charset="0"/>
              </a:rPr>
              <a:t>休日に</a:t>
            </a:r>
            <a:r>
              <a:rPr lang="ja-JP" altLang="en-US" dirty="0">
                <a:latin typeface="Meiryo UI" panose="020B0604030504040204" pitchFamily="50" charset="-128"/>
                <a:ea typeface="Meiryo UI" panose="020B0604030504040204" pitchFamily="50" charset="-128"/>
                <a:cs typeface="Arial" panose="020B0604020202020204" pitchFamily="34" charset="0"/>
              </a:rPr>
              <a:t>ついて</a:t>
            </a:r>
          </a:p>
        </p:txBody>
      </p:sp>
      <p:sp>
        <p:nvSpPr>
          <p:cNvPr id="9" name="正方形/長方形 8"/>
          <p:cNvSpPr/>
          <p:nvPr/>
        </p:nvSpPr>
        <p:spPr>
          <a:xfrm>
            <a:off x="177347" y="1308279"/>
            <a:ext cx="4572000" cy="5078313"/>
          </a:xfrm>
          <a:prstGeom prst="rect">
            <a:avLst/>
          </a:prstGeom>
        </p:spPr>
        <p:txBody>
          <a:bodyPr>
            <a:spAutoFit/>
          </a:bodyPr>
          <a:lstStyle/>
          <a:p>
            <a:pPr>
              <a:lnSpc>
                <a:spcPct val="150000"/>
              </a:lnSpc>
            </a:pPr>
            <a:r>
              <a:rPr lang="ja-JP" altLang="en-US" sz="1200" b="1" dirty="0" smtClean="0">
                <a:latin typeface="Meiryo UI" panose="020B0604030504040204" pitchFamily="50" charset="-128"/>
                <a:ea typeface="Meiryo UI" panose="020B0604030504040204" pitchFamily="50" charset="-128"/>
                <a:cs typeface="Arial" panose="020B0604020202020204" pitchFamily="34" charset="0"/>
              </a:rPr>
              <a:t>・ファミリー</a:t>
            </a:r>
            <a:r>
              <a:rPr lang="ja-JP" altLang="en-US" sz="1200" b="1" dirty="0">
                <a:latin typeface="Meiryo UI" panose="020B0604030504040204" pitchFamily="50" charset="-128"/>
                <a:ea typeface="Meiryo UI" panose="020B0604030504040204" pitchFamily="50" charset="-128"/>
                <a:cs typeface="Arial" panose="020B0604020202020204" pitchFamily="34" charset="0"/>
              </a:rPr>
              <a:t>休日と</a:t>
            </a:r>
            <a:r>
              <a:rPr lang="ja-JP" altLang="en-US" sz="1200" b="1" dirty="0" smtClean="0">
                <a:latin typeface="Meiryo UI" panose="020B0604030504040204" pitchFamily="50" charset="-128"/>
                <a:ea typeface="Meiryo UI" panose="020B0604030504040204" pitchFamily="50" charset="-128"/>
                <a:cs typeface="Arial" panose="020B0604020202020204" pitchFamily="34" charset="0"/>
              </a:rPr>
              <a:t>は</a:t>
            </a:r>
            <a:endParaRPr lang="ja-JP" altLang="en-US" sz="1200" b="1"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ファミリー休日に</a:t>
            </a:r>
            <a:r>
              <a:rPr lang="ja-JP" altLang="en-US" sz="1200" dirty="0">
                <a:latin typeface="Meiryo UI" panose="020B0604030504040204" pitchFamily="50" charset="-128"/>
                <a:ea typeface="Meiryo UI" panose="020B0604030504040204" pitchFamily="50" charset="-128"/>
                <a:cs typeface="Arial" panose="020B0604020202020204" pitchFamily="34" charset="0"/>
              </a:rPr>
              <a:t>ついて説明します</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a:t>
            </a: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a:latin typeface="Meiryo UI" panose="020B0604030504040204" pitchFamily="50" charset="-128"/>
                <a:ea typeface="Meiryo UI" panose="020B0604030504040204" pitchFamily="50" charset="-128"/>
                <a:cs typeface="Arial" panose="020B0604020202020204" pitchFamily="34" charset="0"/>
              </a:rPr>
              <a:t>ファミリー休日は、1年間に</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4日間設定できます。</a:t>
            </a: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みなさん</a:t>
            </a:r>
            <a:r>
              <a:rPr lang="ja-JP" altLang="en-US" sz="1200" dirty="0">
                <a:latin typeface="Meiryo UI" panose="020B0604030504040204" pitchFamily="50" charset="-128"/>
                <a:ea typeface="Meiryo UI" panose="020B0604030504040204" pitchFamily="50" charset="-128"/>
                <a:cs typeface="Arial" panose="020B0604020202020204" pitchFamily="34" charset="0"/>
              </a:rPr>
              <a:t>が家族や友だち</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と</a:t>
            </a:r>
            <a:r>
              <a:rPr lang="ja-JP" altLang="en-US" sz="1200" dirty="0">
                <a:latin typeface="Meiryo UI" panose="020B0604030504040204" pitchFamily="50" charset="-128"/>
                <a:ea typeface="Meiryo UI" panose="020B0604030504040204" pitchFamily="50" charset="-128"/>
                <a:cs typeface="Arial" panose="020B0604020202020204" pitchFamily="34" charset="0"/>
              </a:rPr>
              <a:t>一緒</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に過ごせる</a:t>
            </a:r>
            <a:r>
              <a:rPr lang="ja-JP" altLang="en-US" sz="1200" dirty="0">
                <a:latin typeface="Meiryo UI" panose="020B0604030504040204" pitchFamily="50" charset="-128"/>
                <a:ea typeface="Meiryo UI" panose="020B0604030504040204" pitchFamily="50" charset="-128"/>
                <a:cs typeface="Arial" panose="020B0604020202020204" pitchFamily="34" charset="0"/>
              </a:rPr>
              <a:t>ように、この休みをつくりました</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a:t>
            </a:r>
            <a:endParaRPr lang="en-US" altLang="ja-JP" sz="1200" dirty="0" smtClean="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・4月</a:t>
            </a:r>
            <a:r>
              <a:rPr lang="ja-JP" altLang="en-US" sz="1200" dirty="0">
                <a:latin typeface="Meiryo UI" panose="020B0604030504040204" pitchFamily="50" charset="-128"/>
                <a:ea typeface="Meiryo UI" panose="020B0604030504040204" pitchFamily="50" charset="-128"/>
                <a:cs typeface="Arial" panose="020B0604020202020204" pitchFamily="34" charset="0"/>
              </a:rPr>
              <a:t>から9月までに2日（上期</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a:t>
            </a: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a:latin typeface="Meiryo UI" panose="020B0604030504040204" pitchFamily="50" charset="-128"/>
                <a:ea typeface="Meiryo UI" panose="020B0604030504040204" pitchFamily="50" charset="-128"/>
                <a:cs typeface="Arial" panose="020B0604020202020204" pitchFamily="34" charset="0"/>
              </a:rPr>
              <a:t> </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10月</a:t>
            </a:r>
            <a:r>
              <a:rPr lang="ja-JP" altLang="en-US" sz="1200" dirty="0">
                <a:latin typeface="Meiryo UI" panose="020B0604030504040204" pitchFamily="50" charset="-128"/>
                <a:ea typeface="Meiryo UI" panose="020B0604030504040204" pitchFamily="50" charset="-128"/>
                <a:cs typeface="Arial" panose="020B0604020202020204" pitchFamily="34" charset="0"/>
              </a:rPr>
              <a:t>から3月までに2日（下期</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a:t>
            </a:r>
            <a:endParaRPr lang="en-US" altLang="ja-JP" sz="1200" dirty="0" smtClean="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endParaRPr lang="en-US" altLang="ja-JP" sz="1200" dirty="0" smtClean="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a:latin typeface="Meiryo UI" panose="020B0604030504040204" pitchFamily="50" charset="-128"/>
                <a:ea typeface="Meiryo UI" panose="020B0604030504040204" pitchFamily="50" charset="-128"/>
                <a:cs typeface="Arial" panose="020B0604020202020204" pitchFamily="34" charset="0"/>
              </a:rPr>
              <a:t>・ </a:t>
            </a:r>
            <a:r>
              <a:rPr lang="en-US" altLang="ja-JP" sz="1200" b="1" dirty="0" smtClean="0">
                <a:latin typeface="Meiryo UI" panose="020B0604030504040204" pitchFamily="50" charset="-128"/>
                <a:ea typeface="Meiryo UI" panose="020B0604030504040204" pitchFamily="50" charset="-128"/>
              </a:rPr>
              <a:t>7</a:t>
            </a:r>
            <a:r>
              <a:rPr lang="ja-JP" altLang="en-US" sz="1200" b="1" dirty="0" smtClean="0">
                <a:latin typeface="Meiryo UI" panose="020B0604030504040204" pitchFamily="50" charset="-128"/>
                <a:ea typeface="Meiryo UI" panose="020B0604030504040204" pitchFamily="50" charset="-128"/>
              </a:rPr>
              <a:t>月</a:t>
            </a:r>
            <a:r>
              <a:rPr lang="en-US" altLang="ja-JP" sz="1200" b="1" dirty="0" smtClean="0">
                <a:latin typeface="Meiryo UI" panose="020B0604030504040204" pitchFamily="50" charset="-128"/>
                <a:ea typeface="Meiryo UI" panose="020B0604030504040204" pitchFamily="50" charset="-128"/>
              </a:rPr>
              <a:t>12</a:t>
            </a:r>
            <a:r>
              <a:rPr lang="ja-JP" altLang="en-US" sz="1200" b="1" dirty="0" smtClean="0">
                <a:latin typeface="Meiryo UI" panose="020B0604030504040204" pitchFamily="50" charset="-128"/>
                <a:ea typeface="Meiryo UI" panose="020B0604030504040204" pitchFamily="50" charset="-128"/>
              </a:rPr>
              <a:t>日</a:t>
            </a:r>
            <a:r>
              <a:rPr lang="ja-JP" altLang="en-US" sz="1200" b="1" dirty="0">
                <a:latin typeface="Meiryo UI" panose="020B0604030504040204" pitchFamily="50" charset="-128"/>
                <a:ea typeface="Meiryo UI" panose="020B0604030504040204" pitchFamily="50" charset="-128"/>
              </a:rPr>
              <a:t>に</a:t>
            </a:r>
            <a:r>
              <a:rPr lang="ja-JP" altLang="en-US" sz="1200" b="1" dirty="0" smtClean="0">
                <a:latin typeface="Meiryo UI" panose="020B0604030504040204" pitchFamily="50" charset="-128"/>
                <a:ea typeface="Meiryo UI" panose="020B0604030504040204" pitchFamily="50" charset="-128"/>
              </a:rPr>
              <a:t>入社</a:t>
            </a:r>
            <a:r>
              <a:rPr lang="ja-JP" altLang="en-US" sz="1200" b="1" dirty="0">
                <a:latin typeface="Meiryo UI" panose="020B0604030504040204" pitchFamily="50" charset="-128"/>
                <a:ea typeface="Meiryo UI" panose="020B0604030504040204" pitchFamily="50" charset="-128"/>
              </a:rPr>
              <a:t>した</a:t>
            </a:r>
            <a:r>
              <a:rPr lang="ja-JP" altLang="en-US" sz="1200" b="1" dirty="0" smtClean="0">
                <a:latin typeface="Meiryo UI" panose="020B0604030504040204" pitchFamily="50" charset="-128"/>
                <a:ea typeface="Meiryo UI" panose="020B0604030504040204" pitchFamily="50" charset="-128"/>
              </a:rPr>
              <a:t>みなさん</a:t>
            </a:r>
            <a:r>
              <a:rPr lang="ja-JP" altLang="en-US" sz="1200" b="1" dirty="0">
                <a:latin typeface="Meiryo UI" panose="020B0604030504040204" pitchFamily="50" charset="-128"/>
                <a:ea typeface="Meiryo UI" panose="020B0604030504040204" pitchFamily="50" charset="-128"/>
              </a:rPr>
              <a:t>は、</a:t>
            </a:r>
            <a:br>
              <a:rPr lang="ja-JP" altLang="en-US" sz="1200" b="1" dirty="0">
                <a:latin typeface="Meiryo UI" panose="020B0604030504040204" pitchFamily="50" charset="-128"/>
                <a:ea typeface="Meiryo UI" panose="020B0604030504040204" pitchFamily="50" charset="-128"/>
              </a:rPr>
            </a:br>
            <a:r>
              <a:rPr lang="ja-JP" altLang="en-US" sz="1200" dirty="0">
                <a:latin typeface="Meiryo UI" panose="020B0604030504040204" pitchFamily="50" charset="-128"/>
                <a:ea typeface="Meiryo UI" panose="020B0604030504040204" pitchFamily="50" charset="-128"/>
                <a:cs typeface="Arial" panose="020B0604020202020204" pitchFamily="34" charset="0"/>
              </a:rPr>
              <a:t>・4月から9月までに2日（上期）</a:t>
            </a:r>
          </a:p>
          <a:p>
            <a:pPr>
              <a:lnSpc>
                <a:spcPct val="150000"/>
              </a:lnSpc>
            </a:pPr>
            <a:r>
              <a:rPr lang="ja-JP" altLang="en-US" sz="1200" dirty="0">
                <a:latin typeface="Meiryo UI" panose="020B0604030504040204" pitchFamily="50" charset="-128"/>
                <a:ea typeface="Meiryo UI" panose="020B0604030504040204" pitchFamily="50" charset="-128"/>
                <a:cs typeface="Arial" panose="020B0604020202020204" pitchFamily="34" charset="0"/>
              </a:rPr>
              <a:t> 10月から3月までに2日（下期）</a:t>
            </a:r>
            <a:endParaRPr lang="en-US" altLang="ja-JP"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b="1" dirty="0">
                <a:latin typeface="Meiryo UI" panose="020B0604030504040204" pitchFamily="50" charset="-128"/>
                <a:ea typeface="Meiryo UI" panose="020B0604030504040204" pitchFamily="50" charset="-128"/>
              </a:rPr>
              <a:t/>
            </a:r>
            <a:br>
              <a:rPr lang="ja-JP" altLang="en-US" sz="1200" b="1" dirty="0">
                <a:latin typeface="Meiryo UI" panose="020B0604030504040204" pitchFamily="50" charset="-128"/>
                <a:ea typeface="Meiryo UI" panose="020B0604030504040204" pitchFamily="50" charset="-128"/>
              </a:rPr>
            </a:br>
            <a:r>
              <a:rPr lang="ja-JP" altLang="en-US" sz="1200" b="1" dirty="0">
                <a:latin typeface="Meiryo UI" panose="020B0604030504040204" pitchFamily="50" charset="-128"/>
                <a:ea typeface="Meiryo UI" panose="020B0604030504040204" pitchFamily="50" charset="-128"/>
              </a:rPr>
              <a:t>ファミリー休日</a:t>
            </a:r>
            <a:r>
              <a:rPr lang="ja-JP" altLang="en-US" sz="1200" b="1" dirty="0" smtClean="0">
                <a:latin typeface="Meiryo UI" panose="020B0604030504040204" pitchFamily="50" charset="-128"/>
                <a:ea typeface="Meiryo UI" panose="020B0604030504040204" pitchFamily="50" charset="-128"/>
              </a:rPr>
              <a:t>を</a:t>
            </a:r>
            <a:r>
              <a:rPr lang="en-US" altLang="ja-JP" sz="1200" b="1" dirty="0" smtClean="0">
                <a:latin typeface="Meiryo UI" panose="020B0604030504040204" pitchFamily="50" charset="-128"/>
                <a:ea typeface="Meiryo UI" panose="020B0604030504040204" pitchFamily="50" charset="-128"/>
              </a:rPr>
              <a:t>4</a:t>
            </a:r>
            <a:r>
              <a:rPr lang="ja-JP" altLang="en-US" sz="1200" b="1" dirty="0" smtClean="0">
                <a:latin typeface="Meiryo UI" panose="020B0604030504040204" pitchFamily="50" charset="-128"/>
                <a:ea typeface="Meiryo UI" panose="020B0604030504040204" pitchFamily="50" charset="-128"/>
              </a:rPr>
              <a:t>日</a:t>
            </a:r>
            <a:r>
              <a:rPr lang="ja-JP" altLang="en-US" sz="1200" b="1" dirty="0">
                <a:latin typeface="Meiryo UI" panose="020B0604030504040204" pitchFamily="50" charset="-128"/>
                <a:ea typeface="Meiryo UI" panose="020B0604030504040204" pitchFamily="50" charset="-128"/>
              </a:rPr>
              <a:t>利用することができます</a:t>
            </a:r>
            <a:r>
              <a:rPr lang="ja-JP" altLang="en-US" sz="1200" b="1" dirty="0" smtClean="0">
                <a:latin typeface="Meiryo UI" panose="020B0604030504040204" pitchFamily="50" charset="-128"/>
                <a:ea typeface="Meiryo UI" panose="020B0604030504040204" pitchFamily="50" charset="-128"/>
              </a:rPr>
              <a:t>。</a:t>
            </a:r>
            <a:endParaRPr lang="en-US" altLang="ja-JP" sz="1200" b="1" dirty="0" smtClean="0">
              <a:latin typeface="Meiryo UI" panose="020B0604030504040204" pitchFamily="50" charset="-128"/>
              <a:ea typeface="Meiryo UI" panose="020B0604030504040204" pitchFamily="50" charset="-128"/>
            </a:endParaRPr>
          </a:p>
          <a:p>
            <a:pPr>
              <a:lnSpc>
                <a:spcPct val="150000"/>
              </a:lnSpc>
            </a:pPr>
            <a:endParaRPr lang="ja-JP" altLang="en-US" sz="1200" b="1"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・土曜日・日曜日・祝日を</a:t>
            </a:r>
            <a:r>
              <a:rPr lang="ja-JP" altLang="en-US" sz="1200" dirty="0">
                <a:latin typeface="Meiryo UI" panose="020B0604030504040204" pitchFamily="50" charset="-128"/>
                <a:ea typeface="Meiryo UI" panose="020B0604030504040204" pitchFamily="50" charset="-128"/>
                <a:cs typeface="Arial" panose="020B0604020202020204" pitchFamily="34" charset="0"/>
              </a:rPr>
              <a:t>選んで登録します</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a:t>
            </a: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1日ずつ休む</a:t>
            </a:r>
            <a:r>
              <a:rPr lang="ja-JP" altLang="en-US" sz="1200" dirty="0">
                <a:latin typeface="Meiryo UI" panose="020B0604030504040204" pitchFamily="50" charset="-128"/>
                <a:ea typeface="Meiryo UI" panose="020B0604030504040204" pitchFamily="50" charset="-128"/>
                <a:cs typeface="Arial" panose="020B0604020202020204" pitchFamily="34" charset="0"/>
              </a:rPr>
              <a:t>こと</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も</a:t>
            </a:r>
            <a:r>
              <a:rPr lang="ja-JP" altLang="en-US" sz="1200" dirty="0">
                <a:latin typeface="Meiryo UI" panose="020B0604030504040204" pitchFamily="50" charset="-128"/>
                <a:ea typeface="Meiryo UI" panose="020B0604030504040204" pitchFamily="50" charset="-128"/>
                <a:cs typeface="Arial" panose="020B0604020202020204" pitchFamily="34" charset="0"/>
              </a:rPr>
              <a:t>、</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2日</a:t>
            </a:r>
            <a:r>
              <a:rPr lang="ja-JP" altLang="en-US" sz="1200" dirty="0">
                <a:latin typeface="Meiryo UI" panose="020B0604030504040204" pitchFamily="50" charset="-128"/>
                <a:ea typeface="Meiryo UI" panose="020B0604030504040204" pitchFamily="50" charset="-128"/>
                <a:cs typeface="Arial" panose="020B0604020202020204" pitchFamily="34" charset="0"/>
              </a:rPr>
              <a:t>続けて</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休む</a:t>
            </a:r>
            <a:r>
              <a:rPr lang="ja-JP" altLang="en-US" sz="1200" dirty="0">
                <a:latin typeface="Meiryo UI" panose="020B0604030504040204" pitchFamily="50" charset="-128"/>
                <a:ea typeface="Meiryo UI" panose="020B0604030504040204" pitchFamily="50" charset="-128"/>
                <a:cs typeface="Arial" panose="020B0604020202020204" pitchFamily="34" charset="0"/>
              </a:rPr>
              <a:t>こともできます</a:t>
            </a:r>
            <a:r>
              <a:rPr lang="ja-JP" altLang="en-US" sz="1200" dirty="0" smtClean="0">
                <a:latin typeface="Meiryo UI" panose="020B0604030504040204" pitchFamily="50" charset="-128"/>
                <a:ea typeface="Meiryo UI" panose="020B0604030504040204" pitchFamily="50" charset="-128"/>
                <a:cs typeface="Arial" panose="020B0604020202020204" pitchFamily="34" charset="0"/>
              </a:rPr>
              <a:t>。</a:t>
            </a:r>
            <a:endParaRPr lang="en-US" altLang="ja-JP" sz="1200" dirty="0" smtClean="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a:p>
            <a:pPr>
              <a:lnSpc>
                <a:spcPct val="150000"/>
              </a:lnSpc>
            </a:pPr>
            <a:endParaRPr lang="ja-JP" altLang="en-US" sz="1200" dirty="0">
              <a:latin typeface="Meiryo UI" panose="020B0604030504040204" pitchFamily="50" charset="-128"/>
              <a:ea typeface="Meiryo UI" panose="020B0604030504040204" pitchFamily="50" charset="-128"/>
              <a:cs typeface="Arial" panose="020B0604020202020204" pitchFamily="34" charset="0"/>
            </a:endParaRPr>
          </a:p>
        </p:txBody>
      </p:sp>
      <p:sp>
        <p:nvSpPr>
          <p:cNvPr id="2" name="正方形/長方形 1"/>
          <p:cNvSpPr/>
          <p:nvPr/>
        </p:nvSpPr>
        <p:spPr>
          <a:xfrm>
            <a:off x="4572000" y="1308279"/>
            <a:ext cx="4572000" cy="4881273"/>
          </a:xfrm>
          <a:prstGeom prst="rect">
            <a:avLst/>
          </a:prstGeom>
        </p:spPr>
        <p:txBody>
          <a:bodyPr>
            <a:spAutoFit/>
          </a:bodyPr>
          <a:lstStyle/>
          <a:p>
            <a:pPr>
              <a:lnSpc>
                <a:spcPct val="150000"/>
              </a:lnSpc>
            </a:pPr>
            <a:r>
              <a:rPr lang="ja-JP" altLang="en-US" sz="1100" dirty="0">
                <a:latin typeface="Meiryo UI" panose="020B0604030504040204" pitchFamily="50" charset="-128"/>
                <a:ea typeface="Meiryo UI" panose="020B0604030504040204" pitchFamily="50" charset="-128"/>
              </a:rPr>
              <a:t>・Tentang Cuti Keluarga (Family Holiday)</a:t>
            </a:r>
          </a:p>
          <a:p>
            <a:pPr>
              <a:lnSpc>
                <a:spcPct val="150000"/>
              </a:lnSpc>
            </a:pPr>
            <a:r>
              <a:rPr lang="ja-JP" altLang="en-US" sz="1100" dirty="0">
                <a:latin typeface="Meiryo UI" panose="020B0604030504040204" pitchFamily="50" charset="-128"/>
                <a:ea typeface="Meiryo UI" panose="020B0604030504040204" pitchFamily="50" charset="-128"/>
              </a:rPr>
              <a:t>Berikut penjelasan mengenai Family Holiday.</a:t>
            </a:r>
          </a:p>
          <a:p>
            <a:pPr>
              <a:lnSpc>
                <a:spcPct val="150000"/>
              </a:lnSpc>
            </a:pPr>
            <a:r>
              <a:rPr lang="ja-JP" altLang="en-US" sz="1100" dirty="0">
                <a:latin typeface="Meiryo UI" panose="020B0604030504040204" pitchFamily="50" charset="-128"/>
                <a:ea typeface="Meiryo UI" panose="020B0604030504040204" pitchFamily="50" charset="-128"/>
              </a:rPr>
              <a:t>Family Holiday adalah cuti yang dapat digunakan sebanyak 4 hari dalam 1 tahun.</a:t>
            </a:r>
          </a:p>
          <a:p>
            <a:pPr>
              <a:lnSpc>
                <a:spcPct val="150000"/>
              </a:lnSpc>
            </a:pPr>
            <a:r>
              <a:rPr lang="ja-JP" altLang="en-US" sz="1100" dirty="0">
                <a:latin typeface="Meiryo UI" panose="020B0604030504040204" pitchFamily="50" charset="-128"/>
                <a:ea typeface="Meiryo UI" panose="020B0604030504040204" pitchFamily="50" charset="-128"/>
              </a:rPr>
              <a:t>Cuti ini disediakan agar kalian dapat menghabiskan waktu bersama keluarga atau teman-teman.</a:t>
            </a:r>
          </a:p>
          <a:p>
            <a:pPr>
              <a:lnSpc>
                <a:spcPct val="150000"/>
              </a:lnSpc>
            </a:pPr>
            <a:r>
              <a:rPr lang="ja-JP" altLang="en-US" sz="1100" dirty="0">
                <a:latin typeface="Meiryo UI" panose="020B0604030504040204" pitchFamily="50" charset="-128"/>
                <a:ea typeface="Meiryo UI" panose="020B0604030504040204" pitchFamily="50" charset="-128"/>
              </a:rPr>
              <a:t>2 hari dapat digunakan pada periode April sampai September (semester pertama).</a:t>
            </a:r>
          </a:p>
          <a:p>
            <a:pPr>
              <a:lnSpc>
                <a:spcPct val="150000"/>
              </a:lnSpc>
            </a:pPr>
            <a:r>
              <a:rPr lang="ja-JP" altLang="en-US" sz="1100" dirty="0">
                <a:latin typeface="Meiryo UI" panose="020B0604030504040204" pitchFamily="50" charset="-128"/>
                <a:ea typeface="Meiryo UI" panose="020B0604030504040204" pitchFamily="50" charset="-128"/>
              </a:rPr>
              <a:t>2 hari dapat digunakan pada periode Oktober sampai Maret (semester kedua).</a:t>
            </a:r>
          </a:p>
          <a:p>
            <a:pPr>
              <a:lnSpc>
                <a:spcPct val="150000"/>
              </a:lnSpc>
            </a:pPr>
            <a:r>
              <a:rPr lang="ja-JP" altLang="en-US" sz="1100" dirty="0">
                <a:latin typeface="Meiryo UI" panose="020B0604030504040204" pitchFamily="50" charset="-128"/>
                <a:ea typeface="Meiryo UI" panose="020B0604030504040204" pitchFamily="50" charset="-128"/>
              </a:rPr>
              <a:t>Bagi kalian yang mulai bekerja pada tanggal 12 Juli, </a:t>
            </a:r>
            <a:endParaRPr lang="en-US" altLang="ja-JP" sz="1100" dirty="0" smtClean="0">
              <a:latin typeface="Meiryo UI" panose="020B0604030504040204" pitchFamily="50" charset="-128"/>
              <a:ea typeface="Meiryo UI" panose="020B0604030504040204" pitchFamily="50" charset="-128"/>
            </a:endParaRPr>
          </a:p>
          <a:p>
            <a:pPr>
              <a:lnSpc>
                <a:spcPct val="150000"/>
              </a:lnSpc>
            </a:pPr>
            <a:r>
              <a:rPr lang="ja-JP" altLang="en-US" sz="1100" dirty="0" smtClean="0">
                <a:latin typeface="Meiryo UI" panose="020B0604030504040204" pitchFamily="50" charset="-128"/>
                <a:ea typeface="Meiryo UI" panose="020B0604030504040204" pitchFamily="50" charset="-128"/>
              </a:rPr>
              <a:t>kalian </a:t>
            </a:r>
            <a:r>
              <a:rPr lang="ja-JP" altLang="en-US" sz="1100" dirty="0">
                <a:latin typeface="Meiryo UI" panose="020B0604030504040204" pitchFamily="50" charset="-128"/>
                <a:ea typeface="Meiryo UI" panose="020B0604030504040204" pitchFamily="50" charset="-128"/>
              </a:rPr>
              <a:t>juga dapat menggunakan 4 hari Family Holiday, yaitu:</a:t>
            </a:r>
          </a:p>
          <a:p>
            <a:pPr>
              <a:lnSpc>
                <a:spcPct val="150000"/>
              </a:lnSpc>
            </a:pPr>
            <a:r>
              <a:rPr lang="ja-JP" altLang="en-US" sz="1100" dirty="0">
                <a:latin typeface="Meiryo UI" panose="020B0604030504040204" pitchFamily="50" charset="-128"/>
                <a:ea typeface="Meiryo UI" panose="020B0604030504040204" pitchFamily="50" charset="-128"/>
              </a:rPr>
              <a:t>2 hari pada periode April sampai September (semester pertama).</a:t>
            </a:r>
          </a:p>
          <a:p>
            <a:pPr>
              <a:lnSpc>
                <a:spcPct val="150000"/>
              </a:lnSpc>
            </a:pPr>
            <a:r>
              <a:rPr lang="ja-JP" altLang="en-US" sz="1100" dirty="0">
                <a:latin typeface="Meiryo UI" panose="020B0604030504040204" pitchFamily="50" charset="-128"/>
                <a:ea typeface="Meiryo UI" panose="020B0604030504040204" pitchFamily="50" charset="-128"/>
              </a:rPr>
              <a:t>2 hari pada periode Oktober sampai Maret (semester kedua).</a:t>
            </a:r>
          </a:p>
          <a:p>
            <a:pPr>
              <a:lnSpc>
                <a:spcPct val="150000"/>
              </a:lnSpc>
            </a:pPr>
            <a:r>
              <a:rPr lang="ja-JP" altLang="en-US" sz="1100" dirty="0">
                <a:latin typeface="Meiryo UI" panose="020B0604030504040204" pitchFamily="50" charset="-128"/>
                <a:ea typeface="Meiryo UI" panose="020B0604030504040204" pitchFamily="50" charset="-128"/>
              </a:rPr>
              <a:t>Silakan memilih dan mendaftarkan hari Sabtu, Minggu, atau hari libur nasional sebagai Family Holiday.</a:t>
            </a:r>
          </a:p>
          <a:p>
            <a:pPr>
              <a:lnSpc>
                <a:spcPct val="150000"/>
              </a:lnSpc>
            </a:pPr>
            <a:r>
              <a:rPr lang="ja-JP" altLang="en-US" sz="1100" dirty="0">
                <a:latin typeface="Meiryo UI" panose="020B0604030504040204" pitchFamily="50" charset="-128"/>
                <a:ea typeface="Meiryo UI" panose="020B0604030504040204" pitchFamily="50" charset="-128"/>
              </a:rPr>
              <a:t>Cuti dapat diambil 1 hari secara terpisah, atau 2 hari berturut-turut.</a:t>
            </a:r>
          </a:p>
        </p:txBody>
      </p:sp>
    </p:spTree>
    <p:extLst>
      <p:ext uri="{BB962C8B-B14F-4D97-AF65-F5344CB8AC3E}">
        <p14:creationId xmlns:p14="http://schemas.microsoft.com/office/powerpoint/2010/main" val="11877375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rotWithShape="1">
          <a:blip r:embed="rId2"/>
          <a:srcRect l="3922" r="3063"/>
          <a:stretch/>
        </p:blipFill>
        <p:spPr>
          <a:xfrm>
            <a:off x="228601" y="290480"/>
            <a:ext cx="8829954" cy="6211920"/>
          </a:xfrm>
          <a:prstGeom prst="rect">
            <a:avLst/>
          </a:prstGeom>
        </p:spPr>
      </p:pic>
      <p:sp>
        <p:nvSpPr>
          <p:cNvPr id="6" name="正方形/長方形 5"/>
          <p:cNvSpPr/>
          <p:nvPr/>
        </p:nvSpPr>
        <p:spPr>
          <a:xfrm>
            <a:off x="228601" y="2984500"/>
            <a:ext cx="6997699" cy="3276600"/>
          </a:xfrm>
          <a:prstGeom prst="rect">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p:nvSpPr>
        <p:spPr>
          <a:xfrm>
            <a:off x="5511800" y="1295400"/>
            <a:ext cx="1714500" cy="1689100"/>
          </a:xfrm>
          <a:prstGeom prst="rect">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角丸四角形吹き出し 2"/>
          <p:cNvSpPr/>
          <p:nvPr/>
        </p:nvSpPr>
        <p:spPr>
          <a:xfrm>
            <a:off x="7226300" y="508000"/>
            <a:ext cx="1722577" cy="698500"/>
          </a:xfrm>
          <a:prstGeom prst="wedgeRoundRectCallout">
            <a:avLst>
              <a:gd name="adj1" fmla="val -20833"/>
              <a:gd name="adj2" fmla="val 71591"/>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dirty="0" smtClean="0">
                <a:solidFill>
                  <a:sysClr val="windowText" lastClr="000000"/>
                </a:solidFill>
              </a:rPr>
              <a:t>2026</a:t>
            </a:r>
            <a:r>
              <a:rPr lang="ja-JP" altLang="en-US" sz="1050" dirty="0" smtClean="0">
                <a:solidFill>
                  <a:sysClr val="windowText" lastClr="000000"/>
                </a:solidFill>
              </a:rPr>
              <a:t>年度毎月の休日数</a:t>
            </a:r>
            <a:endParaRPr lang="en-US" altLang="ja-JP" sz="1050" dirty="0" smtClean="0">
              <a:solidFill>
                <a:sysClr val="windowText" lastClr="000000"/>
              </a:solidFill>
            </a:endParaRPr>
          </a:p>
          <a:p>
            <a:pPr algn="ctr"/>
            <a:r>
              <a:rPr lang="en-US" altLang="ja-JP" sz="1050" dirty="0" err="1">
                <a:solidFill>
                  <a:schemeClr val="tx1"/>
                </a:solidFill>
              </a:rPr>
              <a:t>Jumlah</a:t>
            </a:r>
            <a:r>
              <a:rPr lang="en-US" altLang="ja-JP" sz="1050" dirty="0">
                <a:solidFill>
                  <a:schemeClr val="tx1"/>
                </a:solidFill>
              </a:rPr>
              <a:t> </a:t>
            </a:r>
            <a:r>
              <a:rPr lang="en-US" altLang="ja-JP" sz="1050" dirty="0" err="1">
                <a:solidFill>
                  <a:schemeClr val="tx1"/>
                </a:solidFill>
              </a:rPr>
              <a:t>hari</a:t>
            </a:r>
            <a:r>
              <a:rPr lang="en-US" altLang="ja-JP" sz="1050" dirty="0">
                <a:solidFill>
                  <a:schemeClr val="tx1"/>
                </a:solidFill>
              </a:rPr>
              <a:t> </a:t>
            </a:r>
            <a:r>
              <a:rPr lang="en-US" altLang="ja-JP" sz="1050" dirty="0" err="1">
                <a:solidFill>
                  <a:schemeClr val="tx1"/>
                </a:solidFill>
              </a:rPr>
              <a:t>libur</a:t>
            </a:r>
            <a:r>
              <a:rPr lang="en-US" altLang="ja-JP" sz="1050" dirty="0">
                <a:solidFill>
                  <a:schemeClr val="tx1"/>
                </a:solidFill>
              </a:rPr>
              <a:t> </a:t>
            </a:r>
            <a:r>
              <a:rPr lang="en-US" altLang="ja-JP" sz="1050" dirty="0" err="1">
                <a:solidFill>
                  <a:schemeClr val="tx1"/>
                </a:solidFill>
              </a:rPr>
              <a:t>setiap</a:t>
            </a:r>
            <a:r>
              <a:rPr lang="en-US" altLang="ja-JP" sz="1050" dirty="0">
                <a:solidFill>
                  <a:schemeClr val="tx1"/>
                </a:solidFill>
              </a:rPr>
              <a:t> </a:t>
            </a:r>
            <a:r>
              <a:rPr lang="en-US" altLang="ja-JP" sz="1050" dirty="0" err="1">
                <a:solidFill>
                  <a:schemeClr val="tx1"/>
                </a:solidFill>
              </a:rPr>
              <a:t>bulan</a:t>
            </a:r>
            <a:r>
              <a:rPr lang="en-US" altLang="ja-JP" sz="1050" dirty="0">
                <a:solidFill>
                  <a:schemeClr val="tx1"/>
                </a:solidFill>
              </a:rPr>
              <a:t> </a:t>
            </a:r>
            <a:r>
              <a:rPr lang="en-US" altLang="ja-JP" sz="1050" dirty="0" err="1">
                <a:solidFill>
                  <a:schemeClr val="tx1"/>
                </a:solidFill>
              </a:rPr>
              <a:t>pada</a:t>
            </a:r>
            <a:r>
              <a:rPr lang="en-US" altLang="ja-JP" sz="1050" dirty="0">
                <a:solidFill>
                  <a:schemeClr val="tx1"/>
                </a:solidFill>
              </a:rPr>
              <a:t> </a:t>
            </a:r>
            <a:r>
              <a:rPr lang="en-US" altLang="ja-JP" sz="1050" dirty="0" err="1">
                <a:solidFill>
                  <a:schemeClr val="tx1"/>
                </a:solidFill>
              </a:rPr>
              <a:t>tahun</a:t>
            </a:r>
            <a:r>
              <a:rPr lang="en-US" altLang="ja-JP" sz="1050" dirty="0">
                <a:solidFill>
                  <a:schemeClr val="tx1"/>
                </a:solidFill>
              </a:rPr>
              <a:t> </a:t>
            </a:r>
            <a:r>
              <a:rPr lang="en-US" altLang="ja-JP" sz="1050" dirty="0" err="1">
                <a:solidFill>
                  <a:schemeClr val="tx1"/>
                </a:solidFill>
              </a:rPr>
              <a:t>fiskal</a:t>
            </a:r>
            <a:r>
              <a:rPr lang="en-US" altLang="ja-JP" sz="1050" dirty="0">
                <a:solidFill>
                  <a:schemeClr val="tx1"/>
                </a:solidFill>
              </a:rPr>
              <a:t> 2026 </a:t>
            </a:r>
            <a:endParaRPr kumimoji="1" lang="ja-JP" altLang="en-US" sz="1050" dirty="0">
              <a:solidFill>
                <a:schemeClr val="tx1"/>
              </a:solidFill>
            </a:endParaRPr>
          </a:p>
        </p:txBody>
      </p:sp>
    </p:spTree>
    <p:extLst>
      <p:ext uri="{BB962C8B-B14F-4D97-AF65-F5344CB8AC3E}">
        <p14:creationId xmlns:p14="http://schemas.microsoft.com/office/powerpoint/2010/main" val="3378852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81192" y="687475"/>
            <a:ext cx="7989752" cy="709525"/>
          </a:xfrm>
        </p:spPr>
        <p:txBody>
          <a:bodyPr>
            <a:noAutofit/>
          </a:bodyPr>
          <a:lstStyle/>
          <a:p>
            <a:pPr lvl="0" algn="ctr"/>
            <a:r>
              <a:rPr lang="ja-JP" altLang="en-US" sz="4000" b="1" dirty="0">
                <a:latin typeface="Meiryo UI" panose="020B0604030504040204" pitchFamily="50" charset="-128"/>
                <a:ea typeface="Meiryo UI" panose="020B0604030504040204" pitchFamily="50" charset="-128"/>
              </a:rPr>
              <a:t>寮の</a:t>
            </a:r>
            <a:r>
              <a:rPr lang="ja-JP" altLang="en-US" sz="4000" b="1" dirty="0" smtClean="0">
                <a:latin typeface="Meiryo UI" panose="020B0604030504040204" pitchFamily="50" charset="-128"/>
                <a:ea typeface="Meiryo UI" panose="020B0604030504040204" pitchFamily="50" charset="-128"/>
              </a:rPr>
              <a:t>規則</a:t>
            </a:r>
            <a:endParaRPr kumimoji="1" lang="ja-JP" altLang="en-US" sz="4000" dirty="0">
              <a:latin typeface="Meiryo UI" panose="020B0604030504040204" pitchFamily="50" charset="-128"/>
              <a:ea typeface="Meiryo UI" panose="020B0604030504040204" pitchFamily="50" charset="-128"/>
            </a:endParaRPr>
          </a:p>
        </p:txBody>
      </p:sp>
      <p:sp>
        <p:nvSpPr>
          <p:cNvPr id="3" name="テキスト ボックス 2"/>
          <p:cNvSpPr txBox="1"/>
          <p:nvPr/>
        </p:nvSpPr>
        <p:spPr>
          <a:xfrm>
            <a:off x="581193" y="1173248"/>
            <a:ext cx="7989751" cy="646331"/>
          </a:xfrm>
          <a:prstGeom prst="rect">
            <a:avLst/>
          </a:prstGeom>
          <a:noFill/>
        </p:spPr>
        <p:txBody>
          <a:bodyPr wrap="square" rtlCol="0">
            <a:spAutoFit/>
          </a:bodyPr>
          <a:lstStyle/>
          <a:p>
            <a:pPr algn="ctr"/>
            <a:r>
              <a:rPr lang="en-US" altLang="ja-JP" sz="3600" dirty="0" err="1">
                <a:solidFill>
                  <a:schemeClr val="bg1"/>
                </a:solidFill>
              </a:rPr>
              <a:t>Peraturan</a:t>
            </a:r>
            <a:r>
              <a:rPr lang="en-US" altLang="ja-JP" sz="3600" dirty="0">
                <a:solidFill>
                  <a:schemeClr val="bg1"/>
                </a:solidFill>
              </a:rPr>
              <a:t> </a:t>
            </a:r>
            <a:r>
              <a:rPr lang="en-US" altLang="ja-JP" sz="3600" dirty="0" err="1">
                <a:solidFill>
                  <a:schemeClr val="bg1"/>
                </a:solidFill>
              </a:rPr>
              <a:t>Asrama</a:t>
            </a:r>
            <a:endParaRPr kumimoji="1" lang="ja-JP" altLang="en-US" sz="3600" b="1" dirty="0">
              <a:solidFill>
                <a:schemeClr val="bg1"/>
              </a:solidFill>
              <a:latin typeface="Times New Roman" panose="02020603050405020304" pitchFamily="18" charset="0"/>
              <a:cs typeface="Times New Roman" panose="02020603050405020304" pitchFamily="18" charset="0"/>
            </a:endParaRPr>
          </a:p>
        </p:txBody>
      </p:sp>
      <p:pic>
        <p:nvPicPr>
          <p:cNvPr id="6" name="図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1191" y="590831"/>
            <a:ext cx="1953015" cy="1164834"/>
          </a:xfrm>
          <a:prstGeom prst="rect">
            <a:avLst/>
          </a:prstGeom>
        </p:spPr>
      </p:pic>
      <p:sp>
        <p:nvSpPr>
          <p:cNvPr id="8" name="正方形/長方形 7"/>
          <p:cNvSpPr/>
          <p:nvPr/>
        </p:nvSpPr>
        <p:spPr>
          <a:xfrm>
            <a:off x="6832601" y="54651"/>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配布資料</a:t>
            </a:r>
            <a:endParaRPr kumimoji="1" lang="ja-JP" altLang="en-US" dirty="0">
              <a:solidFill>
                <a:schemeClr val="tx1"/>
              </a:solidFill>
            </a:endParaRPr>
          </a:p>
        </p:txBody>
      </p:sp>
      <p:sp>
        <p:nvSpPr>
          <p:cNvPr id="7" name="正方形/長方形 6"/>
          <p:cNvSpPr/>
          <p:nvPr/>
        </p:nvSpPr>
        <p:spPr>
          <a:xfrm>
            <a:off x="5281764" y="2226514"/>
            <a:ext cx="1562642" cy="2128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smtClean="0">
                <a:ln w="0"/>
                <a:solidFill>
                  <a:schemeClr val="tx1"/>
                </a:solidFill>
                <a:effectLst>
                  <a:outerShdw blurRad="38100" dist="19050" dir="2700000" algn="tl" rotWithShape="0">
                    <a:schemeClr val="dk1">
                      <a:alpha val="40000"/>
                    </a:schemeClr>
                  </a:outerShdw>
                </a:effectLst>
              </a:rPr>
              <a:t>TIC</a:t>
            </a:r>
            <a:r>
              <a:rPr kumimoji="1" lang="ja-JP" altLang="en-US" dirty="0" smtClean="0">
                <a:ln w="0"/>
                <a:solidFill>
                  <a:schemeClr val="tx1"/>
                </a:solidFill>
                <a:effectLst>
                  <a:outerShdw blurRad="38100" dist="19050" dir="2700000" algn="tl" rotWithShape="0">
                    <a:schemeClr val="dk1">
                      <a:alpha val="40000"/>
                    </a:schemeClr>
                  </a:outerShdw>
                </a:effectLst>
              </a:rPr>
              <a:t>確認画すんだら</a:t>
            </a:r>
            <a:r>
              <a:rPr kumimoji="1" lang="en-US" altLang="ja-JP" dirty="0" smtClean="0">
                <a:ln w="0"/>
                <a:solidFill>
                  <a:schemeClr val="tx1"/>
                </a:solidFill>
                <a:effectLst>
                  <a:outerShdw blurRad="38100" dist="19050" dir="2700000" algn="tl" rotWithShape="0">
                    <a:schemeClr val="dk1">
                      <a:alpha val="40000"/>
                    </a:schemeClr>
                  </a:outerShdw>
                </a:effectLst>
              </a:rPr>
              <a:t>QR</a:t>
            </a:r>
            <a:endParaRPr kumimoji="1" lang="ja-JP" alt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87705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243534" y="768886"/>
            <a:ext cx="1428750" cy="1428750"/>
          </a:xfrm>
          <a:prstGeom prst="rect">
            <a:avLst/>
          </a:prstGeom>
        </p:spPr>
      </p:pic>
      <p:sp>
        <p:nvSpPr>
          <p:cNvPr id="3" name="正方形/長方形 2"/>
          <p:cNvSpPr/>
          <p:nvPr/>
        </p:nvSpPr>
        <p:spPr>
          <a:xfrm>
            <a:off x="402634" y="2403952"/>
            <a:ext cx="1226618" cy="430887"/>
          </a:xfrm>
          <a:prstGeom prst="rect">
            <a:avLst/>
          </a:prstGeom>
        </p:spPr>
        <p:txBody>
          <a:bodyPr wrap="none">
            <a:spAutoFit/>
          </a:bodyPr>
          <a:lstStyle/>
          <a:p>
            <a:r>
              <a:rPr lang="ja-JP" altLang="en-US" sz="1100" b="1" dirty="0" smtClean="0">
                <a:latin typeface="Meiryo UI" panose="020B0604030504040204" pitchFamily="50" charset="-128"/>
                <a:ea typeface="Meiryo UI" panose="020B0604030504040204" pitchFamily="50" charset="-128"/>
              </a:rPr>
              <a:t>フリガナ版　</a:t>
            </a:r>
            <a:endParaRPr lang="en-US" altLang="ja-JP" sz="1100" b="1" dirty="0" smtClean="0">
              <a:latin typeface="Meiryo UI" panose="020B0604030504040204" pitchFamily="50" charset="-128"/>
              <a:ea typeface="Meiryo UI" panose="020B0604030504040204" pitchFamily="50" charset="-128"/>
            </a:endParaRPr>
          </a:p>
          <a:p>
            <a:r>
              <a:rPr lang="ja-JP" altLang="en-US" sz="1100" b="1" dirty="0" smtClean="0">
                <a:latin typeface="Meiryo UI" panose="020B0604030504040204" pitchFamily="50" charset="-128"/>
                <a:ea typeface="Meiryo UI" panose="020B0604030504040204" pitchFamily="50" charset="-128"/>
              </a:rPr>
              <a:t>しあわせ</a:t>
            </a:r>
            <a:r>
              <a:rPr lang="ja-JP" altLang="en-US" sz="1100" b="1" dirty="0">
                <a:latin typeface="Meiryo UI" panose="020B0604030504040204" pitchFamily="50" charset="-128"/>
                <a:ea typeface="Meiryo UI" panose="020B0604030504040204" pitchFamily="50" charset="-128"/>
              </a:rPr>
              <a:t>ターミナル</a:t>
            </a:r>
            <a:endParaRPr lang="ja-JP" altLang="en-US" sz="1100" dirty="0">
              <a:latin typeface="Meiryo UI" panose="020B0604030504040204" pitchFamily="50" charset="-128"/>
              <a:ea typeface="Meiryo UI" panose="020B0604030504040204" pitchFamily="50" charset="-128"/>
            </a:endParaRPr>
          </a:p>
        </p:txBody>
      </p:sp>
      <p:pic>
        <p:nvPicPr>
          <p:cNvPr id="4" name="図 3"/>
          <p:cNvPicPr>
            <a:picLocks noChangeAspect="1"/>
          </p:cNvPicPr>
          <p:nvPr/>
        </p:nvPicPr>
        <p:blipFill>
          <a:blip r:embed="rId3"/>
          <a:stretch>
            <a:fillRect/>
          </a:stretch>
        </p:blipFill>
        <p:spPr>
          <a:xfrm>
            <a:off x="243534" y="4007363"/>
            <a:ext cx="1473979" cy="1473979"/>
          </a:xfrm>
          <a:prstGeom prst="rect">
            <a:avLst/>
          </a:prstGeom>
        </p:spPr>
      </p:pic>
      <p:sp>
        <p:nvSpPr>
          <p:cNvPr id="5" name="正方形/長方形 4"/>
          <p:cNvSpPr/>
          <p:nvPr/>
        </p:nvSpPr>
        <p:spPr>
          <a:xfrm>
            <a:off x="402634" y="5859485"/>
            <a:ext cx="1239442" cy="430887"/>
          </a:xfrm>
          <a:prstGeom prst="rect">
            <a:avLst/>
          </a:prstGeom>
        </p:spPr>
        <p:txBody>
          <a:bodyPr wrap="none">
            <a:spAutoFit/>
          </a:bodyPr>
          <a:lstStyle/>
          <a:p>
            <a:r>
              <a:rPr lang="ja-JP" altLang="en-US" sz="1100" b="1" dirty="0" smtClean="0">
                <a:latin typeface="Meiryo UI" panose="020B0604030504040204" pitchFamily="50" charset="-128"/>
                <a:ea typeface="Meiryo UI" panose="020B0604030504040204" pitchFamily="50" charset="-128"/>
              </a:rPr>
              <a:t>インドネシア語版　</a:t>
            </a:r>
            <a:endParaRPr lang="en-US" altLang="ja-JP" sz="1100" b="1" dirty="0" smtClean="0">
              <a:latin typeface="Meiryo UI" panose="020B0604030504040204" pitchFamily="50" charset="-128"/>
              <a:ea typeface="Meiryo UI" panose="020B0604030504040204" pitchFamily="50" charset="-128"/>
            </a:endParaRPr>
          </a:p>
          <a:p>
            <a:r>
              <a:rPr lang="ja-JP" altLang="en-US" sz="1100" b="1" dirty="0" smtClean="0">
                <a:latin typeface="Meiryo UI" panose="020B0604030504040204" pitchFamily="50" charset="-128"/>
                <a:ea typeface="Meiryo UI" panose="020B0604030504040204" pitchFamily="50" charset="-128"/>
              </a:rPr>
              <a:t>しあわせ</a:t>
            </a:r>
            <a:r>
              <a:rPr lang="ja-JP" altLang="en-US" sz="1100" b="1" dirty="0">
                <a:latin typeface="Meiryo UI" panose="020B0604030504040204" pitchFamily="50" charset="-128"/>
                <a:ea typeface="Meiryo UI" panose="020B0604030504040204" pitchFamily="50" charset="-128"/>
              </a:rPr>
              <a:t>ターミナル</a:t>
            </a:r>
            <a:endParaRPr lang="ja-JP" altLang="en-US" sz="1100" dirty="0">
              <a:latin typeface="Meiryo UI" panose="020B0604030504040204" pitchFamily="50" charset="-128"/>
              <a:ea typeface="Meiryo UI" panose="020B0604030504040204" pitchFamily="50" charset="-128"/>
            </a:endParaRPr>
          </a:p>
        </p:txBody>
      </p:sp>
      <p:sp>
        <p:nvSpPr>
          <p:cNvPr id="7" name="正方形/長方形 6"/>
          <p:cNvSpPr/>
          <p:nvPr/>
        </p:nvSpPr>
        <p:spPr>
          <a:xfrm>
            <a:off x="0" y="3106044"/>
            <a:ext cx="3225800" cy="490134"/>
          </a:xfrm>
          <a:prstGeom prst="rect">
            <a:avLst/>
          </a:prstGeom>
        </p:spPr>
        <p:txBody>
          <a:bodyPr wrap="square">
            <a:spAutoFit/>
          </a:bodyPr>
          <a:lstStyle/>
          <a:p>
            <a:pPr lvl="0" defTabSz="1066800">
              <a:spcBef>
                <a:spcPct val="0"/>
              </a:spcBef>
              <a:spcAft>
                <a:spcPct val="35000"/>
              </a:spcAft>
            </a:pPr>
            <a:r>
              <a:rPr lang="es-ES" altLang="ja-JP" sz="1100" dirty="0">
                <a:latin typeface="Meiryo UI" panose="020B0604030504040204" pitchFamily="50" charset="-128"/>
                <a:ea typeface="Meiryo UI" panose="020B0604030504040204" pitchFamily="50" charset="-128"/>
              </a:rPr>
              <a:t>Membaca dan Memahami Buku </a:t>
            </a:r>
            <a:endParaRPr lang="es-ES" altLang="ja-JP" sz="1100" dirty="0" smtClean="0">
              <a:latin typeface="Meiryo UI" panose="020B0604030504040204" pitchFamily="50" charset="-128"/>
              <a:ea typeface="Meiryo UI" panose="020B0604030504040204" pitchFamily="50" charset="-128"/>
            </a:endParaRPr>
          </a:p>
          <a:p>
            <a:pPr lvl="0" defTabSz="1066800">
              <a:spcBef>
                <a:spcPct val="0"/>
              </a:spcBef>
              <a:spcAft>
                <a:spcPct val="35000"/>
              </a:spcAft>
            </a:pPr>
            <a:r>
              <a:rPr lang="es-ES" altLang="ja-JP" sz="1100" dirty="0" smtClean="0">
                <a:latin typeface="Meiryo UI" panose="020B0604030504040204" pitchFamily="50" charset="-128"/>
                <a:ea typeface="Meiryo UI" panose="020B0604030504040204" pitchFamily="50" charset="-128"/>
              </a:rPr>
              <a:t>“</a:t>
            </a:r>
            <a:r>
              <a:rPr lang="es-ES" altLang="ja-JP" sz="1100" dirty="0">
                <a:latin typeface="Meiryo UI" panose="020B0604030504040204" pitchFamily="50" charset="-128"/>
                <a:ea typeface="Meiryo UI" panose="020B0604030504040204" pitchFamily="50" charset="-128"/>
              </a:rPr>
              <a:t>Shiawase Terminal”</a:t>
            </a:r>
          </a:p>
        </p:txBody>
      </p:sp>
      <p:sp>
        <p:nvSpPr>
          <p:cNvPr id="9" name="正方形/長方形 8"/>
          <p:cNvSpPr/>
          <p:nvPr/>
        </p:nvSpPr>
        <p:spPr>
          <a:xfrm>
            <a:off x="4967668" y="2369504"/>
            <a:ext cx="737702" cy="261610"/>
          </a:xfrm>
          <a:prstGeom prst="rect">
            <a:avLst/>
          </a:prstGeom>
        </p:spPr>
        <p:txBody>
          <a:bodyPr wrap="none">
            <a:spAutoFit/>
          </a:bodyPr>
          <a:lstStyle/>
          <a:p>
            <a:pPr algn="ctr"/>
            <a:r>
              <a:rPr lang="ja-JP" altLang="en-US" sz="1100" b="1" dirty="0">
                <a:latin typeface="Meiryo UI" panose="020B0604030504040204" pitchFamily="50" charset="-128"/>
                <a:ea typeface="Meiryo UI" panose="020B0604030504040204" pitchFamily="50" charset="-128"/>
              </a:rPr>
              <a:t>寮の規則</a:t>
            </a:r>
            <a:endParaRPr lang="ja-JP" altLang="en-US" sz="1100" dirty="0">
              <a:latin typeface="Meiryo UI" panose="020B0604030504040204" pitchFamily="50" charset="-128"/>
              <a:ea typeface="Meiryo UI" panose="020B0604030504040204" pitchFamily="50" charset="-128"/>
            </a:endParaRPr>
          </a:p>
        </p:txBody>
      </p:sp>
      <p:sp>
        <p:nvSpPr>
          <p:cNvPr id="10" name="正方形/長方形 9"/>
          <p:cNvSpPr/>
          <p:nvPr/>
        </p:nvSpPr>
        <p:spPr>
          <a:xfrm>
            <a:off x="4647811" y="2537106"/>
            <a:ext cx="1425390" cy="261610"/>
          </a:xfrm>
          <a:prstGeom prst="rect">
            <a:avLst/>
          </a:prstGeom>
        </p:spPr>
        <p:txBody>
          <a:bodyPr wrap="none">
            <a:spAutoFit/>
          </a:bodyPr>
          <a:lstStyle/>
          <a:p>
            <a:pPr algn="ctr"/>
            <a:r>
              <a:rPr lang="en-US" altLang="ja-JP" sz="1100" dirty="0" err="1">
                <a:latin typeface="Meiryo UI" panose="020B0604030504040204" pitchFamily="50" charset="-128"/>
                <a:ea typeface="Meiryo UI" panose="020B0604030504040204" pitchFamily="50" charset="-128"/>
              </a:rPr>
              <a:t>Peraturan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Asrama</a:t>
            </a:r>
            <a:endParaRPr lang="ja-JP" altLang="en-US" sz="1100" b="1" dirty="0">
              <a:latin typeface="Meiryo UI" panose="020B0604030504040204" pitchFamily="50" charset="-128"/>
              <a:ea typeface="Meiryo UI" panose="020B0604030504040204" pitchFamily="50" charset="-128"/>
              <a:cs typeface="Times New Roman" panose="02020603050405020304" pitchFamily="18" charset="0"/>
            </a:endParaRPr>
          </a:p>
        </p:txBody>
      </p:sp>
      <p:sp>
        <p:nvSpPr>
          <p:cNvPr id="11" name="正方形/長方形 10"/>
          <p:cNvSpPr/>
          <p:nvPr/>
        </p:nvSpPr>
        <p:spPr>
          <a:xfrm>
            <a:off x="2242484" y="5944124"/>
            <a:ext cx="1742982" cy="261610"/>
          </a:xfrm>
          <a:prstGeom prst="rect">
            <a:avLst/>
          </a:prstGeom>
        </p:spPr>
        <p:txBody>
          <a:bodyPr wrap="square">
            <a:spAutoFit/>
          </a:bodyPr>
          <a:lstStyle/>
          <a:p>
            <a:pPr algn="ctr"/>
            <a:r>
              <a:rPr lang="ja-JP" altLang="en-US" sz="1100" b="1" dirty="0">
                <a:latin typeface="Meiryo UI" panose="020B0604030504040204" pitchFamily="50" charset="-128"/>
                <a:ea typeface="Meiryo UI" panose="020B0604030504040204" pitchFamily="50" charset="-128"/>
              </a:rPr>
              <a:t>接遇マナー</a:t>
            </a:r>
            <a:endParaRPr lang="ja-JP" altLang="en-US" sz="1100" dirty="0">
              <a:latin typeface="Meiryo UI" panose="020B0604030504040204" pitchFamily="50" charset="-128"/>
              <a:ea typeface="Meiryo UI" panose="020B0604030504040204" pitchFamily="50" charset="-128"/>
            </a:endParaRPr>
          </a:p>
        </p:txBody>
      </p:sp>
      <p:sp>
        <p:nvSpPr>
          <p:cNvPr id="12" name="正方形/長方形 11"/>
          <p:cNvSpPr/>
          <p:nvPr/>
        </p:nvSpPr>
        <p:spPr>
          <a:xfrm>
            <a:off x="2025566" y="6313456"/>
            <a:ext cx="2073514" cy="261610"/>
          </a:xfrm>
          <a:prstGeom prst="rect">
            <a:avLst/>
          </a:prstGeom>
        </p:spPr>
        <p:txBody>
          <a:bodyPr wrap="square">
            <a:spAutoFit/>
          </a:bodyPr>
          <a:lstStyle/>
          <a:p>
            <a:pPr algn="ctr"/>
            <a:r>
              <a:rPr lang="en-US" altLang="ja-JP" sz="1100" dirty="0" err="1">
                <a:latin typeface="Meiryo UI" panose="020B0604030504040204" pitchFamily="50" charset="-128"/>
                <a:ea typeface="Meiryo UI" panose="020B0604030504040204" pitchFamily="50" charset="-128"/>
              </a:rPr>
              <a:t>Etika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Pelayanan</a:t>
            </a:r>
            <a:r>
              <a:rPr lang="en-US" altLang="ja-JP" sz="1100" dirty="0">
                <a:latin typeface="Meiryo UI" panose="020B0604030504040204" pitchFamily="50" charset="-128"/>
                <a:ea typeface="Meiryo UI" panose="020B0604030504040204" pitchFamily="50" charset="-128"/>
              </a:rPr>
              <a:t> </a:t>
            </a:r>
            <a:endParaRPr lang="ja-JP" altLang="en-US" sz="1100" dirty="0">
              <a:latin typeface="Meiryo UI" panose="020B0604030504040204" pitchFamily="50" charset="-128"/>
              <a:ea typeface="Meiryo UI" panose="020B0604030504040204" pitchFamily="50" charset="-128"/>
            </a:endParaRPr>
          </a:p>
        </p:txBody>
      </p:sp>
      <p:sp>
        <p:nvSpPr>
          <p:cNvPr id="13" name="正方形/長方形 12"/>
          <p:cNvSpPr/>
          <p:nvPr/>
        </p:nvSpPr>
        <p:spPr>
          <a:xfrm>
            <a:off x="4403907" y="5944124"/>
            <a:ext cx="1442739" cy="261610"/>
          </a:xfrm>
          <a:prstGeom prst="rect">
            <a:avLst/>
          </a:prstGeom>
        </p:spPr>
        <p:txBody>
          <a:bodyPr wrap="square">
            <a:spAutoFit/>
          </a:bodyPr>
          <a:lstStyle/>
          <a:p>
            <a:r>
              <a:rPr lang="ja-JP" altLang="en-US" sz="1100" b="1" dirty="0">
                <a:latin typeface="Meiryo UI" panose="020B0604030504040204" pitchFamily="50" charset="-128"/>
                <a:ea typeface="Meiryo UI" panose="020B0604030504040204" pitchFamily="50" charset="-128"/>
              </a:rPr>
              <a:t>身だしなみ</a:t>
            </a:r>
            <a:endParaRPr lang="ja-JP" altLang="en-US" sz="1100" dirty="0">
              <a:latin typeface="Meiryo UI" panose="020B0604030504040204" pitchFamily="50" charset="-128"/>
              <a:ea typeface="Meiryo UI" panose="020B0604030504040204" pitchFamily="50" charset="-128"/>
            </a:endParaRPr>
          </a:p>
        </p:txBody>
      </p:sp>
      <p:sp>
        <p:nvSpPr>
          <p:cNvPr id="14" name="正方形/長方形 13"/>
          <p:cNvSpPr/>
          <p:nvPr/>
        </p:nvSpPr>
        <p:spPr>
          <a:xfrm>
            <a:off x="4321070" y="6313456"/>
            <a:ext cx="2219563" cy="261610"/>
          </a:xfrm>
          <a:prstGeom prst="rect">
            <a:avLst/>
          </a:prstGeom>
        </p:spPr>
        <p:txBody>
          <a:bodyPr wrap="square">
            <a:spAutoFit/>
          </a:bodyPr>
          <a:lstStyle/>
          <a:p>
            <a:r>
              <a:rPr lang="en-US" altLang="ja-JP" sz="1100" dirty="0" err="1">
                <a:latin typeface="Meiryo UI" panose="020B0604030504040204" pitchFamily="50" charset="-128"/>
                <a:ea typeface="Meiryo UI" panose="020B0604030504040204" pitchFamily="50" charset="-128"/>
              </a:rPr>
              <a:t>Penampilan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Diri</a:t>
            </a:r>
            <a:r>
              <a:rPr lang="en-US" altLang="ja-JP" sz="1100" dirty="0">
                <a:latin typeface="Meiryo UI" panose="020B0604030504040204" pitchFamily="50" charset="-128"/>
                <a:ea typeface="Meiryo UI" panose="020B0604030504040204" pitchFamily="50" charset="-128"/>
              </a:rPr>
              <a:t> </a:t>
            </a:r>
            <a:endParaRPr lang="ja-JP" altLang="en-US" sz="1100" dirty="0">
              <a:latin typeface="Meiryo UI" panose="020B0604030504040204" pitchFamily="50" charset="-128"/>
              <a:ea typeface="Meiryo UI" panose="020B0604030504040204" pitchFamily="50" charset="-128"/>
            </a:endParaRPr>
          </a:p>
        </p:txBody>
      </p:sp>
      <p:pic>
        <p:nvPicPr>
          <p:cNvPr id="15" name="図 14"/>
          <p:cNvPicPr>
            <a:picLocks noChangeAspect="1"/>
          </p:cNvPicPr>
          <p:nvPr/>
        </p:nvPicPr>
        <p:blipFill>
          <a:blip r:embed="rId4"/>
          <a:stretch>
            <a:fillRect/>
          </a:stretch>
        </p:blipFill>
        <p:spPr>
          <a:xfrm>
            <a:off x="2328104" y="4007363"/>
            <a:ext cx="1525576" cy="1525576"/>
          </a:xfrm>
          <a:prstGeom prst="rect">
            <a:avLst/>
          </a:prstGeom>
        </p:spPr>
      </p:pic>
      <p:pic>
        <p:nvPicPr>
          <p:cNvPr id="16" name="図 15"/>
          <p:cNvPicPr>
            <a:picLocks noChangeAspect="1"/>
          </p:cNvPicPr>
          <p:nvPr/>
        </p:nvPicPr>
        <p:blipFill>
          <a:blip r:embed="rId5"/>
          <a:stretch>
            <a:fillRect/>
          </a:stretch>
        </p:blipFill>
        <p:spPr>
          <a:xfrm>
            <a:off x="4321070" y="4007363"/>
            <a:ext cx="1525576" cy="1525576"/>
          </a:xfrm>
          <a:prstGeom prst="rect">
            <a:avLst/>
          </a:prstGeom>
        </p:spPr>
      </p:pic>
      <p:pic>
        <p:nvPicPr>
          <p:cNvPr id="17" name="図 16"/>
          <p:cNvPicPr>
            <a:picLocks noChangeAspect="1"/>
          </p:cNvPicPr>
          <p:nvPr/>
        </p:nvPicPr>
        <p:blipFill>
          <a:blip r:embed="rId6"/>
          <a:stretch>
            <a:fillRect/>
          </a:stretch>
        </p:blipFill>
        <p:spPr>
          <a:xfrm>
            <a:off x="6675358" y="782696"/>
            <a:ext cx="1432499" cy="1432499"/>
          </a:xfrm>
          <a:prstGeom prst="rect">
            <a:avLst/>
          </a:prstGeom>
        </p:spPr>
      </p:pic>
      <p:sp>
        <p:nvSpPr>
          <p:cNvPr id="18" name="正方形/長方形 17"/>
          <p:cNvSpPr/>
          <p:nvPr/>
        </p:nvSpPr>
        <p:spPr>
          <a:xfrm>
            <a:off x="6393058" y="2367829"/>
            <a:ext cx="1997100" cy="430887"/>
          </a:xfrm>
          <a:prstGeom prst="rect">
            <a:avLst/>
          </a:prstGeom>
        </p:spPr>
        <p:txBody>
          <a:bodyPr wrap="square">
            <a:spAutoFit/>
          </a:bodyPr>
          <a:lstStyle/>
          <a:p>
            <a:pPr algn="ctr"/>
            <a:r>
              <a:rPr lang="fi-FI" altLang="ja-JP" sz="1100" b="1" u="sng" dirty="0">
                <a:latin typeface="Meiryo UI" panose="020B0604030504040204" pitchFamily="50" charset="-128"/>
                <a:ea typeface="Meiryo UI" panose="020B0604030504040204" pitchFamily="50" charset="-128"/>
                <a:cs typeface="Times New Roman" panose="02020603050405020304" pitchFamily="18" charset="0"/>
              </a:rPr>
              <a:t>TimePro–VG</a:t>
            </a:r>
            <a:r>
              <a:rPr lang="ja-JP" altLang="en-US" sz="1100" b="1" u="sng" dirty="0">
                <a:latin typeface="Meiryo UI" panose="020B0604030504040204" pitchFamily="50" charset="-128"/>
                <a:ea typeface="Meiryo UI" panose="020B0604030504040204" pitchFamily="50" charset="-128"/>
                <a:cs typeface="Times New Roman" panose="02020603050405020304" pitchFamily="18" charset="0"/>
              </a:rPr>
              <a:t> マニュアル</a:t>
            </a:r>
            <a:endParaRPr lang="fi-FI" altLang="ja-JP" sz="1100" b="1" u="sng" dirty="0">
              <a:latin typeface="Meiryo UI" panose="020B0604030504040204" pitchFamily="50" charset="-128"/>
              <a:ea typeface="Meiryo UI" panose="020B0604030504040204" pitchFamily="50" charset="-128"/>
              <a:cs typeface="Times New Roman" panose="02020603050405020304" pitchFamily="18" charset="0"/>
            </a:endParaRPr>
          </a:p>
          <a:p>
            <a:pPr algn="ctr"/>
            <a:r>
              <a:rPr lang="fi-FI" altLang="ja-JP" sz="1100" b="1" dirty="0">
                <a:latin typeface="Times New Roman" panose="02020603050405020304" pitchFamily="18" charset="0"/>
                <a:cs typeface="Times New Roman" panose="02020603050405020304" pitchFamily="18" charset="0"/>
              </a:rPr>
              <a:t>Panduan Penggunaan </a:t>
            </a:r>
            <a:endParaRPr lang="ja-JP" altLang="en-US" sz="1100" dirty="0"/>
          </a:p>
        </p:txBody>
      </p:sp>
      <p:sp>
        <p:nvSpPr>
          <p:cNvPr id="19" name="AutoShape 2" descr="https://qr.scan.page/uploads/qr_codes/QJMxc2.svg?178185813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Tree>
    <p:extLst>
      <p:ext uri="{BB962C8B-B14F-4D97-AF65-F5344CB8AC3E}">
        <p14:creationId xmlns:p14="http://schemas.microsoft.com/office/powerpoint/2010/main" val="27212168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81191" y="480750"/>
            <a:ext cx="7989752" cy="827374"/>
          </a:xfrm>
        </p:spPr>
        <p:txBody>
          <a:bodyPr>
            <a:normAutofit/>
          </a:bodyPr>
          <a:lstStyle/>
          <a:p>
            <a:pPr algn="ctr"/>
            <a:r>
              <a:rPr lang="ja-JP" altLang="en-US" sz="4000" b="1" dirty="0" smtClean="0">
                <a:latin typeface="Meiryo UI" panose="020B0604030504040204" pitchFamily="50" charset="-128"/>
                <a:ea typeface="Meiryo UI" panose="020B0604030504040204" pitchFamily="50" charset="-128"/>
              </a:rPr>
              <a:t>店舗（あいち）</a:t>
            </a:r>
            <a:endParaRPr lang="en-US" altLang="ja-JP" sz="4000" b="1" dirty="0">
              <a:latin typeface="Meiryo UI" panose="020B0604030504040204" pitchFamily="50" charset="-128"/>
              <a:ea typeface="Meiryo UI" panose="020B0604030504040204" pitchFamily="50" charset="-128"/>
            </a:endParaRPr>
          </a:p>
        </p:txBody>
      </p:sp>
      <p:sp>
        <p:nvSpPr>
          <p:cNvPr id="7" name="テキスト ボックス 6"/>
          <p:cNvSpPr txBox="1"/>
          <p:nvPr/>
        </p:nvSpPr>
        <p:spPr>
          <a:xfrm>
            <a:off x="581192" y="1255910"/>
            <a:ext cx="7989751" cy="646331"/>
          </a:xfrm>
          <a:prstGeom prst="rect">
            <a:avLst/>
          </a:prstGeom>
          <a:noFill/>
        </p:spPr>
        <p:txBody>
          <a:bodyPr wrap="square" rtlCol="0">
            <a:spAutoFit/>
          </a:bodyPr>
          <a:lstStyle/>
          <a:p>
            <a:pPr algn="ctr"/>
            <a:r>
              <a:rPr lang="en-US" altLang="ja-JP" sz="3600" dirty="0" err="1" smtClean="0">
                <a:solidFill>
                  <a:schemeClr val="bg1"/>
                </a:solidFill>
              </a:rPr>
              <a:t>Toko</a:t>
            </a:r>
            <a:endParaRPr kumimoji="1" lang="ja-JP" altLang="en-US" sz="3600" b="1" dirty="0">
              <a:solidFill>
                <a:schemeClr val="bg1"/>
              </a:solidFill>
              <a:latin typeface="Times New Roman" panose="02020603050405020304" pitchFamily="18" charset="0"/>
              <a:cs typeface="Times New Roman" panose="02020603050405020304" pitchFamily="18" charset="0"/>
            </a:endParaRPr>
          </a:p>
        </p:txBody>
      </p:sp>
      <p:pic>
        <p:nvPicPr>
          <p:cNvPr id="9" name="図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6484" y="4934857"/>
            <a:ext cx="2959166" cy="1923143"/>
          </a:xfrm>
          <a:prstGeom prst="rect">
            <a:avLst/>
          </a:prstGeom>
        </p:spPr>
      </p:pic>
      <p:sp>
        <p:nvSpPr>
          <p:cNvPr id="18" name="コンテンツ プレースホルダー 3"/>
          <p:cNvSpPr txBox="1">
            <a:spLocks/>
          </p:cNvSpPr>
          <p:nvPr/>
        </p:nvSpPr>
        <p:spPr>
          <a:xfrm>
            <a:off x="226171" y="3551974"/>
            <a:ext cx="4498229" cy="2886549"/>
          </a:xfrm>
          <a:prstGeom prst="rect">
            <a:avLst/>
          </a:prstGeom>
          <a:noFill/>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charset="2"/>
              <a:buChar char=""/>
              <a:defRPr kumimoji="1"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charset="2"/>
              <a:buChar char=""/>
              <a:defRPr kumimoji="1"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charset="2"/>
              <a:buChar char=""/>
              <a:defRPr kumimoji="1"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charset="2"/>
              <a:buChar char=""/>
              <a:defRPr kumimoji="1" sz="1200" kern="1200">
                <a:solidFill>
                  <a:schemeClr val="tx2"/>
                </a:solidFill>
                <a:latin typeface="+mn-lt"/>
                <a:ea typeface="+mn-ea"/>
                <a:cs typeface="+mn-cs"/>
              </a:defRPr>
            </a:lvl9pPr>
          </a:lstStyle>
          <a:p>
            <a:pPr>
              <a:lnSpc>
                <a:spcPct val="110000"/>
              </a:lnSpc>
            </a:pPr>
            <a:r>
              <a:rPr lang="ja-JP" altLang="en-US" sz="2000" dirty="0" smtClean="0">
                <a:solidFill>
                  <a:schemeClr val="tx1"/>
                </a:solidFill>
                <a:latin typeface="Meiryo UI" panose="020B0604030504040204" pitchFamily="50" charset="-128"/>
                <a:ea typeface="Meiryo UI" panose="020B0604030504040204" pitchFamily="50" charset="-128"/>
              </a:rPr>
              <a:t>拠点の従業員名簿　</a:t>
            </a:r>
            <a:endParaRPr lang="en-US" altLang="ja-JP" sz="2000" dirty="0" smtClean="0">
              <a:solidFill>
                <a:schemeClr val="tx1"/>
              </a:solidFill>
              <a:latin typeface="Meiryo UI" panose="020B0604030504040204" pitchFamily="50" charset="-128"/>
              <a:ea typeface="Meiryo UI" panose="020B0604030504040204" pitchFamily="50" charset="-128"/>
            </a:endParaRPr>
          </a:p>
          <a:p>
            <a:pPr>
              <a:lnSpc>
                <a:spcPct val="110000"/>
              </a:lnSpc>
            </a:pPr>
            <a:r>
              <a:rPr lang="ja-JP" altLang="en-US" sz="2000" dirty="0" smtClean="0">
                <a:solidFill>
                  <a:schemeClr val="tx1"/>
                </a:solidFill>
                <a:latin typeface="Meiryo UI" panose="020B0604030504040204" pitchFamily="50" charset="-128"/>
                <a:ea typeface="Meiryo UI" panose="020B0604030504040204" pitchFamily="50" charset="-128"/>
              </a:rPr>
              <a:t>連絡先</a:t>
            </a:r>
            <a:endParaRPr lang="ja-JP" altLang="en-US" sz="2000" dirty="0">
              <a:solidFill>
                <a:schemeClr val="tx1"/>
              </a:solidFill>
              <a:latin typeface="Meiryo UI" panose="020B0604030504040204" pitchFamily="50" charset="-128"/>
              <a:ea typeface="Meiryo UI" panose="020B0604030504040204" pitchFamily="50" charset="-128"/>
            </a:endParaRPr>
          </a:p>
        </p:txBody>
      </p:sp>
      <p:sp>
        <p:nvSpPr>
          <p:cNvPr id="5" name="テキスト ボックス 4"/>
          <p:cNvSpPr txBox="1"/>
          <p:nvPr/>
        </p:nvSpPr>
        <p:spPr>
          <a:xfrm>
            <a:off x="3143253" y="6176913"/>
            <a:ext cx="285749" cy="261610"/>
          </a:xfrm>
          <a:prstGeom prst="rect">
            <a:avLst/>
          </a:prstGeom>
          <a:solidFill>
            <a:schemeClr val="bg1"/>
          </a:solidFill>
        </p:spPr>
        <p:txBody>
          <a:bodyPr wrap="square" rtlCol="0">
            <a:spAutoFit/>
          </a:bodyPr>
          <a:lstStyle/>
          <a:p>
            <a:endParaRPr kumimoji="1" lang="ja-JP" altLang="en-US" sz="1050" dirty="0"/>
          </a:p>
        </p:txBody>
      </p:sp>
      <p:sp>
        <p:nvSpPr>
          <p:cNvPr id="12" name="正方形/長方形 11"/>
          <p:cNvSpPr/>
          <p:nvPr/>
        </p:nvSpPr>
        <p:spPr>
          <a:xfrm>
            <a:off x="226171" y="4678194"/>
            <a:ext cx="5160068" cy="19803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lnSpc>
                <a:spcPct val="150000"/>
              </a:lnSpc>
              <a:spcBef>
                <a:spcPct val="0"/>
              </a:spcBef>
              <a:spcAft>
                <a:spcPct val="0"/>
              </a:spcAft>
              <a:buFontTx/>
              <a:buChar char="•"/>
            </a:pPr>
            <a:r>
              <a:rPr kumimoji="0" lang="ja-JP" altLang="ja-JP" b="1" dirty="0">
                <a:solidFill>
                  <a:schemeClr val="tx1"/>
                </a:solidFill>
                <a:latin typeface="Arial" panose="020B0604020202020204" pitchFamily="34" charset="0"/>
              </a:rPr>
              <a:t>Daftar karyawan di cabang</a:t>
            </a:r>
            <a:r>
              <a:rPr kumimoji="0" lang="ja-JP" altLang="ja-JP" dirty="0">
                <a:solidFill>
                  <a:schemeClr val="tx1"/>
                </a:solidFill>
                <a:latin typeface="Arial" panose="020B0604020202020204" pitchFamily="34" charset="0"/>
              </a:rPr>
              <a:t> </a:t>
            </a:r>
          </a:p>
          <a:p>
            <a:pPr lvl="0" eaLnBrk="0" fontAlgn="base" hangingPunct="0">
              <a:lnSpc>
                <a:spcPct val="150000"/>
              </a:lnSpc>
              <a:spcBef>
                <a:spcPct val="0"/>
              </a:spcBef>
              <a:spcAft>
                <a:spcPct val="0"/>
              </a:spcAft>
              <a:buFontTx/>
              <a:buChar char="•"/>
            </a:pPr>
            <a:r>
              <a:rPr kumimoji="0" lang="ja-JP" altLang="ja-JP" b="1" dirty="0" smtClean="0">
                <a:solidFill>
                  <a:schemeClr val="tx1"/>
                </a:solidFill>
                <a:latin typeface="Arial" panose="020B0604020202020204" pitchFamily="34" charset="0"/>
              </a:rPr>
              <a:t>Daftar </a:t>
            </a:r>
            <a:r>
              <a:rPr kumimoji="0" lang="ja-JP" altLang="ja-JP" b="1" dirty="0">
                <a:solidFill>
                  <a:schemeClr val="tx1"/>
                </a:solidFill>
                <a:latin typeface="Arial" panose="020B0604020202020204" pitchFamily="34" charset="0"/>
              </a:rPr>
              <a:t>kontak penting</a:t>
            </a:r>
            <a:r>
              <a:rPr kumimoji="0" lang="ja-JP" altLang="ja-JP" dirty="0">
                <a:solidFill>
                  <a:schemeClr val="tx1"/>
                </a:solidFill>
                <a:latin typeface="Arial" panose="020B0604020202020204" pitchFamily="34" charset="0"/>
              </a:rPr>
              <a:t> </a:t>
            </a:r>
          </a:p>
        </p:txBody>
      </p:sp>
      <p:pic>
        <p:nvPicPr>
          <p:cNvPr id="4" name="図 3"/>
          <p:cNvPicPr>
            <a:picLocks noChangeAspect="1"/>
          </p:cNvPicPr>
          <p:nvPr/>
        </p:nvPicPr>
        <p:blipFill>
          <a:blip r:embed="rId3"/>
          <a:stretch>
            <a:fillRect/>
          </a:stretch>
        </p:blipFill>
        <p:spPr>
          <a:xfrm>
            <a:off x="581191" y="2083284"/>
            <a:ext cx="2266950" cy="2266950"/>
          </a:xfrm>
          <a:prstGeom prst="rect">
            <a:avLst/>
          </a:prstGeom>
        </p:spPr>
      </p:pic>
    </p:spTree>
    <p:extLst>
      <p:ext uri="{BB962C8B-B14F-4D97-AF65-F5344CB8AC3E}">
        <p14:creationId xmlns:p14="http://schemas.microsoft.com/office/powerpoint/2010/main" val="35624610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p:cNvSpPr txBox="1">
            <a:spLocks/>
          </p:cNvSpPr>
          <p:nvPr/>
        </p:nvSpPr>
        <p:spPr>
          <a:xfrm>
            <a:off x="581192" y="687475"/>
            <a:ext cx="7989752" cy="709526"/>
          </a:xfrm>
          <a:prstGeom prst="rect">
            <a:avLst/>
          </a:prstGeom>
        </p:spPr>
        <p:txBody>
          <a:bodyPr vert="horz" lIns="91440" tIns="45720" rIns="91440" bIns="45720" rtlCol="0" anchor="b">
            <a:normAutofit/>
          </a:bodyPr>
          <a:lst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ctr"/>
            <a:r>
              <a:rPr lang="ja-JP" altLang="en-US" sz="4000" b="1" dirty="0">
                <a:latin typeface="Meiryo UI" panose="020B0604030504040204" pitchFamily="50" charset="-128"/>
                <a:ea typeface="Meiryo UI" panose="020B0604030504040204" pitchFamily="50" charset="-128"/>
              </a:rPr>
              <a:t>生活案内</a:t>
            </a:r>
            <a:endParaRPr lang="en-US" altLang="ja-JP" sz="4000" b="1" dirty="0">
              <a:latin typeface="Meiryo UI" panose="020B0604030504040204" pitchFamily="50" charset="-128"/>
              <a:ea typeface="Meiryo UI" panose="020B0604030504040204" pitchFamily="50" charset="-128"/>
            </a:endParaRPr>
          </a:p>
        </p:txBody>
      </p:sp>
      <p:sp>
        <p:nvSpPr>
          <p:cNvPr id="4" name="正方形/長方形 3"/>
          <p:cNvSpPr/>
          <p:nvPr/>
        </p:nvSpPr>
        <p:spPr>
          <a:xfrm>
            <a:off x="581192" y="1358901"/>
            <a:ext cx="7989752" cy="393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600" dirty="0" err="1"/>
              <a:t>Panduan</a:t>
            </a:r>
            <a:r>
              <a:rPr lang="en-US" altLang="ja-JP" sz="3600" dirty="0"/>
              <a:t> </a:t>
            </a:r>
            <a:r>
              <a:rPr lang="en-US" altLang="ja-JP" sz="3600" dirty="0" err="1"/>
              <a:t>Kehidupan</a:t>
            </a:r>
            <a:r>
              <a:rPr lang="en-US" altLang="ja-JP" sz="3600" dirty="0"/>
              <a:t> </a:t>
            </a:r>
            <a:r>
              <a:rPr lang="en-US" altLang="ja-JP" sz="3600" dirty="0" err="1"/>
              <a:t>Sehari-hari</a:t>
            </a:r>
            <a:endParaRPr lang="vi-VN" altLang="ja-JP" sz="3600" b="1" dirty="0">
              <a:solidFill>
                <a:schemeClr val="bg1"/>
              </a:solidFill>
              <a:latin typeface="Times New Roman" panose="02020603050405020304" pitchFamily="18" charset="0"/>
              <a:cs typeface="Times New Roman" panose="02020603050405020304" pitchFamily="18" charset="0"/>
            </a:endParaRPr>
          </a:p>
        </p:txBody>
      </p:sp>
      <p:sp>
        <p:nvSpPr>
          <p:cNvPr id="6" name="タイトル 1"/>
          <p:cNvSpPr txBox="1">
            <a:spLocks/>
          </p:cNvSpPr>
          <p:nvPr/>
        </p:nvSpPr>
        <p:spPr>
          <a:xfrm>
            <a:off x="1154248" y="3541856"/>
            <a:ext cx="7989752" cy="709526"/>
          </a:xfrm>
          <a:prstGeom prst="rect">
            <a:avLst/>
          </a:prstGeom>
        </p:spPr>
        <p:txBody>
          <a:bodyPr vert="horz" lIns="91440" tIns="45720" rIns="91440" bIns="45720" rtlCol="0" anchor="b">
            <a:normAutofit/>
          </a:bodyPr>
          <a:lst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ctr"/>
            <a:endParaRPr lang="en-US" altLang="ja-JP" b="1" dirty="0">
              <a:solidFill>
                <a:schemeClr val="tx1"/>
              </a:solidFill>
              <a:latin typeface="Meiryo UI" panose="020B0604030504040204" pitchFamily="50" charset="-128"/>
              <a:ea typeface="Meiryo UI" panose="020B0604030504040204" pitchFamily="50" charset="-128"/>
            </a:endParaRPr>
          </a:p>
        </p:txBody>
      </p:sp>
      <p:sp>
        <p:nvSpPr>
          <p:cNvPr id="7" name="正方形/長方形 6"/>
          <p:cNvSpPr/>
          <p:nvPr/>
        </p:nvSpPr>
        <p:spPr>
          <a:xfrm>
            <a:off x="636060" y="3632201"/>
            <a:ext cx="7989752" cy="393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vi-VN" altLang="ja-JP" sz="2400" b="1" dirty="0" smtClean="0">
              <a:solidFill>
                <a:schemeClr val="tx1"/>
              </a:solidFill>
              <a:latin typeface="Times New Roman" panose="02020603050405020304" pitchFamily="18" charset="0"/>
              <a:cs typeface="Times New Roman" panose="02020603050405020304" pitchFamily="18" charset="0"/>
            </a:endParaRPr>
          </a:p>
        </p:txBody>
      </p:sp>
      <p:sp>
        <p:nvSpPr>
          <p:cNvPr id="9" name="正方形/長方形 8"/>
          <p:cNvSpPr/>
          <p:nvPr/>
        </p:nvSpPr>
        <p:spPr>
          <a:xfrm>
            <a:off x="1415092" y="1627614"/>
            <a:ext cx="300082" cy="300082"/>
          </a:xfrm>
          <a:prstGeom prst="rect">
            <a:avLst/>
          </a:prstGeom>
        </p:spPr>
        <p:txBody>
          <a:bodyPr wrap="none">
            <a:spAutoFit/>
          </a:bodyPr>
          <a:lstStyle/>
          <a:p>
            <a:r>
              <a:rPr lang="ja-JP" altLang="en-US" sz="1350" dirty="0">
                <a:latin typeface="Meiryo UI" panose="020B0604030504040204" pitchFamily="50" charset="-128"/>
                <a:ea typeface="Meiryo UI" panose="020B0604030504040204" pitchFamily="50" charset="-128"/>
              </a:rPr>
              <a:t>　</a:t>
            </a:r>
            <a:endParaRPr lang="ja-JP" altLang="en-US" sz="1350" dirty="0"/>
          </a:p>
        </p:txBody>
      </p:sp>
      <p:grpSp>
        <p:nvGrpSpPr>
          <p:cNvPr id="13" name="グループ化 12"/>
          <p:cNvGrpSpPr/>
          <p:nvPr/>
        </p:nvGrpSpPr>
        <p:grpSpPr>
          <a:xfrm>
            <a:off x="340618" y="1042238"/>
            <a:ext cx="8470900" cy="3970318"/>
            <a:chOff x="395504" y="2140156"/>
            <a:chExt cx="6977997" cy="3970318"/>
          </a:xfrm>
        </p:grpSpPr>
        <p:sp>
          <p:nvSpPr>
            <p:cNvPr id="10" name="正方形/長方形 9"/>
            <p:cNvSpPr/>
            <p:nvPr/>
          </p:nvSpPr>
          <p:spPr>
            <a:xfrm>
              <a:off x="395504" y="2140156"/>
              <a:ext cx="2880433" cy="3785652"/>
            </a:xfrm>
            <a:prstGeom prst="rect">
              <a:avLst/>
            </a:prstGeom>
          </p:spPr>
          <p:txBody>
            <a:bodyPr wrap="square" spcCol="432000">
              <a:spAutoFit/>
            </a:bodyPr>
            <a:lstStyle/>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扇風機（せん</a:t>
              </a:r>
              <a:r>
                <a:rPr lang="ja-JP" altLang="en-US" sz="1200" b="1" dirty="0">
                  <a:latin typeface="Meiryo UI" panose="020B0604030504040204" pitchFamily="50" charset="-128"/>
                  <a:ea typeface="Meiryo UI" panose="020B0604030504040204" pitchFamily="50" charset="-128"/>
                </a:rPr>
                <a:t>ぷう</a:t>
              </a:r>
              <a:r>
                <a:rPr lang="ja-JP" altLang="en-US" sz="1200" b="1" dirty="0" smtClean="0">
                  <a:latin typeface="Meiryo UI" panose="020B0604030504040204" pitchFamily="50" charset="-128"/>
                  <a:ea typeface="Meiryo UI" panose="020B0604030504040204" pitchFamily="50" charset="-128"/>
                </a:rPr>
                <a:t>き）</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エアコン</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洗濯機（せん</a:t>
              </a:r>
              <a:r>
                <a:rPr lang="ja-JP" altLang="en-US" sz="1200" b="1" dirty="0">
                  <a:latin typeface="Meiryo UI" panose="020B0604030504040204" pitchFamily="50" charset="-128"/>
                  <a:ea typeface="Meiryo UI" panose="020B0604030504040204" pitchFamily="50" charset="-128"/>
                </a:rPr>
                <a:t>たく</a:t>
              </a:r>
              <a:r>
                <a:rPr lang="ja-JP" altLang="en-US" sz="1200" b="1" dirty="0" smtClean="0">
                  <a:latin typeface="Meiryo UI" panose="020B0604030504040204" pitchFamily="50" charset="-128"/>
                  <a:ea typeface="Meiryo UI" panose="020B0604030504040204" pitchFamily="50" charset="-128"/>
                </a:rPr>
                <a:t>き）</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冷蔵庫（れいぞうこ）</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電子レンジ（でんしれんじ）</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トースター</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炊飯器（すいはんき）</a:t>
              </a:r>
              <a:r>
                <a:rPr lang="ja-JP" altLang="en-US" sz="1200" b="1" dirty="0">
                  <a:latin typeface="Meiryo UI" panose="020B0604030504040204" pitchFamily="50" charset="-128"/>
                  <a:ea typeface="Meiryo UI" panose="020B0604030504040204" pitchFamily="50" charset="-128"/>
                </a:rPr>
                <a:t>　</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en-US" altLang="ja-JP" sz="1200" b="1" dirty="0">
                  <a:latin typeface="Meiryo UI" panose="020B0604030504040204" pitchFamily="50" charset="-128"/>
                  <a:ea typeface="Meiryo UI" panose="020B0604030504040204" pitchFamily="50" charset="-128"/>
                </a:rPr>
                <a:t>IH</a:t>
              </a:r>
              <a:r>
                <a:rPr lang="ja-JP" altLang="en-US" sz="1200" b="1" dirty="0">
                  <a:latin typeface="Meiryo UI" panose="020B0604030504040204" pitchFamily="50" charset="-128"/>
                  <a:ea typeface="Meiryo UI" panose="020B0604030504040204" pitchFamily="50" charset="-128"/>
                </a:rPr>
                <a:t>クッキングヒーター</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テレビ、</a:t>
              </a:r>
              <a:r>
                <a:rPr lang="en-US" altLang="ja-JP" sz="1200" b="1" dirty="0" smtClean="0">
                  <a:latin typeface="Meiryo UI" panose="020B0604030504040204" pitchFamily="50" charset="-128"/>
                  <a:ea typeface="Meiryo UI" panose="020B0604030504040204" pitchFamily="50" charset="-128"/>
                </a:rPr>
                <a:t>TV</a:t>
              </a:r>
              <a:r>
                <a:rPr lang="ja-JP" altLang="en-US" sz="1200" b="1" dirty="0" smtClean="0">
                  <a:latin typeface="Meiryo UI" panose="020B0604030504040204" pitchFamily="50" charset="-128"/>
                  <a:ea typeface="Meiryo UI" panose="020B0604030504040204" pitchFamily="50" charset="-128"/>
                </a:rPr>
                <a:t>台</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掃除機（そうじき）</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a:latin typeface="Meiryo UI" panose="020B0604030504040204" pitchFamily="50" charset="-128"/>
                  <a:ea typeface="Meiryo UI" panose="020B0604030504040204" pitchFamily="50" charset="-128"/>
                </a:rPr>
                <a:t>Wi-Fi</a:t>
              </a:r>
              <a:r>
                <a:rPr lang="ja-JP" altLang="en-US" sz="1200" b="1" dirty="0" smtClean="0">
                  <a:latin typeface="Meiryo UI" panose="020B0604030504040204" pitchFamily="50" charset="-128"/>
                  <a:ea typeface="Meiryo UI" panose="020B0604030504040204" pitchFamily="50" charset="-128"/>
                </a:rPr>
                <a:t>ルーター</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a:latin typeface="Meiryo UI" panose="020B0604030504040204" pitchFamily="50" charset="-128"/>
                  <a:ea typeface="Meiryo UI" panose="020B0604030504040204" pitchFamily="50" charset="-128"/>
                </a:rPr>
                <a:t>【換気扇</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照明の種類（2つ）</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シャワー・じゃぐち</a:t>
              </a: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レンジ台・</a:t>
              </a:r>
              <a:r>
                <a:rPr lang="ja-JP" altLang="en-US" sz="1200" b="1" dirty="0">
                  <a:latin typeface="Meiryo UI" panose="020B0604030504040204" pitchFamily="50" charset="-128"/>
                  <a:ea typeface="Meiryo UI" panose="020B0604030504040204" pitchFamily="50" charset="-128"/>
                </a:rPr>
                <a:t>シンク下の</a:t>
              </a:r>
              <a:r>
                <a:rPr lang="ja-JP" altLang="en-US" sz="1200" b="1" dirty="0" smtClean="0">
                  <a:latin typeface="Meiryo UI" panose="020B0604030504040204" pitchFamily="50" charset="-128"/>
                  <a:ea typeface="Meiryo UI" panose="020B0604030504040204" pitchFamily="50" charset="-128"/>
                </a:rPr>
                <a:t>ラック・チェスト</a:t>
              </a:r>
              <a:endParaRPr lang="en-US" altLang="ja-JP" sz="1200" b="1" dirty="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洋服</a:t>
              </a:r>
              <a:r>
                <a:rPr lang="ja-JP" altLang="en-US" sz="1200" b="1" dirty="0">
                  <a:latin typeface="Meiryo UI" panose="020B0604030504040204" pitchFamily="50" charset="-128"/>
                  <a:ea typeface="Meiryo UI" panose="020B0604030504040204" pitchFamily="50" charset="-128"/>
                </a:rPr>
                <a:t>ラック・</a:t>
              </a:r>
              <a:r>
                <a:rPr lang="ja-JP" altLang="en-US" sz="1200" b="1" dirty="0" smtClean="0">
                  <a:latin typeface="Meiryo UI" panose="020B0604030504040204" pitchFamily="50" charset="-128"/>
                  <a:ea typeface="Meiryo UI" panose="020B0604030504040204" pitchFamily="50" charset="-128"/>
                </a:rPr>
                <a:t>ハンガー</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a:latin typeface="Meiryo UI" panose="020B0604030504040204" pitchFamily="50" charset="-128"/>
                  <a:ea typeface="Meiryo UI" panose="020B0604030504040204" pitchFamily="50" charset="-128"/>
                </a:rPr>
                <a:t>ブレーカー（でんきの スイッチ</a:t>
              </a:r>
              <a:r>
                <a:rPr lang="ja-JP" altLang="en-US" sz="1200" b="1" dirty="0" smtClean="0">
                  <a:latin typeface="Meiryo UI" panose="020B0604030504040204" pitchFamily="50" charset="-128"/>
                  <a:ea typeface="Meiryo UI" panose="020B0604030504040204" pitchFamily="50" charset="-128"/>
                </a:rPr>
                <a:t>）</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ゴミ箱（ごみばこ）</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ハンガーラック</a:t>
              </a:r>
              <a:endParaRPr lang="en-US" altLang="ja-JP" sz="1200" b="1" dirty="0" smtClean="0">
                <a:latin typeface="Meiryo UI" panose="020B0604030504040204" pitchFamily="50" charset="-128"/>
                <a:ea typeface="Meiryo UI" panose="020B0604030504040204" pitchFamily="50" charset="-128"/>
              </a:endParaRPr>
            </a:p>
            <a:p>
              <a:pPr marL="257175" indent="-257175">
                <a:buFont typeface="Arial" panose="020B0604020202020204" pitchFamily="34" charset="0"/>
                <a:buChar char="•"/>
              </a:pPr>
              <a:r>
                <a:rPr lang="ja-JP" altLang="en-US" sz="1200" b="1" dirty="0" smtClean="0">
                  <a:latin typeface="Meiryo UI" panose="020B0604030504040204" pitchFamily="50" charset="-128"/>
                  <a:ea typeface="Meiryo UI" panose="020B0604030504040204" pitchFamily="50" charset="-128"/>
                </a:rPr>
                <a:t>ドライヤー</a:t>
              </a:r>
              <a:endParaRPr lang="en-US" altLang="ja-JP" sz="1200" b="1" dirty="0">
                <a:latin typeface="Meiryo UI" panose="020B0604030504040204" pitchFamily="50" charset="-128"/>
                <a:ea typeface="Meiryo UI" panose="020B0604030504040204" pitchFamily="50" charset="-128"/>
              </a:endParaRPr>
            </a:p>
          </p:txBody>
        </p:sp>
        <p:sp>
          <p:nvSpPr>
            <p:cNvPr id="12" name="テキスト ボックス 11"/>
            <p:cNvSpPr txBox="1"/>
            <p:nvPr/>
          </p:nvSpPr>
          <p:spPr>
            <a:xfrm>
              <a:off x="3827736" y="2140156"/>
              <a:ext cx="3545765" cy="3970318"/>
            </a:xfrm>
            <a:prstGeom prst="rect">
              <a:avLst/>
            </a:prstGeom>
            <a:noFill/>
          </p:spPr>
          <p:txBody>
            <a:bodyPr wrap="square" rtlCol="0">
              <a:spAutoFit/>
            </a:bodyPr>
            <a:lstStyle/>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Kipas</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smtClean="0">
                  <a:latin typeface="Arial" panose="020B0604020202020204" pitchFamily="34" charset="0"/>
                  <a:ea typeface="Meiryo UI" panose="020B0604030504040204" pitchFamily="50" charset="-128"/>
                  <a:cs typeface="Arial" panose="020B0604020202020204" pitchFamily="34" charset="0"/>
                </a:rPr>
                <a:t>angina</a:t>
              </a: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Pendingin</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Ruangan</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Mesin</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cuci</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Kulkas</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smtClean="0">
                  <a:latin typeface="Arial" panose="020B0604020202020204" pitchFamily="34" charset="0"/>
                  <a:ea typeface="Meiryo UI" panose="020B0604030504040204" pitchFamily="50" charset="-128"/>
                  <a:cs typeface="Arial" panose="020B0604020202020204" pitchFamily="34" charset="0"/>
                </a:rPr>
                <a:t>Microwave</a:t>
              </a: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Pemanggang</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smtClean="0">
                  <a:latin typeface="Arial" panose="020B0604020202020204" pitchFamily="34" charset="0"/>
                  <a:ea typeface="Meiryo UI" panose="020B0604030504040204" pitchFamily="50" charset="-128"/>
                  <a:cs typeface="Arial" panose="020B0604020202020204" pitchFamily="34" charset="0"/>
                </a:rPr>
                <a:t>roti</a:t>
              </a: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Penanak</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nasi</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smtClean="0">
                  <a:latin typeface="Arial" panose="020B0604020202020204" pitchFamily="34" charset="0"/>
                  <a:ea typeface="Meiryo UI" panose="020B0604030504040204" pitchFamily="50" charset="-128"/>
                  <a:cs typeface="Arial" panose="020B0604020202020204" pitchFamily="34" charset="0"/>
                </a:rPr>
                <a:t>rice </a:t>
              </a:r>
              <a:r>
                <a:rPr lang="en-US" altLang="ja-JP" sz="1200" dirty="0">
                  <a:latin typeface="Arial" panose="020B0604020202020204" pitchFamily="34" charset="0"/>
                  <a:ea typeface="Meiryo UI" panose="020B0604030504040204" pitchFamily="50" charset="-128"/>
                  <a:cs typeface="Arial" panose="020B0604020202020204" pitchFamily="34" charset="0"/>
                </a:rPr>
                <a:t>cooker</a:t>
              </a:r>
              <a:r>
                <a:rPr lang="en-US" altLang="ja-JP" sz="1200" dirty="0" smtClean="0">
                  <a:latin typeface="Arial" panose="020B0604020202020204" pitchFamily="34" charset="0"/>
                  <a:ea typeface="Meiryo UI" panose="020B0604030504040204" pitchFamily="50" charset="-128"/>
                  <a:cs typeface="Arial" panose="020B0604020202020204" pitchFamily="34" charset="0"/>
                </a:rPr>
                <a:t>)</a:t>
              </a: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Kompor</a:t>
              </a:r>
              <a:r>
                <a:rPr lang="en-US" altLang="ja-JP" sz="1200" dirty="0">
                  <a:latin typeface="Arial" panose="020B0604020202020204" pitchFamily="34" charset="0"/>
                  <a:ea typeface="Meiryo UI" panose="020B0604030504040204" pitchFamily="50" charset="-128"/>
                  <a:cs typeface="Arial" panose="020B0604020202020204" pitchFamily="34" charset="0"/>
                </a:rPr>
                <a:t> IH (</a:t>
              </a:r>
              <a:r>
                <a:rPr lang="en-US" altLang="ja-JP" sz="1200" dirty="0" err="1">
                  <a:latin typeface="Arial" panose="020B0604020202020204" pitchFamily="34" charset="0"/>
                  <a:ea typeface="Meiryo UI" panose="020B0604030504040204" pitchFamily="50" charset="-128"/>
                  <a:cs typeface="Arial" panose="020B0604020202020204" pitchFamily="34" charset="0"/>
                </a:rPr>
                <a:t>induksi</a:t>
              </a:r>
              <a:r>
                <a:rPr lang="en-US" altLang="ja-JP" sz="1200" dirty="0" smtClean="0">
                  <a:latin typeface="Arial" panose="020B0604020202020204" pitchFamily="34" charset="0"/>
                  <a:ea typeface="Meiryo UI" panose="020B0604030504040204" pitchFamily="50" charset="-128"/>
                  <a:cs typeface="Arial" panose="020B0604020202020204" pitchFamily="34" charset="0"/>
                </a:rPr>
                <a:t>)</a:t>
              </a: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Televisi</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dan</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meja</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smtClean="0">
                  <a:latin typeface="Arial" panose="020B0604020202020204" pitchFamily="34" charset="0"/>
                  <a:ea typeface="Meiryo UI" panose="020B0604030504040204" pitchFamily="50" charset="-128"/>
                  <a:cs typeface="Arial" panose="020B0604020202020204" pitchFamily="34" charset="0"/>
                </a:rPr>
                <a:t>TV</a:t>
              </a: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Penyedot</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debu</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a:latin typeface="Arial" panose="020B0604020202020204" pitchFamily="34" charset="0"/>
                  <a:ea typeface="Meiryo UI" panose="020B0604030504040204" pitchFamily="50" charset="-128"/>
                  <a:cs typeface="Arial" panose="020B0604020202020204" pitchFamily="34" charset="0"/>
                </a:rPr>
                <a:t>Router </a:t>
              </a:r>
              <a:r>
                <a:rPr lang="en-US" altLang="ja-JP" sz="1200" dirty="0" smtClean="0">
                  <a:latin typeface="Arial" panose="020B0604020202020204" pitchFamily="34" charset="0"/>
                  <a:ea typeface="Meiryo UI" panose="020B0604030504040204" pitchFamily="50" charset="-128"/>
                  <a:cs typeface="Arial" panose="020B0604020202020204" pitchFamily="34" charset="0"/>
                </a:rPr>
                <a:t>Wi-Fi</a:t>
              </a:r>
            </a:p>
            <a:p>
              <a:pPr marL="214313" indent="-214313">
                <a:buFont typeface="Arial" panose="020B0604020202020204" pitchFamily="34" charset="0"/>
                <a:buChar char="•"/>
              </a:pPr>
              <a:r>
                <a:rPr lang="en-US" altLang="ja-JP" sz="1200" dirty="0" err="1">
                  <a:latin typeface="Arial" panose="020B0604020202020204" pitchFamily="34" charset="0"/>
                  <a:cs typeface="Arial" panose="020B0604020202020204" pitchFamily="34" charset="0"/>
                </a:rPr>
                <a:t>Kipas</a:t>
              </a:r>
              <a:r>
                <a:rPr lang="en-US" altLang="ja-JP" sz="1200" dirty="0">
                  <a:latin typeface="Arial" panose="020B0604020202020204" pitchFamily="34" charset="0"/>
                  <a:cs typeface="Arial" panose="020B0604020202020204" pitchFamily="34" charset="0"/>
                </a:rPr>
                <a:t> </a:t>
              </a:r>
              <a:r>
                <a:rPr lang="en-US" altLang="ja-JP" sz="1200" dirty="0" err="1">
                  <a:latin typeface="Arial" panose="020B0604020202020204" pitchFamily="34" charset="0"/>
                  <a:cs typeface="Arial" panose="020B0604020202020204" pitchFamily="34" charset="0"/>
                </a:rPr>
                <a:t>ventilasi</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Pengering</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rambut</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a:latin typeface="Arial" panose="020B0604020202020204" pitchFamily="34" charset="0"/>
                  <a:cs typeface="Arial" panose="020B0604020202020204" pitchFamily="34" charset="0"/>
                </a:rPr>
                <a:t>Keran</a:t>
              </a:r>
              <a:r>
                <a:rPr lang="en-US" altLang="ja-JP" sz="1200" dirty="0">
                  <a:latin typeface="Arial" panose="020B0604020202020204" pitchFamily="34" charset="0"/>
                  <a:cs typeface="Arial" panose="020B0604020202020204" pitchFamily="34" charset="0"/>
                </a:rPr>
                <a:t> Shower</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Rak</a:t>
              </a:r>
              <a:r>
                <a:rPr lang="en-US" altLang="ja-JP" sz="1200" dirty="0" smtClean="0">
                  <a:latin typeface="Arial" panose="020B0604020202020204" pitchFamily="34" charset="0"/>
                  <a:ea typeface="Meiryo UI" panose="020B0604030504040204" pitchFamily="50" charset="-128"/>
                  <a:cs typeface="Arial" panose="020B0604020202020204" pitchFamily="34" charset="0"/>
                </a:rPr>
                <a:t> microwave</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dan</a:t>
              </a:r>
              <a:r>
                <a:rPr lang="en-US" altLang="ja-JP" sz="1200" dirty="0" err="1">
                  <a:latin typeface="Arial" panose="020B0604020202020204" pitchFamily="34" charset="0"/>
                  <a:ea typeface="Meiryo UI" panose="020B0604030504040204" pitchFamily="50" charset="-128"/>
                  <a:cs typeface="Arial" panose="020B0604020202020204" pitchFamily="34" charset="0"/>
                </a:rPr>
                <a:t>Rak</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bawah</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wastafel</a:t>
              </a:r>
              <a:r>
                <a:rPr lang="ja-JP" altLang="en-US" sz="1200" dirty="0" smtClean="0">
                  <a:latin typeface="Arial" panose="020B0604020202020204" pitchFamily="34" charset="0"/>
                  <a:ea typeface="Meiryo UI" panose="020B0604030504040204" pitchFamily="50" charset="-128"/>
                  <a:cs typeface="Arial" panose="020B0604020202020204" pitchFamily="34" charset="0"/>
                </a:rPr>
                <a:t>・</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Lemari</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laci</a:t>
              </a:r>
              <a:endParaRPr lang="en-US" altLang="ja-JP" sz="1200" dirty="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smtClean="0">
                  <a:latin typeface="Arial" panose="020B0604020202020204" pitchFamily="34" charset="0"/>
                  <a:cs typeface="Arial" panose="020B0604020202020204" pitchFamily="34" charset="0"/>
                </a:rPr>
                <a:t>Aturan</a:t>
              </a:r>
              <a:r>
                <a:rPr lang="en-US" altLang="ja-JP" sz="1200" dirty="0" smtClean="0">
                  <a:latin typeface="Arial" panose="020B0604020202020204" pitchFamily="34" charset="0"/>
                  <a:cs typeface="Arial" panose="020B0604020202020204" pitchFamily="34" charset="0"/>
                </a:rPr>
                <a:t> </a:t>
              </a:r>
              <a:r>
                <a:rPr lang="en-US" altLang="ja-JP" sz="1200" dirty="0" err="1">
                  <a:latin typeface="Arial" panose="020B0604020202020204" pitchFamily="34" charset="0"/>
                  <a:cs typeface="Arial" panose="020B0604020202020204" pitchFamily="34" charset="0"/>
                </a:rPr>
                <a:t>Lalu</a:t>
              </a:r>
              <a:r>
                <a:rPr lang="en-US" altLang="ja-JP" sz="1200" dirty="0">
                  <a:latin typeface="Arial" panose="020B0604020202020204" pitchFamily="34" charset="0"/>
                  <a:cs typeface="Arial" panose="020B0604020202020204" pitchFamily="34" charset="0"/>
                </a:rPr>
                <a:t> Lintas di </a:t>
              </a:r>
              <a:r>
                <a:rPr lang="en-US" altLang="ja-JP" sz="1200" dirty="0" err="1">
                  <a:latin typeface="Arial" panose="020B0604020202020204" pitchFamily="34" charset="0"/>
                  <a:cs typeface="Arial" panose="020B0604020202020204" pitchFamily="34" charset="0"/>
                </a:rPr>
                <a:t>Jepang</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a:latin typeface="Arial" panose="020B0604020202020204" pitchFamily="34" charset="0"/>
                  <a:cs typeface="Arial" panose="020B0604020202020204" pitchFamily="34" charset="0"/>
                </a:rPr>
                <a:t>Pemutus</a:t>
              </a:r>
              <a:r>
                <a:rPr lang="en-US" altLang="ja-JP" sz="1200" dirty="0">
                  <a:latin typeface="Arial" panose="020B0604020202020204" pitchFamily="34" charset="0"/>
                  <a:cs typeface="Arial" panose="020B0604020202020204" pitchFamily="34" charset="0"/>
                </a:rPr>
                <a:t> </a:t>
              </a:r>
              <a:r>
                <a:rPr lang="en-US" altLang="ja-JP" sz="1200" dirty="0" err="1">
                  <a:latin typeface="Arial" panose="020B0604020202020204" pitchFamily="34" charset="0"/>
                  <a:cs typeface="Arial" panose="020B0604020202020204" pitchFamily="34" charset="0"/>
                </a:rPr>
                <a:t>Arus</a:t>
              </a:r>
              <a:r>
                <a:rPr lang="en-US" altLang="ja-JP" sz="1200" dirty="0">
                  <a:latin typeface="Arial" panose="020B0604020202020204" pitchFamily="34" charset="0"/>
                  <a:cs typeface="Arial" panose="020B0604020202020204" pitchFamily="34" charset="0"/>
                </a:rPr>
                <a:t> </a:t>
              </a:r>
              <a:r>
                <a:rPr lang="en-US" altLang="ja-JP" sz="1200" dirty="0" err="1">
                  <a:latin typeface="Arial" panose="020B0604020202020204" pitchFamily="34" charset="0"/>
                  <a:cs typeface="Arial" panose="020B0604020202020204" pitchFamily="34" charset="0"/>
                </a:rPr>
                <a:t>Listrik</a:t>
              </a:r>
              <a:r>
                <a:rPr lang="en-US" altLang="ja-JP" sz="1200" dirty="0">
                  <a:latin typeface="Arial" panose="020B0604020202020204" pitchFamily="34" charset="0"/>
                  <a:cs typeface="Arial" panose="020B0604020202020204" pitchFamily="34" charset="0"/>
                </a:rPr>
                <a:t> (MCB)</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Tempat</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sampah</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a:latin typeface="Arial" panose="020B0604020202020204" pitchFamily="34" charset="0"/>
                  <a:ea typeface="Meiryo UI" panose="020B0604030504040204" pitchFamily="50" charset="-128"/>
                  <a:cs typeface="Arial" panose="020B0604020202020204" pitchFamily="34" charset="0"/>
                </a:rPr>
                <a:t>Rak</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a:latin typeface="Arial" panose="020B0604020202020204" pitchFamily="34" charset="0"/>
                  <a:ea typeface="Meiryo UI" panose="020B0604030504040204" pitchFamily="50" charset="-128"/>
                  <a:cs typeface="Arial" panose="020B0604020202020204" pitchFamily="34" charset="0"/>
                </a:rPr>
                <a:t>gantungan</a:t>
              </a:r>
              <a:r>
                <a:rPr lang="en-US" altLang="ja-JP"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err="1" smtClean="0">
                  <a:latin typeface="Arial" panose="020B0604020202020204" pitchFamily="34" charset="0"/>
                  <a:ea typeface="Meiryo UI" panose="020B0604030504040204" pitchFamily="50" charset="-128"/>
                  <a:cs typeface="Arial" panose="020B0604020202020204" pitchFamily="34" charset="0"/>
                </a:rPr>
                <a:t>pakaian</a:t>
              </a:r>
              <a:endParaRPr lang="en-US" altLang="ja-JP" sz="1200" dirty="0" smtClean="0">
                <a:latin typeface="Arial" panose="020B0604020202020204" pitchFamily="34" charset="0"/>
                <a:ea typeface="Meiryo UI" panose="020B0604030504040204" pitchFamily="50" charset="-128"/>
                <a:cs typeface="Arial" panose="020B0604020202020204" pitchFamily="34" charset="0"/>
              </a:endParaRPr>
            </a:p>
            <a:p>
              <a:pPr marL="214313" indent="-214313">
                <a:buFont typeface="Arial" panose="020B0604020202020204" pitchFamily="34" charset="0"/>
                <a:buChar char="•"/>
              </a:pPr>
              <a:r>
                <a:rPr lang="en-US" altLang="ja-JP" sz="1200" dirty="0" err="1" smtClean="0">
                  <a:latin typeface="Arial" panose="020B0604020202020204" pitchFamily="34" charset="0"/>
                  <a:cs typeface="Arial" panose="020B0604020202020204" pitchFamily="34" charset="0"/>
                </a:rPr>
                <a:t>Pengering</a:t>
              </a:r>
              <a:r>
                <a:rPr lang="en-US" altLang="ja-JP" sz="1200" dirty="0" smtClean="0">
                  <a:latin typeface="Arial" panose="020B0604020202020204" pitchFamily="34" charset="0"/>
                  <a:cs typeface="Arial" panose="020B0604020202020204" pitchFamily="34" charset="0"/>
                </a:rPr>
                <a:t> </a:t>
              </a:r>
              <a:r>
                <a:rPr lang="en-US" altLang="ja-JP" sz="1200" dirty="0" err="1">
                  <a:latin typeface="Arial" panose="020B0604020202020204" pitchFamily="34" charset="0"/>
                  <a:cs typeface="Arial" panose="020B0604020202020204" pitchFamily="34" charset="0"/>
                </a:rPr>
                <a:t>rambut</a:t>
              </a:r>
              <a:endParaRPr lang="ja-JP" altLang="en-US" sz="1200" dirty="0">
                <a:latin typeface="Arial" panose="020B0604020202020204" pitchFamily="34" charset="0"/>
                <a:cs typeface="Arial" panose="020B0604020202020204" pitchFamily="34" charset="0"/>
              </a:endParaRPr>
            </a:p>
            <a:p>
              <a:pPr marL="214313" indent="-214313">
                <a:buFont typeface="Arial" panose="020B0604020202020204" pitchFamily="34" charset="0"/>
                <a:buChar char="•"/>
              </a:pPr>
              <a:endParaRPr lang="en-US" altLang="ja-JP" sz="1200" b="1" dirty="0">
                <a:latin typeface="Arial" panose="020B0604020202020204" pitchFamily="34" charset="0"/>
                <a:ea typeface="Meiryo UI" panose="020B0604030504040204" pitchFamily="50" charset="-128"/>
                <a:cs typeface="Arial" panose="020B0604020202020204" pitchFamily="34" charset="0"/>
              </a:endParaRPr>
            </a:p>
          </p:txBody>
        </p:sp>
      </p:grpSp>
      <p:sp>
        <p:nvSpPr>
          <p:cNvPr id="15" name="テキスト ボックス 14"/>
          <p:cNvSpPr txBox="1"/>
          <p:nvPr/>
        </p:nvSpPr>
        <p:spPr>
          <a:xfrm>
            <a:off x="970494" y="49769"/>
            <a:ext cx="7600450" cy="369332"/>
          </a:xfrm>
          <a:prstGeom prst="rect">
            <a:avLst/>
          </a:prstGeom>
          <a:noFill/>
        </p:spPr>
        <p:txBody>
          <a:bodyPr wrap="square" rtlCol="0">
            <a:spAutoFit/>
          </a:bodyPr>
          <a:lstStyle/>
          <a:p>
            <a:r>
              <a:rPr kumimoji="1" lang="ja-JP" altLang="en-US" dirty="0" smtClean="0"/>
              <a:t>会社からの貸し出し品　　　</a:t>
            </a:r>
            <a:r>
              <a:rPr lang="en-US" altLang="ja-JP" dirty="0" err="1" smtClean="0"/>
              <a:t>Barang</a:t>
            </a:r>
            <a:r>
              <a:rPr lang="en-US" altLang="ja-JP" dirty="0" smtClean="0"/>
              <a:t> </a:t>
            </a:r>
            <a:r>
              <a:rPr lang="en-US" altLang="ja-JP" dirty="0" err="1"/>
              <a:t>pinjaman</a:t>
            </a:r>
            <a:r>
              <a:rPr lang="en-US" altLang="ja-JP" dirty="0"/>
              <a:t> </a:t>
            </a:r>
            <a:r>
              <a:rPr lang="en-US" altLang="ja-JP" dirty="0" err="1"/>
              <a:t>dari</a:t>
            </a:r>
            <a:r>
              <a:rPr lang="en-US" altLang="ja-JP" dirty="0"/>
              <a:t> </a:t>
            </a:r>
            <a:r>
              <a:rPr lang="en-US" altLang="ja-JP" dirty="0" err="1"/>
              <a:t>perusahaan</a:t>
            </a:r>
            <a:r>
              <a:rPr lang="en-US" altLang="ja-JP" dirty="0"/>
              <a:t> </a:t>
            </a:r>
            <a:r>
              <a:rPr kumimoji="1" lang="ja-JP" altLang="en-US" dirty="0" smtClean="0"/>
              <a:t>　　　　</a:t>
            </a:r>
            <a:endParaRPr kumimoji="1" lang="ja-JP" altLang="en-US" dirty="0"/>
          </a:p>
        </p:txBody>
      </p:sp>
      <p:pic>
        <p:nvPicPr>
          <p:cNvPr id="8" name="図 7"/>
          <p:cNvPicPr>
            <a:picLocks noChangeAspect="1"/>
          </p:cNvPicPr>
          <p:nvPr/>
        </p:nvPicPr>
        <p:blipFill>
          <a:blip r:embed="rId2"/>
          <a:stretch>
            <a:fillRect/>
          </a:stretch>
        </p:blipFill>
        <p:spPr>
          <a:xfrm>
            <a:off x="2653857" y="4264083"/>
            <a:ext cx="1849652" cy="2298937"/>
          </a:xfrm>
          <a:prstGeom prst="rect">
            <a:avLst/>
          </a:prstGeom>
        </p:spPr>
      </p:pic>
    </p:spTree>
    <p:extLst>
      <p:ext uri="{BB962C8B-B14F-4D97-AF65-F5344CB8AC3E}">
        <p14:creationId xmlns:p14="http://schemas.microsoft.com/office/powerpoint/2010/main" val="5228633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66699" y="540435"/>
            <a:ext cx="3102853"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・にほん</a:t>
            </a:r>
            <a:r>
              <a:rPr lang="ja-JP" altLang="en-US" sz="1050" dirty="0">
                <a:latin typeface="Arial" panose="020B0604020202020204" pitchFamily="34" charset="0"/>
                <a:ea typeface="Meiryo UI" panose="020B0604030504040204" pitchFamily="50" charset="-128"/>
                <a:cs typeface="Arial" panose="020B0604020202020204" pitchFamily="34" charset="0"/>
              </a:rPr>
              <a:t>のトイレの</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つかいかた</a:t>
            </a:r>
            <a:endParaRPr lang="en-US" altLang="ja-JP" sz="1050" dirty="0" smtClean="0">
              <a:latin typeface="Arial" panose="020B0604020202020204" pitchFamily="34" charset="0"/>
              <a:ea typeface="Meiryo UI" panose="020B0604030504040204" pitchFamily="50" charset="-128"/>
              <a:cs typeface="Arial" panose="020B0604020202020204" pitchFamily="34" charset="0"/>
            </a:endParaRPr>
          </a:p>
          <a:p>
            <a:r>
              <a:rPr lang="en-US" altLang="ja-JP" sz="1050" dirty="0" err="1">
                <a:latin typeface="Times New Roman" panose="02020603050405020304" pitchFamily="18" charset="0"/>
                <a:cs typeface="Times New Roman" panose="02020603050405020304" pitchFamily="18" charset="0"/>
              </a:rPr>
              <a:t>Bagaimana</a:t>
            </a:r>
            <a:r>
              <a:rPr lang="en-US" altLang="ja-JP" sz="1050" dirty="0">
                <a:latin typeface="Times New Roman" panose="02020603050405020304" pitchFamily="18" charset="0"/>
                <a:cs typeface="Times New Roman" panose="02020603050405020304" pitchFamily="18" charset="0"/>
              </a:rPr>
              <a:t> Cara </a:t>
            </a:r>
            <a:r>
              <a:rPr lang="en-US" altLang="ja-JP" sz="1050" dirty="0" err="1">
                <a:latin typeface="Times New Roman" panose="02020603050405020304" pitchFamily="18" charset="0"/>
                <a:cs typeface="Times New Roman" panose="02020603050405020304" pitchFamily="18" charset="0"/>
              </a:rPr>
              <a:t>Menggunakan</a:t>
            </a:r>
            <a:r>
              <a:rPr lang="en-US" altLang="ja-JP" sz="1050" dirty="0">
                <a:latin typeface="Times New Roman" panose="02020603050405020304" pitchFamily="18" charset="0"/>
                <a:cs typeface="Times New Roman" panose="02020603050405020304" pitchFamily="18" charset="0"/>
              </a:rPr>
              <a:t> Toilet di </a:t>
            </a:r>
            <a:r>
              <a:rPr lang="en-US" altLang="ja-JP" sz="1050" dirty="0" err="1">
                <a:latin typeface="Times New Roman" panose="02020603050405020304" pitchFamily="18" charset="0"/>
                <a:cs typeface="Times New Roman" panose="02020603050405020304" pitchFamily="18" charset="0"/>
              </a:rPr>
              <a:t>Jepang</a:t>
            </a:r>
            <a:endParaRPr lang="en-US" altLang="ja-JP" sz="1050" dirty="0">
              <a:latin typeface="Times New Roman" panose="02020603050405020304" pitchFamily="18" charset="0"/>
              <a:cs typeface="Times New Roman" panose="02020603050405020304" pitchFamily="18" charset="0"/>
            </a:endParaRPr>
          </a:p>
        </p:txBody>
      </p:sp>
      <p:sp>
        <p:nvSpPr>
          <p:cNvPr id="6" name="正方形/長方形 5"/>
          <p:cNvSpPr/>
          <p:nvPr/>
        </p:nvSpPr>
        <p:spPr>
          <a:xfrm>
            <a:off x="3887756" y="632767"/>
            <a:ext cx="747743" cy="253916"/>
          </a:xfrm>
          <a:prstGeom prst="rect">
            <a:avLst/>
          </a:prstGeom>
        </p:spPr>
        <p:txBody>
          <a:bodyPr wrap="square">
            <a:spAutoFit/>
          </a:bodyPr>
          <a:lstStyle/>
          <a:p>
            <a:r>
              <a:rPr lang="ja-JP" altLang="en-US" sz="1050" dirty="0" smtClean="0">
                <a:latin typeface="Arial" panose="020B0604020202020204" pitchFamily="34" charset="0"/>
                <a:cs typeface="Arial" panose="020B0604020202020204" pitchFamily="34" charset="0"/>
              </a:rPr>
              <a:t>①</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③</a:t>
            </a:r>
            <a:endParaRPr lang="en-US" altLang="ja-JP" sz="1050" dirty="0" smtClean="0">
              <a:latin typeface="Arial" panose="020B0604020202020204" pitchFamily="34" charset="0"/>
              <a:cs typeface="Arial" panose="020B0604020202020204" pitchFamily="34" charset="0"/>
            </a:endParaRPr>
          </a:p>
        </p:txBody>
      </p:sp>
      <p:sp>
        <p:nvSpPr>
          <p:cNvPr id="7" name="正方形/長方形 6"/>
          <p:cNvSpPr/>
          <p:nvPr/>
        </p:nvSpPr>
        <p:spPr>
          <a:xfrm>
            <a:off x="266699" y="960213"/>
            <a:ext cx="3035300"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・せん</a:t>
            </a:r>
            <a:r>
              <a:rPr lang="ja-JP" altLang="en-US" sz="1050" dirty="0">
                <a:latin typeface="Arial" panose="020B0604020202020204" pitchFamily="34" charset="0"/>
                <a:ea typeface="Meiryo UI" panose="020B0604030504040204" pitchFamily="50" charset="-128"/>
                <a:cs typeface="Arial" panose="020B0604020202020204" pitchFamily="34" charset="0"/>
              </a:rPr>
              <a:t>たく</a:t>
            </a:r>
            <a:r>
              <a:rPr lang="ja-JP" altLang="en-US" sz="1050" dirty="0" err="1">
                <a:latin typeface="Arial" panose="020B0604020202020204" pitchFamily="34" charset="0"/>
                <a:ea typeface="Meiryo UI" panose="020B0604030504040204" pitchFamily="50" charset="-128"/>
                <a:cs typeface="Arial" panose="020B0604020202020204" pitchFamily="34" charset="0"/>
              </a:rPr>
              <a:t>きの</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つかいかた</a:t>
            </a:r>
            <a:endParaRPr lang="en-US" altLang="ja-JP" sz="1050" dirty="0">
              <a:latin typeface="Arial" panose="020B0604020202020204" pitchFamily="34" charset="0"/>
              <a:ea typeface="Meiryo UI" panose="020B0604030504040204" pitchFamily="50" charset="-128"/>
              <a:cs typeface="Arial" panose="020B0604020202020204" pitchFamily="34" charset="0"/>
            </a:endParaRPr>
          </a:p>
          <a:p>
            <a:r>
              <a:rPr lang="en-US" altLang="ja-JP" sz="1050" dirty="0" smtClean="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mesin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cuci</a:t>
            </a:r>
            <a:endParaRPr lang="ja-JP" altLang="en-US"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8" name="正方形/長方形 7"/>
          <p:cNvSpPr/>
          <p:nvPr/>
        </p:nvSpPr>
        <p:spPr>
          <a:xfrm>
            <a:off x="3998413" y="1191567"/>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④</a:t>
            </a:r>
            <a:endParaRPr lang="en-US" altLang="ja-JP" sz="1050" dirty="0">
              <a:latin typeface="Arial" panose="020B0604020202020204" pitchFamily="34" charset="0"/>
              <a:cs typeface="Arial" panose="020B0604020202020204" pitchFamily="34" charset="0"/>
            </a:endParaRPr>
          </a:p>
        </p:txBody>
      </p:sp>
      <p:sp>
        <p:nvSpPr>
          <p:cNvPr id="9" name="正方形/長方形 8"/>
          <p:cNvSpPr/>
          <p:nvPr/>
        </p:nvSpPr>
        <p:spPr>
          <a:xfrm>
            <a:off x="304800" y="1471823"/>
            <a:ext cx="1975627"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・エアコン</a:t>
            </a:r>
            <a:r>
              <a:rPr lang="ja-JP" altLang="en-US" sz="1050" dirty="0">
                <a:latin typeface="Arial" panose="020B0604020202020204" pitchFamily="34" charset="0"/>
                <a:ea typeface="Meiryo UI" panose="020B0604030504040204" pitchFamily="50" charset="-128"/>
                <a:cs typeface="Arial" panose="020B0604020202020204" pitchFamily="34" charset="0"/>
              </a:rPr>
              <a:t>のつかいかた</a:t>
            </a:r>
            <a:endParaRPr lang="en-US" altLang="ja-JP" sz="1050" dirty="0">
              <a:latin typeface="Arial" panose="020B0604020202020204" pitchFamily="34" charset="0"/>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AC</a:t>
            </a:r>
          </a:p>
        </p:txBody>
      </p:sp>
      <p:sp>
        <p:nvSpPr>
          <p:cNvPr id="10" name="正方形/長方形 9"/>
          <p:cNvSpPr/>
          <p:nvPr/>
        </p:nvSpPr>
        <p:spPr>
          <a:xfrm>
            <a:off x="3998413" y="1674167"/>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⑤</a:t>
            </a:r>
            <a:endParaRPr lang="en-US" altLang="ja-JP" sz="1050" dirty="0">
              <a:latin typeface="Arial" panose="020B0604020202020204" pitchFamily="34" charset="0"/>
              <a:cs typeface="Arial" panose="020B0604020202020204" pitchFamily="34" charset="0"/>
            </a:endParaRPr>
          </a:p>
        </p:txBody>
      </p:sp>
      <p:sp>
        <p:nvSpPr>
          <p:cNvPr id="11" name="正方形/長方形 10"/>
          <p:cNvSpPr/>
          <p:nvPr/>
        </p:nvSpPr>
        <p:spPr>
          <a:xfrm>
            <a:off x="304800" y="1983433"/>
            <a:ext cx="3531245"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・しょうめい</a:t>
            </a:r>
            <a:r>
              <a:rPr lang="ja-JP" altLang="en-US" sz="1050" dirty="0">
                <a:latin typeface="Arial" panose="020B0604020202020204" pitchFamily="34" charset="0"/>
                <a:ea typeface="Meiryo UI" panose="020B0604030504040204" pitchFamily="50" charset="-128"/>
                <a:cs typeface="Arial" panose="020B0604020202020204" pitchFamily="34" charset="0"/>
              </a:rPr>
              <a:t>ひん</a:t>
            </a:r>
            <a:r>
              <a:rPr lang="ja-JP" altLang="en-US" sz="1050" dirty="0" err="1">
                <a:latin typeface="Arial" panose="020B0604020202020204" pitchFamily="34" charset="0"/>
                <a:ea typeface="Meiryo UI" panose="020B0604030504040204" pitchFamily="50" charset="-128"/>
                <a:cs typeface="Arial" panose="020B0604020202020204" pitchFamily="34" charset="0"/>
              </a:rPr>
              <a:t>ぐよう</a:t>
            </a:r>
            <a:r>
              <a:rPr lang="ja-JP" altLang="en-US" sz="1050" dirty="0">
                <a:latin typeface="Arial" panose="020B0604020202020204" pitchFamily="34" charset="0"/>
                <a:ea typeface="Meiryo UI" panose="020B0604030504040204" pitchFamily="50" charset="-128"/>
                <a:cs typeface="Arial" panose="020B0604020202020204" pitchFamily="34" charset="0"/>
              </a:rPr>
              <a:t>リモコンの</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つかいかた</a:t>
            </a:r>
            <a:endParaRPr lang="en-US" altLang="ja-JP" sz="1050" dirty="0" smtClean="0">
              <a:latin typeface="Arial" panose="020B0604020202020204" pitchFamily="34" charset="0"/>
              <a:ea typeface="Meiryo UI" panose="020B0604030504040204" pitchFamily="50" charset="-128"/>
              <a:cs typeface="Arial" panose="020B0604020202020204" pitchFamily="34" charset="0"/>
            </a:endParaRPr>
          </a:p>
          <a:p>
            <a:r>
              <a:rPr lang="es-ES" altLang="ja-JP" sz="1050" dirty="0">
                <a:latin typeface="Times New Roman" panose="02020603050405020304" pitchFamily="18" charset="0"/>
                <a:ea typeface="Meiryo UI" panose="020B0604030504040204" pitchFamily="50" charset="-128"/>
                <a:cs typeface="Times New Roman" panose="02020603050405020304" pitchFamily="18" charset="0"/>
              </a:rPr>
              <a:t>Cara menggunakan remote control untuk </a:t>
            </a:r>
            <a:r>
              <a:rPr lang="es-ES" altLang="ja-JP" sz="1050" dirty="0" smtClean="0">
                <a:latin typeface="Times New Roman" panose="02020603050405020304" pitchFamily="18" charset="0"/>
                <a:ea typeface="Meiryo UI" panose="020B0604030504040204" pitchFamily="50" charset="-128"/>
                <a:cs typeface="Times New Roman" panose="02020603050405020304" pitchFamily="18" charset="0"/>
              </a:rPr>
              <a:t>demonstrasi</a:t>
            </a:r>
            <a:endParaRPr lang="es-ES" altLang="ja-JP"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12" name="正方形/長方形 11"/>
          <p:cNvSpPr/>
          <p:nvPr/>
        </p:nvSpPr>
        <p:spPr>
          <a:xfrm>
            <a:off x="3998413" y="2168099"/>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⑥</a:t>
            </a:r>
            <a:endParaRPr lang="en-US" altLang="ja-JP" sz="1050" dirty="0">
              <a:latin typeface="Arial" panose="020B0604020202020204" pitchFamily="34" charset="0"/>
              <a:cs typeface="Arial" panose="020B0604020202020204" pitchFamily="34" charset="0"/>
            </a:endParaRPr>
          </a:p>
        </p:txBody>
      </p:sp>
      <p:sp>
        <p:nvSpPr>
          <p:cNvPr id="13" name="正方形/長方形 12"/>
          <p:cNvSpPr/>
          <p:nvPr/>
        </p:nvSpPr>
        <p:spPr>
          <a:xfrm>
            <a:off x="306825" y="2514711"/>
            <a:ext cx="3022600"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・テレビ</a:t>
            </a:r>
            <a:r>
              <a:rPr lang="ja-JP" altLang="en-US" sz="1050" dirty="0">
                <a:latin typeface="Arial" panose="020B0604020202020204" pitchFamily="34" charset="0"/>
                <a:ea typeface="Meiryo UI" panose="020B0604030504040204" pitchFamily="50" charset="-128"/>
                <a:cs typeface="Arial" panose="020B0604020202020204" pitchFamily="34" charset="0"/>
              </a:rPr>
              <a:t>のリモコンの</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つかいかた</a:t>
            </a:r>
            <a:endParaRPr lang="en-US" altLang="ja-JP" sz="1050" dirty="0">
              <a:latin typeface="Arial" panose="020B0604020202020204" pitchFamily="34" charset="0"/>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remote TV</a:t>
            </a:r>
          </a:p>
        </p:txBody>
      </p:sp>
      <p:sp>
        <p:nvSpPr>
          <p:cNvPr id="14" name="正方形/長方形 13"/>
          <p:cNvSpPr/>
          <p:nvPr/>
        </p:nvSpPr>
        <p:spPr>
          <a:xfrm>
            <a:off x="3998413" y="2678164"/>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⑦</a:t>
            </a:r>
            <a:endParaRPr lang="en-US" altLang="ja-JP" sz="1050" dirty="0">
              <a:latin typeface="Arial" panose="020B0604020202020204" pitchFamily="34" charset="0"/>
              <a:cs typeface="Arial" panose="020B0604020202020204" pitchFamily="34" charset="0"/>
            </a:endParaRPr>
          </a:p>
        </p:txBody>
      </p:sp>
      <p:sp>
        <p:nvSpPr>
          <p:cNvPr id="15" name="正方形/長方形 14"/>
          <p:cNvSpPr/>
          <p:nvPr/>
        </p:nvSpPr>
        <p:spPr>
          <a:xfrm>
            <a:off x="304799" y="3057100"/>
            <a:ext cx="2600325"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・そう</a:t>
            </a:r>
            <a:r>
              <a:rPr lang="ja-JP" altLang="en-US" sz="1050" dirty="0">
                <a:latin typeface="Arial" panose="020B0604020202020204" pitchFamily="34" charset="0"/>
                <a:ea typeface="Meiryo UI" panose="020B0604030504040204" pitchFamily="50" charset="-128"/>
                <a:cs typeface="Arial" panose="020B0604020202020204" pitchFamily="34" charset="0"/>
              </a:rPr>
              <a:t>じきのつかいかた</a:t>
            </a:r>
            <a:endParaRPr lang="en-US" altLang="ja-JP" sz="1050" dirty="0">
              <a:latin typeface="Arial" panose="020B0604020202020204" pitchFamily="34" charset="0"/>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penyedot</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debu</a:t>
            </a:r>
            <a:endParaRPr lang="en-US" altLang="ja-JP"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16" name="正方形/長方形 15"/>
          <p:cNvSpPr/>
          <p:nvPr/>
        </p:nvSpPr>
        <p:spPr>
          <a:xfrm>
            <a:off x="3869483" y="3233532"/>
            <a:ext cx="498855" cy="253916"/>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⑧</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⑨</a:t>
            </a:r>
            <a:endParaRPr lang="en-US" altLang="ja-JP" sz="1050" dirty="0">
              <a:latin typeface="Arial" panose="020B0604020202020204" pitchFamily="34" charset="0"/>
              <a:cs typeface="Arial" panose="020B0604020202020204" pitchFamily="34" charset="0"/>
            </a:endParaRPr>
          </a:p>
        </p:txBody>
      </p:sp>
      <p:sp>
        <p:nvSpPr>
          <p:cNvPr id="17" name="正方形/長方形 16"/>
          <p:cNvSpPr/>
          <p:nvPr/>
        </p:nvSpPr>
        <p:spPr>
          <a:xfrm>
            <a:off x="304799" y="3586378"/>
            <a:ext cx="2171700"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・でん</a:t>
            </a:r>
            <a:r>
              <a:rPr lang="ja-JP" altLang="en-US" sz="1050" dirty="0">
                <a:latin typeface="Arial" panose="020B0604020202020204" pitchFamily="34" charset="0"/>
                <a:ea typeface="Meiryo UI" panose="020B0604030504040204" pitchFamily="50" charset="-128"/>
                <a:cs typeface="Arial" panose="020B0604020202020204" pitchFamily="34" charset="0"/>
              </a:rPr>
              <a:t>しれん</a:t>
            </a:r>
            <a:r>
              <a:rPr lang="ja-JP" altLang="en-US" sz="1050" dirty="0" err="1">
                <a:latin typeface="Arial" panose="020B0604020202020204" pitchFamily="34" charset="0"/>
                <a:ea typeface="Meiryo UI" panose="020B0604030504040204" pitchFamily="50" charset="-128"/>
                <a:cs typeface="Arial" panose="020B0604020202020204" pitchFamily="34" charset="0"/>
              </a:rPr>
              <a:t>じの</a:t>
            </a:r>
            <a:r>
              <a:rPr lang="ja-JP" altLang="en-US" sz="1050" dirty="0">
                <a:latin typeface="Arial" panose="020B0604020202020204" pitchFamily="34" charset="0"/>
                <a:ea typeface="Meiryo UI" panose="020B0604030504040204" pitchFamily="50" charset="-128"/>
                <a:cs typeface="Arial" panose="020B0604020202020204" pitchFamily="34" charset="0"/>
              </a:rPr>
              <a:t>つかいかた</a:t>
            </a:r>
            <a:endParaRPr lang="en-US" altLang="ja-JP" sz="1050" dirty="0">
              <a:latin typeface="Arial" panose="020B0604020202020204" pitchFamily="34" charset="0"/>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microwave</a:t>
            </a:r>
          </a:p>
        </p:txBody>
      </p:sp>
      <p:sp>
        <p:nvSpPr>
          <p:cNvPr id="18" name="正方形/長方形 17"/>
          <p:cNvSpPr/>
          <p:nvPr/>
        </p:nvSpPr>
        <p:spPr>
          <a:xfrm>
            <a:off x="3881659" y="3696530"/>
            <a:ext cx="639017" cy="253916"/>
          </a:xfrm>
          <a:prstGeom prst="rect">
            <a:avLst/>
          </a:prstGeom>
        </p:spPr>
        <p:txBody>
          <a:bodyPr wrap="square">
            <a:spAutoFit/>
          </a:bodyPr>
          <a:lstStyle/>
          <a:p>
            <a:r>
              <a:rPr lang="ja-JP" altLang="en-US" sz="1050" dirty="0" smtClean="0">
                <a:latin typeface="Arial" panose="020B0604020202020204" pitchFamily="34" charset="0"/>
                <a:cs typeface="Arial" panose="020B0604020202020204" pitchFamily="34" charset="0"/>
              </a:rPr>
              <a:t>⑩</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⑪</a:t>
            </a:r>
            <a:endParaRPr lang="en-US" altLang="ja-JP" sz="1050" dirty="0">
              <a:latin typeface="Arial" panose="020B0604020202020204" pitchFamily="34" charset="0"/>
              <a:cs typeface="Arial" panose="020B0604020202020204" pitchFamily="34" charset="0"/>
            </a:endParaRPr>
          </a:p>
        </p:txBody>
      </p:sp>
      <p:sp>
        <p:nvSpPr>
          <p:cNvPr id="20" name="正方形/長方形 19"/>
          <p:cNvSpPr/>
          <p:nvPr/>
        </p:nvSpPr>
        <p:spPr>
          <a:xfrm>
            <a:off x="4033446" y="4293298"/>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⑫</a:t>
            </a:r>
            <a:endParaRPr lang="en-US" altLang="ja-JP" sz="1050" dirty="0">
              <a:latin typeface="Arial" panose="020B0604020202020204" pitchFamily="34" charset="0"/>
              <a:cs typeface="Arial" panose="020B0604020202020204" pitchFamily="34" charset="0"/>
            </a:endParaRPr>
          </a:p>
        </p:txBody>
      </p:sp>
      <p:sp>
        <p:nvSpPr>
          <p:cNvPr id="21" name="正方形/長方形 20"/>
          <p:cNvSpPr/>
          <p:nvPr/>
        </p:nvSpPr>
        <p:spPr>
          <a:xfrm>
            <a:off x="304799" y="4627101"/>
            <a:ext cx="2594040" cy="415498"/>
          </a:xfrm>
          <a:prstGeom prst="rect">
            <a:avLst/>
          </a:prstGeom>
        </p:spPr>
        <p:txBody>
          <a:bodyPr wrap="square">
            <a:spAutoFit/>
          </a:bodyPr>
          <a:lstStyle/>
          <a:p>
            <a:r>
              <a:rPr lang="ja-JP" altLang="en-US" sz="1050" dirty="0">
                <a:latin typeface="Arial" panose="020B0604020202020204" pitchFamily="34" charset="0"/>
                <a:ea typeface="Meiryo UI" panose="020B0604030504040204" pitchFamily="50" charset="-128"/>
                <a:cs typeface="Arial" panose="020B0604020202020204" pitchFamily="34" charset="0"/>
              </a:rPr>
              <a:t>・ドライヤのつかいかた</a:t>
            </a: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pengering</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smtClean="0">
                <a:latin typeface="Times New Roman" panose="02020603050405020304" pitchFamily="18" charset="0"/>
                <a:ea typeface="Meiryo UI" panose="020B0604030504040204" pitchFamily="50" charset="-128"/>
                <a:cs typeface="Times New Roman" panose="02020603050405020304" pitchFamily="18" charset="0"/>
              </a:rPr>
              <a:t>rambut</a:t>
            </a:r>
            <a:endParaRPr lang="en-US" altLang="ja-JP"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22" name="正方形/長方形 21"/>
          <p:cNvSpPr/>
          <p:nvPr/>
        </p:nvSpPr>
        <p:spPr>
          <a:xfrm>
            <a:off x="4030240" y="4758583"/>
            <a:ext cx="319318" cy="253916"/>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⑬</a:t>
            </a:r>
            <a:endParaRPr lang="en-US" altLang="ja-JP" sz="1050" dirty="0">
              <a:latin typeface="Arial" panose="020B0604020202020204" pitchFamily="34" charset="0"/>
              <a:cs typeface="Arial" panose="020B0604020202020204" pitchFamily="34" charset="0"/>
            </a:endParaRPr>
          </a:p>
        </p:txBody>
      </p:sp>
      <p:sp>
        <p:nvSpPr>
          <p:cNvPr id="23" name="正方形/長方形 22"/>
          <p:cNvSpPr/>
          <p:nvPr/>
        </p:nvSpPr>
        <p:spPr>
          <a:xfrm>
            <a:off x="304799" y="5133278"/>
            <a:ext cx="2298699"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a:t>
            </a:r>
            <a:r>
              <a:rPr lang="en-US" altLang="ja-JP" sz="1050" dirty="0" smtClean="0">
                <a:latin typeface="Arial" panose="020B0604020202020204" pitchFamily="34" charset="0"/>
                <a:ea typeface="Meiryo UI" panose="020B0604030504040204" pitchFamily="50" charset="-128"/>
                <a:cs typeface="Arial" panose="020B0604020202020204" pitchFamily="34" charset="0"/>
              </a:rPr>
              <a:t>IH</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コンロ</a:t>
            </a:r>
            <a:r>
              <a:rPr lang="ja-JP" altLang="en-US" sz="1050" dirty="0">
                <a:latin typeface="Arial" panose="020B0604020202020204" pitchFamily="34" charset="0"/>
                <a:ea typeface="Meiryo UI" panose="020B0604030504040204" pitchFamily="50" charset="-128"/>
                <a:cs typeface="Arial" panose="020B0604020202020204" pitchFamily="34" charset="0"/>
              </a:rPr>
              <a:t>のつかいかた</a:t>
            </a:r>
            <a:endParaRPr lang="en-US" altLang="ja-JP" sz="1050" dirty="0">
              <a:latin typeface="Arial" panose="020B0604020202020204" pitchFamily="34" charset="0"/>
              <a:ea typeface="Meiryo UI" panose="020B0604030504040204" pitchFamily="50" charset="-128"/>
              <a:cs typeface="Arial" panose="020B0604020202020204" pitchFamily="34" charset="0"/>
            </a:endParaRPr>
          </a:p>
          <a:p>
            <a:r>
              <a:rPr lang="vi-VN" altLang="ja-JP" sz="1050" dirty="0">
                <a:latin typeface="Times New Roman" panose="02020603050405020304" pitchFamily="18" charset="0"/>
                <a:ea typeface="Meiryo UI" panose="020B0604030504040204" pitchFamily="50" charset="-128"/>
                <a:cs typeface="Times New Roman" panose="02020603050405020304" pitchFamily="18" charset="0"/>
              </a:rPr>
              <a:t>Cara menggunakan kompor IH</a:t>
            </a:r>
            <a:endParaRPr lang="ja-JP" altLang="en-US"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24" name="正方形/長方形 23"/>
          <p:cNvSpPr/>
          <p:nvPr/>
        </p:nvSpPr>
        <p:spPr>
          <a:xfrm>
            <a:off x="4030240" y="5175754"/>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⑭</a:t>
            </a:r>
            <a:endParaRPr lang="en-US" altLang="ja-JP" sz="1050" dirty="0">
              <a:latin typeface="Arial" panose="020B0604020202020204" pitchFamily="34" charset="0"/>
              <a:cs typeface="Arial" panose="020B0604020202020204" pitchFamily="34" charset="0"/>
            </a:endParaRPr>
          </a:p>
        </p:txBody>
      </p:sp>
      <p:sp>
        <p:nvSpPr>
          <p:cNvPr id="25" name="正方形/長方形 24"/>
          <p:cNvSpPr/>
          <p:nvPr/>
        </p:nvSpPr>
        <p:spPr>
          <a:xfrm>
            <a:off x="304799" y="5639455"/>
            <a:ext cx="2349499" cy="415498"/>
          </a:xfrm>
          <a:prstGeom prst="rect">
            <a:avLst/>
          </a:prstGeom>
        </p:spPr>
        <p:txBody>
          <a:bodyPr wrap="square">
            <a:spAutoFit/>
          </a:bodyPr>
          <a:lstStyle/>
          <a:p>
            <a:pPr>
              <a:spcAft>
                <a:spcPts val="0"/>
              </a:spcAft>
            </a:pPr>
            <a:r>
              <a:rPr lang="ja-JP" altLang="en-US" sz="1050" dirty="0">
                <a:latin typeface="Arial" panose="020B0604020202020204" pitchFamily="34" charset="0"/>
                <a:ea typeface="Meiryo UI" panose="020B0604030504040204" pitchFamily="50" charset="-128"/>
                <a:cs typeface="Arial" panose="020B0604020202020204" pitchFamily="34" charset="0"/>
              </a:rPr>
              <a:t>・こうしゅうでんわのつかいかた</a:t>
            </a:r>
          </a:p>
          <a:p>
            <a:pPr>
              <a:spcAft>
                <a:spcPts val="0"/>
              </a:spcAft>
            </a:pPr>
            <a:r>
              <a:rPr lang="vi-VN" altLang="ja-JP" sz="1050" dirty="0">
                <a:latin typeface="Times New Roman" panose="02020603050405020304" pitchFamily="18" charset="0"/>
                <a:ea typeface="Meiryo UI" panose="020B0604030504040204" pitchFamily="50" charset="-128"/>
                <a:cs typeface="Times New Roman" panose="02020603050405020304" pitchFamily="18" charset="0"/>
              </a:rPr>
              <a:t>Cara menggunakan telepon umum</a:t>
            </a:r>
          </a:p>
        </p:txBody>
      </p:sp>
      <p:sp>
        <p:nvSpPr>
          <p:cNvPr id="28" name="正方形/長方形 27"/>
          <p:cNvSpPr/>
          <p:nvPr/>
        </p:nvSpPr>
        <p:spPr>
          <a:xfrm>
            <a:off x="3915167" y="5697525"/>
            <a:ext cx="543051" cy="253916"/>
          </a:xfrm>
          <a:prstGeom prst="rect">
            <a:avLst/>
          </a:prstGeom>
        </p:spPr>
        <p:txBody>
          <a:bodyPr wrap="square">
            <a:spAutoFit/>
          </a:bodyPr>
          <a:lstStyle/>
          <a:p>
            <a:r>
              <a:rPr lang="ja-JP" altLang="en-US" sz="1050" dirty="0" smtClean="0">
                <a:latin typeface="Arial" panose="020B0604020202020204" pitchFamily="34" charset="0"/>
                <a:cs typeface="Arial" panose="020B0604020202020204" pitchFamily="34" charset="0"/>
              </a:rPr>
              <a:t>⑯</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⑲</a:t>
            </a:r>
            <a:endParaRPr lang="en-US" altLang="ja-JP" sz="1050" dirty="0">
              <a:latin typeface="Arial" panose="020B0604020202020204" pitchFamily="34" charset="0"/>
              <a:cs typeface="Arial" panose="020B0604020202020204" pitchFamily="34" charset="0"/>
            </a:endParaRPr>
          </a:p>
        </p:txBody>
      </p:sp>
      <p:sp>
        <p:nvSpPr>
          <p:cNvPr id="29" name="正方形/長方形 28"/>
          <p:cNvSpPr/>
          <p:nvPr/>
        </p:nvSpPr>
        <p:spPr>
          <a:xfrm>
            <a:off x="5160917" y="539668"/>
            <a:ext cx="2149948" cy="415498"/>
          </a:xfrm>
          <a:prstGeom prst="rect">
            <a:avLst/>
          </a:prstGeom>
        </p:spPr>
        <p:txBody>
          <a:bodyPr wrap="none">
            <a:spAutoFit/>
          </a:bodyPr>
          <a:lstStyle/>
          <a:p>
            <a:pPr>
              <a:spcAft>
                <a:spcPts val="0"/>
              </a:spcAft>
            </a:pPr>
            <a:r>
              <a:rPr lang="ja-JP" altLang="en-US" sz="1050" kern="0" dirty="0" smtClean="0">
                <a:solidFill>
                  <a:srgbClr val="111111"/>
                </a:solidFill>
                <a:latin typeface="Arial" panose="020B0604020202020204" pitchFamily="34" charset="0"/>
                <a:ea typeface="Meiryo UI" panose="020B0604030504040204" pitchFamily="50" charset="-128"/>
                <a:cs typeface="Arial" panose="020B0604020202020204" pitchFamily="34" charset="0"/>
              </a:rPr>
              <a:t>・</a:t>
            </a:r>
            <a:r>
              <a:rPr lang="ja-JP" altLang="ja-JP" sz="1050" kern="0" dirty="0" smtClean="0">
                <a:solidFill>
                  <a:srgbClr val="111111"/>
                </a:solidFill>
                <a:latin typeface="Arial" panose="020B0604020202020204" pitchFamily="34" charset="0"/>
                <a:ea typeface="Meiryo UI" panose="020B0604030504040204" pitchFamily="50" charset="-128"/>
                <a:cs typeface="Arial" panose="020B0604020202020204" pitchFamily="34" charset="0"/>
              </a:rPr>
              <a:t>きゅうよ</a:t>
            </a:r>
            <a:r>
              <a:rPr lang="ja-JP" altLang="ja-JP" sz="1050" kern="0" dirty="0">
                <a:solidFill>
                  <a:srgbClr val="111111"/>
                </a:solidFill>
                <a:latin typeface="Arial" panose="020B0604020202020204" pitchFamily="34" charset="0"/>
                <a:ea typeface="Meiryo UI" panose="020B0604030504040204" pitchFamily="50" charset="-128"/>
                <a:cs typeface="Arial" panose="020B0604020202020204" pitchFamily="34" charset="0"/>
              </a:rPr>
              <a:t>めいさいしょうのことばに</a:t>
            </a:r>
            <a:r>
              <a:rPr lang="ja-JP" altLang="ja-JP" sz="1050" kern="0" dirty="0" smtClean="0">
                <a:solidFill>
                  <a:srgbClr val="111111"/>
                </a:solidFill>
                <a:latin typeface="Arial" panose="020B0604020202020204" pitchFamily="34" charset="0"/>
                <a:ea typeface="Meiryo UI" panose="020B0604030504040204" pitchFamily="50" charset="-128"/>
                <a:cs typeface="Arial" panose="020B0604020202020204" pitchFamily="34" charset="0"/>
              </a:rPr>
              <a:t>ついて</a:t>
            </a:r>
            <a:endParaRPr lang="en-US" altLang="ja-JP" sz="1050" kern="0" dirty="0" smtClean="0">
              <a:solidFill>
                <a:srgbClr val="111111"/>
              </a:solidFill>
              <a:latin typeface="Arial" panose="020B0604020202020204" pitchFamily="34" charset="0"/>
              <a:ea typeface="Meiryo UI" panose="020B0604030504040204" pitchFamily="50" charset="-128"/>
              <a:cs typeface="Arial" panose="020B0604020202020204" pitchFamily="34" charset="0"/>
            </a:endParaRPr>
          </a:p>
          <a:p>
            <a:pPr>
              <a:spcAft>
                <a:spcPts val="0"/>
              </a:spcAft>
            </a:pPr>
            <a:r>
              <a:rPr lang="en-US" altLang="ja-JP" sz="1050" kern="0" dirty="0" err="1">
                <a:solidFill>
                  <a:srgbClr val="111111"/>
                </a:solidFill>
                <a:latin typeface="Times New Roman" panose="02020603050405020304" pitchFamily="18" charset="0"/>
                <a:ea typeface="Meiryo UI" panose="020B0604030504040204" pitchFamily="50" charset="-128"/>
                <a:cs typeface="Times New Roman" panose="02020603050405020304" pitchFamily="18" charset="0"/>
              </a:rPr>
              <a:t>Kosakata</a:t>
            </a:r>
            <a:r>
              <a:rPr lang="en-US" altLang="ja-JP" sz="1050" kern="0" dirty="0">
                <a:solidFill>
                  <a:srgbClr val="111111"/>
                </a:solidFill>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kern="0" dirty="0" err="1">
                <a:solidFill>
                  <a:srgbClr val="111111"/>
                </a:solidFill>
                <a:latin typeface="Times New Roman" panose="02020603050405020304" pitchFamily="18" charset="0"/>
                <a:ea typeface="Meiryo UI" panose="020B0604030504040204" pitchFamily="50" charset="-128"/>
                <a:cs typeface="Times New Roman" panose="02020603050405020304" pitchFamily="18" charset="0"/>
              </a:rPr>
              <a:t>tentang</a:t>
            </a:r>
            <a:r>
              <a:rPr lang="en-US" altLang="ja-JP" sz="1050" kern="0" dirty="0">
                <a:solidFill>
                  <a:srgbClr val="111111"/>
                </a:solidFill>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kern="0" dirty="0" err="1" smtClean="0">
                <a:solidFill>
                  <a:srgbClr val="111111"/>
                </a:solidFill>
                <a:latin typeface="Times New Roman" panose="02020603050405020304" pitchFamily="18" charset="0"/>
                <a:ea typeface="Meiryo UI" panose="020B0604030504040204" pitchFamily="50" charset="-128"/>
                <a:cs typeface="Times New Roman" panose="02020603050405020304" pitchFamily="18" charset="0"/>
              </a:rPr>
              <a:t>penggajian</a:t>
            </a:r>
            <a:endParaRPr lang="en-US" altLang="ja-JP" sz="1050" kern="0" dirty="0">
              <a:solidFill>
                <a:srgbClr val="111111"/>
              </a:solidFill>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30" name="正方形/長方形 29"/>
          <p:cNvSpPr/>
          <p:nvPr/>
        </p:nvSpPr>
        <p:spPr>
          <a:xfrm>
            <a:off x="7910498" y="656494"/>
            <a:ext cx="498855" cy="253916"/>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⑳</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㉑</a:t>
            </a:r>
            <a:endParaRPr lang="en-US" altLang="ja-JP" sz="1050" dirty="0" smtClean="0">
              <a:latin typeface="Arial" panose="020B0604020202020204" pitchFamily="34" charset="0"/>
              <a:cs typeface="Arial" panose="020B0604020202020204" pitchFamily="34" charset="0"/>
            </a:endParaRPr>
          </a:p>
        </p:txBody>
      </p:sp>
      <p:sp>
        <p:nvSpPr>
          <p:cNvPr id="31" name="正方形/長方形 30"/>
          <p:cNvSpPr/>
          <p:nvPr/>
        </p:nvSpPr>
        <p:spPr>
          <a:xfrm>
            <a:off x="5150362" y="1020792"/>
            <a:ext cx="1712413"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 ひきだす</a:t>
            </a:r>
            <a:r>
              <a:rPr lang="ja-JP" altLang="en-US" sz="1050" dirty="0" err="1">
                <a:latin typeface="Arial" panose="020B0604020202020204" pitchFamily="34" charset="0"/>
                <a:ea typeface="Meiryo UI" panose="020B0604030504040204" pitchFamily="50" charset="-128"/>
                <a:cs typeface="Arial" panose="020B0604020202020204" pitchFamily="34" charset="0"/>
              </a:rPr>
              <a:t>ほう</a:t>
            </a:r>
            <a:r>
              <a:rPr lang="ja-JP" altLang="en-US" sz="1050" dirty="0" err="1" smtClean="0">
                <a:latin typeface="Arial" panose="020B0604020202020204" pitchFamily="34" charset="0"/>
                <a:ea typeface="Meiryo UI" panose="020B0604030504040204" pitchFamily="50" charset="-128"/>
                <a:cs typeface="Arial" panose="020B0604020202020204" pitchFamily="34" charset="0"/>
              </a:rPr>
              <a:t>ほう</a:t>
            </a:r>
            <a:r>
              <a:rPr lang="ja-JP" altLang="en-US" sz="1050" dirty="0">
                <a:latin typeface="Arial" panose="020B0604020202020204" pitchFamily="34" charset="0"/>
                <a:ea typeface="Meiryo UI" panose="020B0604030504040204" pitchFamily="50" charset="-128"/>
                <a:cs typeface="Arial" panose="020B0604020202020204" pitchFamily="34" charset="0"/>
              </a:rPr>
              <a:t>　</a:t>
            </a:r>
            <a:r>
              <a:rPr lang="en-US" altLang="ja-JP" sz="1050" b="1" dirty="0" smtClean="0">
                <a:latin typeface="Times New Roman" panose="02020603050405020304" pitchFamily="18" charset="0"/>
                <a:ea typeface="Meiryo UI" panose="020B0604030504040204" pitchFamily="50" charset="-128"/>
                <a:cs typeface="Times New Roman" panose="02020603050405020304" pitchFamily="18" charset="0"/>
              </a:rPr>
              <a:t>UFJ</a:t>
            </a:r>
            <a:endParaRPr lang="en-US" altLang="ja-JP" sz="1050" b="1" dirty="0">
              <a:latin typeface="Times New Roman" panose="02020603050405020304" pitchFamily="18" charset="0"/>
              <a:ea typeface="Meiryo UI" panose="020B0604030504040204" pitchFamily="50" charset="-128"/>
              <a:cs typeface="Times New Roman" panose="02020603050405020304" pitchFamily="18"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untuk</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smtClean="0">
                <a:latin typeface="Times New Roman" panose="02020603050405020304" pitchFamily="18" charset="0"/>
                <a:ea typeface="Meiryo UI" panose="020B0604030504040204" pitchFamily="50" charset="-128"/>
                <a:cs typeface="Times New Roman" panose="02020603050405020304" pitchFamily="18" charset="0"/>
              </a:rPr>
              <a:t>menarik</a:t>
            </a:r>
            <a:r>
              <a:rPr lang="vi-VN"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smtClean="0">
                <a:latin typeface="Times New Roman" panose="02020603050405020304" pitchFamily="18" charset="0"/>
                <a:ea typeface="Meiryo UI" panose="020B0604030504040204" pitchFamily="50" charset="-128"/>
                <a:cs typeface="Times New Roman" panose="02020603050405020304" pitchFamily="18" charset="0"/>
              </a:rPr>
              <a:t>UFJ</a:t>
            </a:r>
            <a:endParaRPr lang="ja-JP" altLang="en-US"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32" name="正方形/長方形 31"/>
          <p:cNvSpPr/>
          <p:nvPr/>
        </p:nvSpPr>
        <p:spPr>
          <a:xfrm>
            <a:off x="7904086" y="1075278"/>
            <a:ext cx="498855" cy="253916"/>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㉒</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㉓</a:t>
            </a:r>
            <a:endParaRPr lang="en-US" altLang="ja-JP" sz="1050" dirty="0">
              <a:latin typeface="Arial" panose="020B0604020202020204" pitchFamily="34" charset="0"/>
              <a:cs typeface="Arial" panose="020B0604020202020204" pitchFamily="34" charset="0"/>
            </a:endParaRPr>
          </a:p>
        </p:txBody>
      </p:sp>
      <p:sp>
        <p:nvSpPr>
          <p:cNvPr id="33" name="正方形/長方形 32"/>
          <p:cNvSpPr/>
          <p:nvPr/>
        </p:nvSpPr>
        <p:spPr>
          <a:xfrm>
            <a:off x="5160917" y="1469617"/>
            <a:ext cx="2429634" cy="415498"/>
          </a:xfrm>
          <a:prstGeom prst="rect">
            <a:avLst/>
          </a:prstGeom>
        </p:spPr>
        <p:txBody>
          <a:bodyPr wrap="square">
            <a:spAutoFit/>
          </a:bodyPr>
          <a:lstStyle/>
          <a:p>
            <a:r>
              <a:rPr lang="ja-JP" altLang="en-US" sz="1050" dirty="0" smtClean="0">
                <a:latin typeface="Meiryo UI" panose="020B0604030504040204" pitchFamily="50" charset="-128"/>
                <a:ea typeface="Meiryo UI" panose="020B0604030504040204" pitchFamily="50" charset="-128"/>
                <a:cs typeface="Arial" panose="020B0604020202020204" pitchFamily="34" charset="0"/>
              </a:rPr>
              <a:t>・ぎんこう</a:t>
            </a:r>
            <a:r>
              <a:rPr lang="ja-JP" altLang="en-US" sz="1050" dirty="0">
                <a:latin typeface="Meiryo UI" panose="020B0604030504040204" pitchFamily="50" charset="-128"/>
                <a:ea typeface="Meiryo UI" panose="020B0604030504040204" pitchFamily="50" charset="-128"/>
                <a:cs typeface="Arial" panose="020B0604020202020204" pitchFamily="34" charset="0"/>
              </a:rPr>
              <a:t>ふりこみ</a:t>
            </a:r>
            <a:r>
              <a:rPr lang="ja-JP" altLang="en-US" sz="1050" dirty="0" err="1">
                <a:latin typeface="Meiryo UI" panose="020B0604030504040204" pitchFamily="50" charset="-128"/>
                <a:ea typeface="Meiryo UI" panose="020B0604030504040204" pitchFamily="50" charset="-128"/>
                <a:cs typeface="Arial" panose="020B0604020202020204" pitchFamily="34" charset="0"/>
              </a:rPr>
              <a:t>ほう</a:t>
            </a:r>
            <a:r>
              <a:rPr lang="ja-JP" altLang="en-US" sz="1050" dirty="0" err="1" smtClean="0">
                <a:latin typeface="Meiryo UI" panose="020B0604030504040204" pitchFamily="50" charset="-128"/>
                <a:ea typeface="Meiryo UI" panose="020B0604030504040204" pitchFamily="50" charset="-128"/>
                <a:cs typeface="Arial" panose="020B0604020202020204" pitchFamily="34" charset="0"/>
              </a:rPr>
              <a:t>ほう</a:t>
            </a:r>
            <a:r>
              <a:rPr lang="ja-JP" altLang="en-US" sz="1050" dirty="0" smtClean="0">
                <a:latin typeface="Meiryo UI" panose="020B0604030504040204" pitchFamily="50" charset="-128"/>
                <a:ea typeface="Meiryo UI" panose="020B0604030504040204" pitchFamily="50" charset="-128"/>
                <a:cs typeface="Arial" panose="020B0604020202020204" pitchFamily="34" charset="0"/>
              </a:rPr>
              <a:t>　</a:t>
            </a:r>
            <a:r>
              <a:rPr lang="en-US" altLang="ja-JP" sz="1050" b="1" dirty="0" smtClean="0">
                <a:latin typeface="Times New Roman" panose="02020603050405020304" pitchFamily="18" charset="0"/>
                <a:cs typeface="Times New Roman" panose="02020603050405020304" pitchFamily="18" charset="0"/>
              </a:rPr>
              <a:t>UFJ</a:t>
            </a:r>
            <a:endParaRPr lang="en-US" altLang="ja-JP" sz="1050" b="1" dirty="0">
              <a:latin typeface="Times New Roman" panose="02020603050405020304" pitchFamily="18" charset="0"/>
              <a:cs typeface="Times New Roman" panose="02020603050405020304" pitchFamily="18" charset="0"/>
            </a:endParaRPr>
          </a:p>
          <a:p>
            <a:r>
              <a:rPr lang="en-US" altLang="ja-JP" sz="1050" dirty="0">
                <a:latin typeface="Times New Roman" panose="02020603050405020304" pitchFamily="18" charset="0"/>
                <a:cs typeface="Times New Roman" panose="02020603050405020304" pitchFamily="18" charset="0"/>
              </a:rPr>
              <a:t>Cara </a:t>
            </a:r>
            <a:r>
              <a:rPr lang="en-US" altLang="ja-JP" sz="1050" dirty="0" err="1">
                <a:latin typeface="Times New Roman" panose="02020603050405020304" pitchFamily="18" charset="0"/>
                <a:cs typeface="Times New Roman" panose="02020603050405020304" pitchFamily="18" charset="0"/>
              </a:rPr>
              <a:t>melakukan</a:t>
            </a:r>
            <a:r>
              <a:rPr lang="en-US" altLang="ja-JP" sz="1050" dirty="0">
                <a:latin typeface="Times New Roman" panose="02020603050405020304" pitchFamily="18" charset="0"/>
                <a:cs typeface="Times New Roman" panose="02020603050405020304" pitchFamily="18" charset="0"/>
              </a:rPr>
              <a:t> transfer </a:t>
            </a:r>
            <a:r>
              <a:rPr lang="en-US" altLang="ja-JP" sz="1050" dirty="0" smtClean="0">
                <a:latin typeface="Times New Roman" panose="02020603050405020304" pitchFamily="18" charset="0"/>
                <a:cs typeface="Times New Roman" panose="02020603050405020304" pitchFamily="18" charset="0"/>
              </a:rPr>
              <a:t>bank</a:t>
            </a:r>
            <a:r>
              <a:rPr lang="vi-VN" altLang="ja-JP" sz="1050" dirty="0">
                <a:latin typeface="Times New Roman" panose="02020603050405020304" pitchFamily="18" charset="0"/>
                <a:cs typeface="Times New Roman" panose="02020603050405020304" pitchFamily="18" charset="0"/>
              </a:rPr>
              <a:t> </a:t>
            </a:r>
            <a:r>
              <a:rPr lang="en-US" altLang="ja-JP" sz="1050" dirty="0" smtClean="0">
                <a:latin typeface="Times New Roman" panose="02020603050405020304" pitchFamily="18" charset="0"/>
                <a:cs typeface="Times New Roman" panose="02020603050405020304" pitchFamily="18" charset="0"/>
              </a:rPr>
              <a:t>UFJ</a:t>
            </a:r>
            <a:endParaRPr lang="ja-JP" altLang="en-US" sz="1050" dirty="0">
              <a:latin typeface="Times New Roman" panose="02020603050405020304" pitchFamily="18" charset="0"/>
              <a:cs typeface="Times New Roman" panose="02020603050405020304" pitchFamily="18" charset="0"/>
            </a:endParaRPr>
          </a:p>
        </p:txBody>
      </p:sp>
      <p:sp>
        <p:nvSpPr>
          <p:cNvPr id="34" name="正方形/長方形 33"/>
          <p:cNvSpPr/>
          <p:nvPr/>
        </p:nvSpPr>
        <p:spPr>
          <a:xfrm>
            <a:off x="7904086" y="1527083"/>
            <a:ext cx="498855" cy="253916"/>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㉔</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㉗</a:t>
            </a:r>
            <a:endParaRPr lang="en-US" altLang="ja-JP" sz="1050" dirty="0">
              <a:latin typeface="Arial" panose="020B0604020202020204" pitchFamily="34" charset="0"/>
              <a:cs typeface="Arial" panose="020B0604020202020204" pitchFamily="34" charset="0"/>
            </a:endParaRPr>
          </a:p>
        </p:txBody>
      </p:sp>
      <p:sp>
        <p:nvSpPr>
          <p:cNvPr id="35" name="正方形/長方形 34"/>
          <p:cNvSpPr/>
          <p:nvPr/>
        </p:nvSpPr>
        <p:spPr>
          <a:xfrm>
            <a:off x="5150362" y="2944144"/>
            <a:ext cx="2305439" cy="415498"/>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a:t>
            </a:r>
            <a:r>
              <a:rPr lang="ja-JP" altLang="en-US" sz="1050" dirty="0" smtClean="0">
                <a:latin typeface="Meiryo UI" panose="020B0604030504040204" pitchFamily="50" charset="-128"/>
                <a:ea typeface="Meiryo UI" panose="020B0604030504040204" pitchFamily="50" charset="-128"/>
                <a:cs typeface="Times New Roman" panose="02020603050405020304" pitchFamily="18" charset="0"/>
              </a:rPr>
              <a:t>ぎんこう</a:t>
            </a:r>
            <a:r>
              <a:rPr lang="ja-JP" altLang="en-US" sz="1050" dirty="0">
                <a:latin typeface="Meiryo UI" panose="020B0604030504040204" pitchFamily="50" charset="-128"/>
                <a:ea typeface="Meiryo UI" panose="020B0604030504040204" pitchFamily="50" charset="-128"/>
                <a:cs typeface="Times New Roman" panose="02020603050405020304" pitchFamily="18" charset="0"/>
              </a:rPr>
              <a:t>のことばに</a:t>
            </a:r>
            <a:r>
              <a:rPr lang="ja-JP" altLang="en-US" sz="1050" dirty="0" smtClean="0">
                <a:latin typeface="Meiryo UI" panose="020B0604030504040204" pitchFamily="50" charset="-128"/>
                <a:ea typeface="Meiryo UI" panose="020B0604030504040204" pitchFamily="50" charset="-128"/>
                <a:cs typeface="Times New Roman" panose="02020603050405020304" pitchFamily="18" charset="0"/>
              </a:rPr>
              <a:t>ついて</a:t>
            </a:r>
            <a:endParaRPr lang="en-US" altLang="ja-JP" sz="1050" dirty="0" smtClean="0">
              <a:latin typeface="Meiryo UI" panose="020B0604030504040204" pitchFamily="50" charset="-128"/>
              <a:ea typeface="Meiryo UI" panose="020B0604030504040204" pitchFamily="50" charset="-128"/>
              <a:cs typeface="Times New Roman" panose="02020603050405020304" pitchFamily="18" charset="0"/>
            </a:endParaRPr>
          </a:p>
          <a:p>
            <a:r>
              <a:rPr lang="de-DE" altLang="ja-JP" sz="1050" dirty="0">
                <a:latin typeface="Times New Roman" panose="02020603050405020304" pitchFamily="18" charset="0"/>
                <a:ea typeface="Meiryo UI" panose="020B0604030504040204" pitchFamily="50" charset="-128"/>
                <a:cs typeface="Times New Roman" panose="02020603050405020304" pitchFamily="18" charset="0"/>
              </a:rPr>
              <a:t>Tentang istilah yang digunakan di bank</a:t>
            </a:r>
          </a:p>
        </p:txBody>
      </p:sp>
      <p:sp>
        <p:nvSpPr>
          <p:cNvPr id="36" name="正方形/長方形 35"/>
          <p:cNvSpPr/>
          <p:nvPr/>
        </p:nvSpPr>
        <p:spPr>
          <a:xfrm>
            <a:off x="8046290" y="2991868"/>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㉚</a:t>
            </a:r>
            <a:endParaRPr lang="en-US" altLang="ja-JP" sz="1050" dirty="0">
              <a:latin typeface="Arial" panose="020B0604020202020204" pitchFamily="34" charset="0"/>
              <a:cs typeface="Arial" panose="020B0604020202020204" pitchFamily="34" charset="0"/>
            </a:endParaRPr>
          </a:p>
        </p:txBody>
      </p:sp>
      <p:sp>
        <p:nvSpPr>
          <p:cNvPr id="37" name="正方形/長方形 36"/>
          <p:cNvSpPr/>
          <p:nvPr/>
        </p:nvSpPr>
        <p:spPr>
          <a:xfrm>
            <a:off x="5163120" y="3513908"/>
            <a:ext cx="2504505" cy="415498"/>
          </a:xfrm>
          <a:prstGeom prst="rect">
            <a:avLst/>
          </a:prstGeom>
        </p:spPr>
        <p:txBody>
          <a:bodyPr wrap="square">
            <a:spAutoFit/>
          </a:bodyPr>
          <a:lstStyle/>
          <a:p>
            <a:pPr fontAlgn="base"/>
            <a:r>
              <a:rPr lang="ja-JP" altLang="en-US" sz="1050" dirty="0" smtClean="0">
                <a:latin typeface="Arial" panose="020B0604020202020204" pitchFamily="34" charset="0"/>
                <a:ea typeface="Meiryo UI" panose="020B0604030504040204" pitchFamily="50" charset="-128"/>
                <a:cs typeface="Arial" panose="020B0604020202020204" pitchFamily="34" charset="0"/>
              </a:rPr>
              <a:t>・きっぷ</a:t>
            </a:r>
            <a:r>
              <a:rPr lang="ja-JP" altLang="en-US" sz="1050" dirty="0">
                <a:latin typeface="Arial" panose="020B0604020202020204" pitchFamily="34" charset="0"/>
                <a:ea typeface="Meiryo UI" panose="020B0604030504040204" pitchFamily="50" charset="-128"/>
                <a:cs typeface="Arial" panose="020B0604020202020204" pitchFamily="34" charset="0"/>
              </a:rPr>
              <a:t>のかいかた、</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のりかた</a:t>
            </a:r>
            <a:endParaRPr lang="en-US" altLang="ja-JP" sz="1050" dirty="0" smtClean="0">
              <a:latin typeface="Arial" panose="020B0604020202020204" pitchFamily="34" charset="0"/>
              <a:ea typeface="Meiryo UI" panose="020B0604030504040204" pitchFamily="50" charset="-128"/>
              <a:cs typeface="Arial" panose="020B0604020202020204" pitchFamily="34" charset="0"/>
            </a:endParaRPr>
          </a:p>
          <a:p>
            <a:pPr fontAlgn="base"/>
            <a:r>
              <a:rPr lang="es-ES" altLang="ja-JP" sz="1050" dirty="0">
                <a:latin typeface="Times New Roman" panose="02020603050405020304" pitchFamily="18" charset="0"/>
                <a:ea typeface="Meiryo UI" panose="020B0604030504040204" pitchFamily="50" charset="-128"/>
                <a:cs typeface="Times New Roman" panose="02020603050405020304" pitchFamily="18" charset="0"/>
              </a:rPr>
              <a:t>Cara membeli tiket dan cara naik </a:t>
            </a:r>
            <a:r>
              <a:rPr lang="es-ES" altLang="ja-JP" sz="1050" dirty="0" smtClean="0">
                <a:latin typeface="Times New Roman" panose="02020603050405020304" pitchFamily="18" charset="0"/>
                <a:ea typeface="Meiryo UI" panose="020B0604030504040204" pitchFamily="50" charset="-128"/>
                <a:cs typeface="Times New Roman" panose="02020603050405020304" pitchFamily="18" charset="0"/>
              </a:rPr>
              <a:t>kereta</a:t>
            </a:r>
            <a:endParaRPr lang="es-ES" altLang="ja-JP"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38" name="正方形/長方形 37"/>
          <p:cNvSpPr/>
          <p:nvPr/>
        </p:nvSpPr>
        <p:spPr>
          <a:xfrm>
            <a:off x="8045722" y="3597289"/>
            <a:ext cx="342792" cy="253916"/>
          </a:xfrm>
          <a:prstGeom prst="rect">
            <a:avLst/>
          </a:prstGeom>
        </p:spPr>
        <p:txBody>
          <a:bodyPr wrap="square">
            <a:spAutoFit/>
          </a:bodyPr>
          <a:lstStyle/>
          <a:p>
            <a:r>
              <a:rPr lang="ja-JP" altLang="en-US" sz="1050" dirty="0">
                <a:latin typeface="Arial" panose="020B0604020202020204" pitchFamily="34" charset="0"/>
                <a:cs typeface="Arial" panose="020B0604020202020204" pitchFamily="34" charset="0"/>
              </a:rPr>
              <a:t>㉛</a:t>
            </a:r>
            <a:endParaRPr lang="en-US" altLang="ja-JP" sz="1050" dirty="0">
              <a:latin typeface="Arial" panose="020B0604020202020204" pitchFamily="34" charset="0"/>
              <a:cs typeface="Arial" panose="020B0604020202020204" pitchFamily="34" charset="0"/>
            </a:endParaRPr>
          </a:p>
        </p:txBody>
      </p:sp>
      <p:sp>
        <p:nvSpPr>
          <p:cNvPr id="39" name="正方形/長方形 38"/>
          <p:cNvSpPr/>
          <p:nvPr/>
        </p:nvSpPr>
        <p:spPr>
          <a:xfrm>
            <a:off x="5160917" y="4048822"/>
            <a:ext cx="2627285"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・にほん</a:t>
            </a:r>
            <a:r>
              <a:rPr lang="ja-JP" altLang="en-US" sz="1050" dirty="0">
                <a:latin typeface="Arial" panose="020B0604020202020204" pitchFamily="34" charset="0"/>
                <a:ea typeface="Meiryo UI" panose="020B0604030504040204" pitchFamily="50" charset="-128"/>
                <a:cs typeface="Arial" panose="020B0604020202020204" pitchFamily="34" charset="0"/>
              </a:rPr>
              <a:t>ではお金のしはらいかた</a:t>
            </a:r>
          </a:p>
          <a:p>
            <a:r>
              <a:rPr lang="pt-BR" altLang="ja-JP" sz="1050" dirty="0">
                <a:latin typeface="Times New Roman" panose="02020603050405020304" pitchFamily="18" charset="0"/>
                <a:ea typeface="Meiryo UI" panose="020B0604030504040204" pitchFamily="50" charset="-128"/>
                <a:cs typeface="Times New Roman" panose="02020603050405020304" pitchFamily="18" charset="0"/>
              </a:rPr>
              <a:t>Cara membayar uang di Jepang</a:t>
            </a:r>
          </a:p>
        </p:txBody>
      </p:sp>
      <p:sp>
        <p:nvSpPr>
          <p:cNvPr id="40" name="正方形/長方形 39"/>
          <p:cNvSpPr/>
          <p:nvPr/>
        </p:nvSpPr>
        <p:spPr>
          <a:xfrm>
            <a:off x="7954117" y="4202711"/>
            <a:ext cx="498855" cy="253916"/>
          </a:xfrm>
          <a:prstGeom prst="rect">
            <a:avLst/>
          </a:prstGeom>
        </p:spPr>
        <p:txBody>
          <a:bodyPr wrap="none">
            <a:spAutoFit/>
          </a:bodyPr>
          <a:lstStyle/>
          <a:p>
            <a:r>
              <a:rPr lang="ja-JP" altLang="en-US" sz="1050" dirty="0" smtClean="0">
                <a:latin typeface="Arial" panose="020B0604020202020204" pitchFamily="34" charset="0"/>
                <a:cs typeface="Arial" panose="020B0604020202020204" pitchFamily="34" charset="0"/>
              </a:rPr>
              <a:t>㉜</a:t>
            </a:r>
            <a:r>
              <a:rPr lang="en-US" altLang="ja-JP" sz="1050" dirty="0" smtClean="0">
                <a:latin typeface="Arial" panose="020B0604020202020204" pitchFamily="34" charset="0"/>
                <a:cs typeface="Arial" panose="020B0604020202020204" pitchFamily="34" charset="0"/>
              </a:rPr>
              <a:t>-</a:t>
            </a:r>
            <a:r>
              <a:rPr lang="ja-JP" altLang="en-US" sz="1050" dirty="0" smtClean="0">
                <a:latin typeface="Arial" panose="020B0604020202020204" pitchFamily="34" charset="0"/>
                <a:cs typeface="Arial" panose="020B0604020202020204" pitchFamily="34" charset="0"/>
              </a:rPr>
              <a:t>㉝</a:t>
            </a:r>
            <a:endParaRPr lang="en-US" altLang="ja-JP" sz="1050" dirty="0">
              <a:latin typeface="Arial" panose="020B0604020202020204" pitchFamily="34" charset="0"/>
              <a:cs typeface="Arial" panose="020B0604020202020204" pitchFamily="34" charset="0"/>
            </a:endParaRPr>
          </a:p>
        </p:txBody>
      </p:sp>
      <p:sp>
        <p:nvSpPr>
          <p:cNvPr id="41" name="正方形/長方形 40"/>
          <p:cNvSpPr/>
          <p:nvPr/>
        </p:nvSpPr>
        <p:spPr>
          <a:xfrm>
            <a:off x="3307991" y="76881"/>
            <a:ext cx="2109397" cy="338554"/>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r>
              <a:rPr lang="ja-JP" altLang="en-US" sz="1600" b="1" dirty="0" smtClean="0">
                <a:latin typeface="Arial" panose="020B0604020202020204" pitchFamily="34" charset="0"/>
                <a:ea typeface="Meiryo UI" panose="020B0604030504040204" pitchFamily="50" charset="-128"/>
                <a:cs typeface="Arial" panose="020B0604020202020204" pitchFamily="34" charset="0"/>
              </a:rPr>
              <a:t>説明書　</a:t>
            </a:r>
            <a:r>
              <a:rPr lang="en-US" altLang="ja-JP" sz="1600" dirty="0" err="1"/>
              <a:t>Penjelasan</a:t>
            </a:r>
            <a:endParaRPr lang="en-US" altLang="ja-JP" sz="1600" b="1" dirty="0" smtClean="0">
              <a:latin typeface="Arial" panose="020B0604020202020204" pitchFamily="34" charset="0"/>
              <a:ea typeface="Meiryo UI" panose="020B0604030504040204" pitchFamily="50" charset="-128"/>
              <a:cs typeface="Arial" panose="020B0604020202020204" pitchFamily="34" charset="0"/>
            </a:endParaRPr>
          </a:p>
        </p:txBody>
      </p:sp>
      <p:sp>
        <p:nvSpPr>
          <p:cNvPr id="42" name="正方形/長方形 41"/>
          <p:cNvSpPr/>
          <p:nvPr/>
        </p:nvSpPr>
        <p:spPr>
          <a:xfrm>
            <a:off x="5160917" y="2512505"/>
            <a:ext cx="2384313" cy="415498"/>
          </a:xfrm>
          <a:prstGeom prst="rect">
            <a:avLst/>
          </a:prstGeom>
        </p:spPr>
        <p:txBody>
          <a:bodyPr wrap="square">
            <a:spAutoFit/>
          </a:bodyPr>
          <a:lstStyle/>
          <a:p>
            <a:r>
              <a:rPr lang="ja-JP" altLang="en-US" sz="1050" dirty="0" smtClean="0">
                <a:latin typeface="Arial" panose="020B0604020202020204" pitchFamily="34" charset="0"/>
                <a:ea typeface="Meiryo UI" panose="020B0604030504040204" pitchFamily="50" charset="-128"/>
                <a:cs typeface="Arial" panose="020B0604020202020204" pitchFamily="34" charset="0"/>
              </a:rPr>
              <a:t>・ ひきだす</a:t>
            </a:r>
            <a:r>
              <a:rPr lang="ja-JP" altLang="en-US" sz="1050" dirty="0" err="1">
                <a:latin typeface="Arial" panose="020B0604020202020204" pitchFamily="34" charset="0"/>
                <a:ea typeface="Meiryo UI" panose="020B0604030504040204" pitchFamily="50" charset="-128"/>
                <a:cs typeface="Arial" panose="020B0604020202020204" pitchFamily="34" charset="0"/>
              </a:rPr>
              <a:t>ほう</a:t>
            </a:r>
            <a:r>
              <a:rPr lang="ja-JP" altLang="en-US" sz="1050" dirty="0" err="1" smtClean="0">
                <a:latin typeface="Arial" panose="020B0604020202020204" pitchFamily="34" charset="0"/>
                <a:ea typeface="Meiryo UI" panose="020B0604030504040204" pitchFamily="50" charset="-128"/>
                <a:cs typeface="Arial" panose="020B0604020202020204" pitchFamily="34" charset="0"/>
              </a:rPr>
              <a:t>ほう</a:t>
            </a:r>
            <a:r>
              <a:rPr lang="vi-VN" altLang="ja-JP" sz="1050" dirty="0" smtClean="0">
                <a:latin typeface="Arial" panose="020B0604020202020204" pitchFamily="34" charset="0"/>
                <a:ea typeface="Meiryo UI" panose="020B0604030504040204" pitchFamily="50" charset="-128"/>
                <a:cs typeface="Arial" panose="020B0604020202020204" pitchFamily="34" charset="0"/>
              </a:rPr>
              <a:t> </a:t>
            </a:r>
            <a:r>
              <a:rPr lang="ja-JP" altLang="en-US" sz="1050" b="1" dirty="0" smtClean="0">
                <a:latin typeface="Arial" panose="020B0604020202020204" pitchFamily="34" charset="0"/>
                <a:ea typeface="Meiryo UI" panose="020B0604030504040204" pitchFamily="50" charset="-128"/>
                <a:cs typeface="Arial" panose="020B0604020202020204" pitchFamily="34" charset="0"/>
              </a:rPr>
              <a:t>ゆうちょう</a:t>
            </a:r>
            <a:endParaRPr lang="en-US" altLang="ja-JP" sz="1050" b="1" dirty="0">
              <a:latin typeface="Arial" panose="020B0604020202020204" pitchFamily="34" charset="0"/>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menarik</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a:t>
            </a:r>
            <a:r>
              <a:rPr lang="en-US" altLang="ja-JP" sz="1050" dirty="0" err="1" smtClean="0">
                <a:latin typeface="Times New Roman" panose="02020603050405020304" pitchFamily="18" charset="0"/>
                <a:ea typeface="Meiryo UI" panose="020B0604030504040204" pitchFamily="50" charset="-128"/>
                <a:cs typeface="Times New Roman" panose="02020603050405020304" pitchFamily="18" charset="0"/>
              </a:rPr>
              <a:t>uang</a:t>
            </a:r>
            <a:r>
              <a:rPr lang="vi-VN" altLang="ja-JP" sz="1050" dirty="0" smtClean="0">
                <a:latin typeface="Times New Roman" panose="02020603050405020304" pitchFamily="18" charset="0"/>
                <a:ea typeface="Meiryo UI" panose="020B0604030504040204" pitchFamily="50" charset="-128"/>
                <a:cs typeface="Times New Roman" panose="02020603050405020304" pitchFamily="18" charset="0"/>
              </a:rPr>
              <a:t> Yucho</a:t>
            </a:r>
            <a:endParaRPr lang="ja-JP" altLang="en-US" sz="105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43" name="正方形/長方形 42"/>
          <p:cNvSpPr/>
          <p:nvPr/>
        </p:nvSpPr>
        <p:spPr>
          <a:xfrm>
            <a:off x="8046290" y="2018276"/>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㉘</a:t>
            </a:r>
            <a:endParaRPr lang="en-US" altLang="ja-JP" sz="1050" dirty="0">
              <a:latin typeface="Arial" panose="020B0604020202020204" pitchFamily="34" charset="0"/>
              <a:cs typeface="Arial" panose="020B0604020202020204" pitchFamily="34" charset="0"/>
            </a:endParaRPr>
          </a:p>
        </p:txBody>
      </p:sp>
      <p:sp>
        <p:nvSpPr>
          <p:cNvPr id="44" name="正方形/長方形 43"/>
          <p:cNvSpPr/>
          <p:nvPr/>
        </p:nvSpPr>
        <p:spPr>
          <a:xfrm>
            <a:off x="5160917" y="1983433"/>
            <a:ext cx="3049517" cy="415498"/>
          </a:xfrm>
          <a:prstGeom prst="rect">
            <a:avLst/>
          </a:prstGeom>
        </p:spPr>
        <p:txBody>
          <a:bodyPr wrap="square">
            <a:spAutoFit/>
          </a:bodyPr>
          <a:lstStyle/>
          <a:p>
            <a:r>
              <a:rPr lang="ja-JP" altLang="en-US" sz="1050" dirty="0" smtClean="0">
                <a:latin typeface="Arial" panose="020B0604020202020204" pitchFamily="34" charset="0"/>
                <a:cs typeface="Arial" panose="020B0604020202020204" pitchFamily="34" charset="0"/>
              </a:rPr>
              <a:t>・</a:t>
            </a:r>
            <a:r>
              <a:rPr lang="ja-JP" altLang="en-US" sz="1050" dirty="0" smtClean="0">
                <a:latin typeface="Meiryo UI" panose="020B0604030504040204" pitchFamily="50" charset="-128"/>
                <a:ea typeface="Meiryo UI" panose="020B0604030504040204" pitchFamily="50" charset="-128"/>
                <a:cs typeface="Arial" panose="020B0604020202020204" pitchFamily="34" charset="0"/>
              </a:rPr>
              <a:t>ぎんこう</a:t>
            </a:r>
            <a:r>
              <a:rPr lang="ja-JP" altLang="en-US" sz="1050" dirty="0">
                <a:latin typeface="Meiryo UI" panose="020B0604030504040204" pitchFamily="50" charset="-128"/>
                <a:ea typeface="Meiryo UI" panose="020B0604030504040204" pitchFamily="50" charset="-128"/>
                <a:cs typeface="Arial" panose="020B0604020202020204" pitchFamily="34" charset="0"/>
              </a:rPr>
              <a:t>ふりこみ</a:t>
            </a:r>
            <a:r>
              <a:rPr lang="ja-JP" altLang="en-US" sz="1050" dirty="0" err="1" smtClean="0">
                <a:latin typeface="Meiryo UI" panose="020B0604030504040204" pitchFamily="50" charset="-128"/>
                <a:ea typeface="Meiryo UI" panose="020B0604030504040204" pitchFamily="50" charset="-128"/>
                <a:cs typeface="Arial" panose="020B0604020202020204" pitchFamily="34" charset="0"/>
              </a:rPr>
              <a:t>ほうほう</a:t>
            </a:r>
            <a:r>
              <a:rPr lang="ja-JP" altLang="en-US" sz="1050" b="1" dirty="0">
                <a:latin typeface="Meiryo UI" panose="020B0604030504040204" pitchFamily="50" charset="-128"/>
                <a:ea typeface="Meiryo UI" panose="020B0604030504040204" pitchFamily="50" charset="-128"/>
                <a:cs typeface="Arial" panose="020B0604020202020204" pitchFamily="34" charset="0"/>
              </a:rPr>
              <a:t>ゆうちょう</a:t>
            </a:r>
            <a:endParaRPr lang="en-US" altLang="ja-JP" sz="1050" b="1" dirty="0">
              <a:latin typeface="Meiryo UI" panose="020B0604030504040204" pitchFamily="50" charset="-128"/>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cs typeface="Times New Roman" panose="02020603050405020304" pitchFamily="18" charset="0"/>
              </a:rPr>
              <a:t>Cara </a:t>
            </a:r>
            <a:r>
              <a:rPr lang="en-US" altLang="ja-JP" sz="1050" dirty="0" err="1">
                <a:latin typeface="Times New Roman" panose="02020603050405020304" pitchFamily="18" charset="0"/>
                <a:cs typeface="Times New Roman" panose="02020603050405020304" pitchFamily="18" charset="0"/>
              </a:rPr>
              <a:t>melakukan</a:t>
            </a:r>
            <a:r>
              <a:rPr lang="en-US" altLang="ja-JP" sz="1050" dirty="0">
                <a:latin typeface="Times New Roman" panose="02020603050405020304" pitchFamily="18" charset="0"/>
                <a:cs typeface="Times New Roman" panose="02020603050405020304" pitchFamily="18" charset="0"/>
              </a:rPr>
              <a:t> transfer </a:t>
            </a:r>
            <a:r>
              <a:rPr lang="en-US" altLang="ja-JP" sz="1050" dirty="0" smtClean="0">
                <a:latin typeface="Times New Roman" panose="02020603050405020304" pitchFamily="18" charset="0"/>
                <a:cs typeface="Times New Roman" panose="02020603050405020304" pitchFamily="18" charset="0"/>
              </a:rPr>
              <a:t>bank</a:t>
            </a:r>
            <a:r>
              <a:rPr lang="vi-VN" altLang="ja-JP" sz="1050" dirty="0" smtClean="0">
                <a:latin typeface="Times New Roman" panose="02020603050405020304" pitchFamily="18" charset="0"/>
                <a:cs typeface="Times New Roman" panose="02020603050405020304" pitchFamily="18" charset="0"/>
              </a:rPr>
              <a:t> Yucho</a:t>
            </a:r>
            <a:endParaRPr lang="ja-JP" altLang="en-US" sz="1050" dirty="0">
              <a:latin typeface="Times New Roman" panose="02020603050405020304" pitchFamily="18" charset="0"/>
              <a:cs typeface="Times New Roman" panose="02020603050405020304" pitchFamily="18" charset="0"/>
            </a:endParaRPr>
          </a:p>
        </p:txBody>
      </p:sp>
      <p:sp>
        <p:nvSpPr>
          <p:cNvPr id="45" name="正方形/長方形 44"/>
          <p:cNvSpPr/>
          <p:nvPr/>
        </p:nvSpPr>
        <p:spPr>
          <a:xfrm>
            <a:off x="8046290" y="2470260"/>
            <a:ext cx="319318" cy="253916"/>
          </a:xfrm>
          <a:prstGeom prst="rect">
            <a:avLst/>
          </a:prstGeom>
        </p:spPr>
        <p:txBody>
          <a:bodyPr wrap="none">
            <a:spAutoFit/>
          </a:bodyPr>
          <a:lstStyle/>
          <a:p>
            <a:r>
              <a:rPr lang="ja-JP" altLang="en-US" sz="1050" dirty="0">
                <a:latin typeface="Arial" panose="020B0604020202020204" pitchFamily="34" charset="0"/>
                <a:cs typeface="Arial" panose="020B0604020202020204" pitchFamily="34" charset="0"/>
              </a:rPr>
              <a:t>㉙</a:t>
            </a:r>
            <a:endParaRPr lang="en-US" altLang="ja-JP" sz="1050" dirty="0">
              <a:latin typeface="Arial" panose="020B0604020202020204" pitchFamily="34" charset="0"/>
              <a:cs typeface="Arial" panose="020B0604020202020204" pitchFamily="34" charset="0"/>
            </a:endParaRPr>
          </a:p>
        </p:txBody>
      </p:sp>
      <p:sp>
        <p:nvSpPr>
          <p:cNvPr id="46" name="正方形/長方形 45"/>
          <p:cNvSpPr/>
          <p:nvPr/>
        </p:nvSpPr>
        <p:spPr>
          <a:xfrm>
            <a:off x="304799" y="4092555"/>
            <a:ext cx="2171700" cy="415498"/>
          </a:xfrm>
          <a:prstGeom prst="rect">
            <a:avLst/>
          </a:prstGeom>
        </p:spPr>
        <p:txBody>
          <a:bodyPr wrap="square">
            <a:spAutoFit/>
          </a:bodyPr>
          <a:lstStyle/>
          <a:p>
            <a:r>
              <a:rPr lang="ja-JP" altLang="en-US" sz="1050" dirty="0">
                <a:latin typeface="Arial" panose="020B0604020202020204" pitchFamily="34" charset="0"/>
                <a:ea typeface="Meiryo UI" panose="020B0604030504040204" pitchFamily="50" charset="-128"/>
                <a:cs typeface="Arial" panose="020B0604020202020204" pitchFamily="34" charset="0"/>
              </a:rPr>
              <a:t>・すいは</a:t>
            </a:r>
            <a:r>
              <a:rPr lang="ja-JP" altLang="en-US" sz="1050" dirty="0" err="1">
                <a:latin typeface="Arial" panose="020B0604020202020204" pitchFamily="34" charset="0"/>
                <a:ea typeface="Meiryo UI" panose="020B0604030504040204" pitchFamily="50" charset="-128"/>
                <a:cs typeface="Arial" panose="020B0604020202020204" pitchFamily="34" charset="0"/>
              </a:rPr>
              <a:t>んきの</a:t>
            </a:r>
            <a:r>
              <a:rPr lang="ja-JP" altLang="en-US" sz="1050" dirty="0" smtClean="0">
                <a:latin typeface="Arial" panose="020B0604020202020204" pitchFamily="34" charset="0"/>
                <a:ea typeface="Meiryo UI" panose="020B0604030504040204" pitchFamily="50" charset="-128"/>
                <a:cs typeface="Arial" panose="020B0604020202020204" pitchFamily="34" charset="0"/>
              </a:rPr>
              <a:t>つかいかた</a:t>
            </a:r>
            <a:endParaRPr lang="en-US" altLang="ja-JP" sz="1050" dirty="0" smtClean="0">
              <a:latin typeface="Arial" panose="020B0604020202020204" pitchFamily="34" charset="0"/>
              <a:ea typeface="Meiryo UI" panose="020B0604030504040204" pitchFamily="50" charset="-128"/>
              <a:cs typeface="Arial" panose="020B0604020202020204" pitchFamily="34" charset="0"/>
            </a:endParaRPr>
          </a:p>
          <a:p>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Cara </a:t>
            </a:r>
            <a:r>
              <a:rPr lang="en-US" altLang="ja-JP" sz="1050" dirty="0" err="1">
                <a:latin typeface="Times New Roman" panose="02020603050405020304" pitchFamily="18" charset="0"/>
                <a:ea typeface="Meiryo UI" panose="020B0604030504040204" pitchFamily="50" charset="-128"/>
                <a:cs typeface="Times New Roman" panose="02020603050405020304" pitchFamily="18" charset="0"/>
              </a:rPr>
              <a:t>menggunakan</a:t>
            </a:r>
            <a:r>
              <a:rPr lang="en-US" altLang="ja-JP" sz="1050" dirty="0">
                <a:latin typeface="Times New Roman" panose="02020603050405020304" pitchFamily="18" charset="0"/>
                <a:ea typeface="Meiryo UI" panose="020B0604030504040204" pitchFamily="50" charset="-128"/>
                <a:cs typeface="Times New Roman" panose="02020603050405020304" pitchFamily="18" charset="0"/>
              </a:rPr>
              <a:t> rice </a:t>
            </a:r>
            <a:r>
              <a:rPr lang="en-US" altLang="ja-JP" sz="1050" dirty="0" smtClean="0">
                <a:latin typeface="Times New Roman" panose="02020603050405020304" pitchFamily="18" charset="0"/>
                <a:ea typeface="Meiryo UI" panose="020B0604030504040204" pitchFamily="50" charset="-128"/>
                <a:cs typeface="Times New Roman" panose="02020603050405020304" pitchFamily="18" charset="0"/>
              </a:rPr>
              <a:t>cooker</a:t>
            </a:r>
            <a:endParaRPr lang="en-US" altLang="ja-JP" sz="1050" dirty="0">
              <a:latin typeface="Times New Roman" panose="02020603050405020304" pitchFamily="18" charset="0"/>
              <a:ea typeface="Meiryo UI" panose="020B0604030504040204" pitchFamily="50" charset="-128"/>
              <a:cs typeface="Times New Roman" panose="02020603050405020304" pitchFamily="18" charset="0"/>
            </a:endParaRPr>
          </a:p>
        </p:txBody>
      </p:sp>
      <p:pic>
        <p:nvPicPr>
          <p:cNvPr id="2" name="図 1"/>
          <p:cNvPicPr>
            <a:picLocks noChangeAspect="1"/>
          </p:cNvPicPr>
          <p:nvPr/>
        </p:nvPicPr>
        <p:blipFill>
          <a:blip r:embed="rId2"/>
          <a:stretch>
            <a:fillRect/>
          </a:stretch>
        </p:blipFill>
        <p:spPr>
          <a:xfrm>
            <a:off x="5120327" y="4627101"/>
            <a:ext cx="1665334" cy="1665334"/>
          </a:xfrm>
          <a:prstGeom prst="rect">
            <a:avLst/>
          </a:prstGeom>
        </p:spPr>
      </p:pic>
    </p:spTree>
    <p:extLst>
      <p:ext uri="{BB962C8B-B14F-4D97-AF65-F5344CB8AC3E}">
        <p14:creationId xmlns:p14="http://schemas.microsoft.com/office/powerpoint/2010/main" val="33863332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p:cNvSpPr txBox="1">
            <a:spLocks/>
          </p:cNvSpPr>
          <p:nvPr/>
        </p:nvSpPr>
        <p:spPr>
          <a:xfrm>
            <a:off x="581192" y="687475"/>
            <a:ext cx="7989752" cy="709526"/>
          </a:xfrm>
          <a:prstGeom prst="rect">
            <a:avLst/>
          </a:prstGeom>
        </p:spPr>
        <p:txBody>
          <a:bodyPr vert="horz" lIns="91440" tIns="45720" rIns="91440" bIns="45720" rtlCol="0" anchor="b">
            <a:normAutofit/>
          </a:bodyPr>
          <a:lst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ctr"/>
            <a:r>
              <a:rPr lang="ja-JP" altLang="en-US" sz="4000" b="1" dirty="0">
                <a:latin typeface="Meiryo UI" panose="020B0604030504040204" pitchFamily="50" charset="-128"/>
                <a:ea typeface="Meiryo UI" panose="020B0604030504040204" pitchFamily="50" charset="-128"/>
              </a:rPr>
              <a:t>生活案内</a:t>
            </a:r>
            <a:endParaRPr lang="en-US" altLang="ja-JP" sz="4000" b="1" dirty="0">
              <a:latin typeface="Meiryo UI" panose="020B0604030504040204" pitchFamily="50" charset="-128"/>
              <a:ea typeface="Meiryo UI" panose="020B0604030504040204" pitchFamily="50" charset="-128"/>
            </a:endParaRPr>
          </a:p>
        </p:txBody>
      </p:sp>
      <p:sp>
        <p:nvSpPr>
          <p:cNvPr id="4" name="正方形/長方形 3"/>
          <p:cNvSpPr/>
          <p:nvPr/>
        </p:nvSpPr>
        <p:spPr>
          <a:xfrm>
            <a:off x="581192" y="1358901"/>
            <a:ext cx="7989752" cy="393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600" dirty="0" err="1"/>
              <a:t>Panduan</a:t>
            </a:r>
            <a:r>
              <a:rPr lang="en-US" altLang="ja-JP" sz="3600" dirty="0"/>
              <a:t> </a:t>
            </a:r>
            <a:r>
              <a:rPr lang="en-US" altLang="ja-JP" sz="3600" dirty="0" err="1"/>
              <a:t>Kehidupan</a:t>
            </a:r>
            <a:r>
              <a:rPr lang="en-US" altLang="ja-JP" sz="3600" dirty="0"/>
              <a:t> </a:t>
            </a:r>
            <a:r>
              <a:rPr lang="en-US" altLang="ja-JP" sz="3600" dirty="0" err="1"/>
              <a:t>Sehari-hari</a:t>
            </a:r>
            <a:endParaRPr lang="vi-VN" altLang="ja-JP" sz="3600" b="1" dirty="0">
              <a:solidFill>
                <a:schemeClr val="bg1"/>
              </a:solidFill>
              <a:latin typeface="Times New Roman" panose="02020603050405020304" pitchFamily="18" charset="0"/>
              <a:cs typeface="Times New Roman" panose="02020603050405020304" pitchFamily="18" charset="0"/>
            </a:endParaRPr>
          </a:p>
        </p:txBody>
      </p:sp>
      <p:sp>
        <p:nvSpPr>
          <p:cNvPr id="6" name="タイトル 1"/>
          <p:cNvSpPr txBox="1">
            <a:spLocks/>
          </p:cNvSpPr>
          <p:nvPr/>
        </p:nvSpPr>
        <p:spPr>
          <a:xfrm>
            <a:off x="1154248" y="3541856"/>
            <a:ext cx="7989752" cy="709526"/>
          </a:xfrm>
          <a:prstGeom prst="rect">
            <a:avLst/>
          </a:prstGeom>
        </p:spPr>
        <p:txBody>
          <a:bodyPr vert="horz" lIns="91440" tIns="45720" rIns="91440" bIns="45720" rtlCol="0" anchor="b">
            <a:normAutofit/>
          </a:bodyPr>
          <a:lst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ctr"/>
            <a:endParaRPr lang="en-US" altLang="ja-JP" b="1" dirty="0">
              <a:solidFill>
                <a:schemeClr val="tx1"/>
              </a:solidFill>
              <a:latin typeface="Meiryo UI" panose="020B0604030504040204" pitchFamily="50" charset="-128"/>
              <a:ea typeface="Meiryo UI" panose="020B0604030504040204" pitchFamily="50" charset="-128"/>
            </a:endParaRPr>
          </a:p>
        </p:txBody>
      </p:sp>
      <p:sp>
        <p:nvSpPr>
          <p:cNvPr id="7" name="正方形/長方形 6"/>
          <p:cNvSpPr/>
          <p:nvPr/>
        </p:nvSpPr>
        <p:spPr>
          <a:xfrm>
            <a:off x="636060" y="3632201"/>
            <a:ext cx="7989752" cy="393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vi-VN" altLang="ja-JP" sz="2400" b="1" dirty="0" smtClean="0">
              <a:solidFill>
                <a:schemeClr val="tx1"/>
              </a:solidFill>
              <a:latin typeface="Times New Roman" panose="02020603050405020304" pitchFamily="18" charset="0"/>
              <a:cs typeface="Times New Roman" panose="02020603050405020304" pitchFamily="18" charset="0"/>
            </a:endParaRPr>
          </a:p>
        </p:txBody>
      </p:sp>
      <p:sp>
        <p:nvSpPr>
          <p:cNvPr id="9" name="正方形/長方形 8"/>
          <p:cNvSpPr/>
          <p:nvPr/>
        </p:nvSpPr>
        <p:spPr>
          <a:xfrm>
            <a:off x="1415092" y="1627614"/>
            <a:ext cx="300082" cy="300082"/>
          </a:xfrm>
          <a:prstGeom prst="rect">
            <a:avLst/>
          </a:prstGeom>
        </p:spPr>
        <p:txBody>
          <a:bodyPr wrap="none">
            <a:spAutoFit/>
          </a:bodyPr>
          <a:lstStyle/>
          <a:p>
            <a:r>
              <a:rPr lang="ja-JP" altLang="en-US" sz="1350" dirty="0">
                <a:latin typeface="Meiryo UI" panose="020B0604030504040204" pitchFamily="50" charset="-128"/>
                <a:ea typeface="Meiryo UI" panose="020B0604030504040204" pitchFamily="50" charset="-128"/>
              </a:rPr>
              <a:t>　</a:t>
            </a:r>
            <a:endParaRPr lang="ja-JP" altLang="en-US" sz="1350" dirty="0"/>
          </a:p>
        </p:txBody>
      </p:sp>
      <p:sp>
        <p:nvSpPr>
          <p:cNvPr id="14" name="正方形/長方形 13"/>
          <p:cNvSpPr/>
          <p:nvPr/>
        </p:nvSpPr>
        <p:spPr>
          <a:xfrm>
            <a:off x="6887469" y="24527"/>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配布資料</a:t>
            </a:r>
            <a:endParaRPr kumimoji="1" lang="ja-JP" altLang="en-US" dirty="0">
              <a:solidFill>
                <a:schemeClr val="tx1"/>
              </a:solidFill>
            </a:endParaRPr>
          </a:p>
        </p:txBody>
      </p:sp>
      <p:pic>
        <p:nvPicPr>
          <p:cNvPr id="2" name="図 1"/>
          <p:cNvPicPr>
            <a:picLocks noChangeAspect="1"/>
          </p:cNvPicPr>
          <p:nvPr/>
        </p:nvPicPr>
        <p:blipFill>
          <a:blip r:embed="rId2"/>
          <a:stretch>
            <a:fillRect/>
          </a:stretch>
        </p:blipFill>
        <p:spPr>
          <a:xfrm>
            <a:off x="5358737" y="4648200"/>
            <a:ext cx="2259379" cy="2206682"/>
          </a:xfrm>
          <a:prstGeom prst="rect">
            <a:avLst/>
          </a:prstGeom>
        </p:spPr>
      </p:pic>
      <p:pic>
        <p:nvPicPr>
          <p:cNvPr id="5" name="図 4"/>
          <p:cNvPicPr>
            <a:picLocks noChangeAspect="1"/>
          </p:cNvPicPr>
          <p:nvPr/>
        </p:nvPicPr>
        <p:blipFill>
          <a:blip r:embed="rId3"/>
          <a:stretch>
            <a:fillRect/>
          </a:stretch>
        </p:blipFill>
        <p:spPr>
          <a:xfrm>
            <a:off x="966093" y="1927696"/>
            <a:ext cx="7219950" cy="2438400"/>
          </a:xfrm>
          <a:prstGeom prst="rect">
            <a:avLst/>
          </a:prstGeom>
        </p:spPr>
      </p:pic>
      <p:pic>
        <p:nvPicPr>
          <p:cNvPr id="11" name="図 10"/>
          <p:cNvPicPr>
            <a:picLocks noChangeAspect="1"/>
          </p:cNvPicPr>
          <p:nvPr/>
        </p:nvPicPr>
        <p:blipFill>
          <a:blip r:embed="rId4"/>
          <a:stretch>
            <a:fillRect/>
          </a:stretch>
        </p:blipFill>
        <p:spPr>
          <a:xfrm>
            <a:off x="117872" y="4936854"/>
            <a:ext cx="4914900" cy="1857375"/>
          </a:xfrm>
          <a:prstGeom prst="rect">
            <a:avLst/>
          </a:prstGeom>
        </p:spPr>
      </p:pic>
    </p:spTree>
    <p:extLst>
      <p:ext uri="{BB962C8B-B14F-4D97-AF65-F5344CB8AC3E}">
        <p14:creationId xmlns:p14="http://schemas.microsoft.com/office/powerpoint/2010/main" val="23096825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p:cNvSpPr txBox="1">
            <a:spLocks/>
          </p:cNvSpPr>
          <p:nvPr/>
        </p:nvSpPr>
        <p:spPr>
          <a:xfrm>
            <a:off x="581192" y="687475"/>
            <a:ext cx="7989752" cy="709526"/>
          </a:xfrm>
          <a:prstGeom prst="rect">
            <a:avLst/>
          </a:prstGeom>
        </p:spPr>
        <p:txBody>
          <a:bodyPr vert="horz" lIns="91440" tIns="45720" rIns="91440" bIns="45720" rtlCol="0" anchor="b">
            <a:normAutofit/>
          </a:bodyPr>
          <a:lst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ctr"/>
            <a:r>
              <a:rPr lang="ja-JP" altLang="en-US" sz="4000" b="1" dirty="0" smtClean="0">
                <a:latin typeface="Meiryo UI" panose="020B0604030504040204" pitchFamily="50" charset="-128"/>
                <a:ea typeface="Meiryo UI" panose="020B0604030504040204" pitchFamily="50" charset="-128"/>
              </a:rPr>
              <a:t>生活オリエンテーション動画</a:t>
            </a:r>
            <a:endParaRPr lang="en-US" altLang="ja-JP" sz="4000" b="1" dirty="0">
              <a:latin typeface="Meiryo UI" panose="020B0604030504040204" pitchFamily="50" charset="-128"/>
              <a:ea typeface="Meiryo UI" panose="020B0604030504040204" pitchFamily="50" charset="-128"/>
            </a:endParaRPr>
          </a:p>
        </p:txBody>
      </p:sp>
      <p:sp>
        <p:nvSpPr>
          <p:cNvPr id="4" name="正方形/長方形 3"/>
          <p:cNvSpPr/>
          <p:nvPr/>
        </p:nvSpPr>
        <p:spPr>
          <a:xfrm>
            <a:off x="581192" y="1358901"/>
            <a:ext cx="7989752" cy="393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dirty="0"/>
              <a:t>Video </a:t>
            </a:r>
            <a:r>
              <a:rPr lang="en-US" altLang="ja-JP" sz="3200" dirty="0" err="1"/>
              <a:t>orientasi</a:t>
            </a:r>
            <a:r>
              <a:rPr lang="en-US" altLang="ja-JP" sz="3200" dirty="0"/>
              <a:t> </a:t>
            </a:r>
            <a:r>
              <a:rPr lang="en-US" altLang="ja-JP" sz="3200" dirty="0" err="1"/>
              <a:t>kehidupan</a:t>
            </a:r>
            <a:r>
              <a:rPr lang="en-US" altLang="ja-JP" sz="3200" dirty="0"/>
              <a:t> </a:t>
            </a:r>
            <a:r>
              <a:rPr lang="en-US" altLang="ja-JP" sz="3200" dirty="0" err="1"/>
              <a:t>sehari-har</a:t>
            </a:r>
            <a:endParaRPr lang="vi-VN" altLang="ja-JP" sz="3200" b="1" dirty="0">
              <a:latin typeface="Times New Roman" panose="02020603050405020304" pitchFamily="18" charset="0"/>
              <a:cs typeface="Times New Roman" panose="02020603050405020304" pitchFamily="18" charset="0"/>
            </a:endParaRPr>
          </a:p>
        </p:txBody>
      </p:sp>
      <p:sp>
        <p:nvSpPr>
          <p:cNvPr id="15" name="正方形/長方形 14"/>
          <p:cNvSpPr/>
          <p:nvPr/>
        </p:nvSpPr>
        <p:spPr>
          <a:xfrm>
            <a:off x="759097" y="865380"/>
            <a:ext cx="7455887" cy="1323439"/>
          </a:xfrm>
          <a:prstGeom prst="rect">
            <a:avLst/>
          </a:prstGeom>
        </p:spPr>
        <p:txBody>
          <a:bodyPr wrap="none">
            <a:spAutoFit/>
          </a:bodyPr>
          <a:lstStyle/>
          <a:p>
            <a:pPr algn="ctr"/>
            <a:r>
              <a:rPr lang="ja-JP" altLang="en-US" sz="2000" b="1" dirty="0">
                <a:latin typeface="Times New Roman" panose="02020603050405020304" pitchFamily="18" charset="0"/>
                <a:ea typeface="Meiryo UI" panose="020B0604030504040204" pitchFamily="50" charset="-128"/>
                <a:cs typeface="Times New Roman" panose="02020603050405020304" pitchFamily="18" charset="0"/>
              </a:rPr>
              <a:t>日本では、電車やバスに乗るとき、ルールやマナーを守ることが大切</a:t>
            </a:r>
            <a:r>
              <a:rPr lang="ja-JP" altLang="en-US" sz="2000" b="1" dirty="0" smtClean="0">
                <a:latin typeface="Times New Roman" panose="02020603050405020304" pitchFamily="18" charset="0"/>
                <a:ea typeface="Meiryo UI" panose="020B0604030504040204" pitchFamily="50" charset="-128"/>
                <a:cs typeface="Times New Roman" panose="02020603050405020304" pitchFamily="18" charset="0"/>
              </a:rPr>
              <a:t>です</a:t>
            </a:r>
            <a:endParaRPr lang="en-US" altLang="ja-JP" sz="2000" b="1" dirty="0" smtClean="0">
              <a:latin typeface="Times New Roman" panose="02020603050405020304" pitchFamily="18" charset="0"/>
              <a:ea typeface="Meiryo UI" panose="020B0604030504040204" pitchFamily="50" charset="-128"/>
              <a:cs typeface="Times New Roman" panose="02020603050405020304" pitchFamily="18" charset="0"/>
            </a:endParaRPr>
          </a:p>
          <a:p>
            <a:pPr algn="ctr"/>
            <a:endParaRPr lang="en-US" altLang="ja-JP" sz="2000" b="1" dirty="0" smtClean="0">
              <a:latin typeface="Times New Roman" panose="02020603050405020304" pitchFamily="18" charset="0"/>
              <a:cs typeface="Times New Roman" panose="02020603050405020304" pitchFamily="18" charset="0"/>
            </a:endParaRPr>
          </a:p>
          <a:p>
            <a:pPr algn="ctr"/>
            <a:r>
              <a:rPr lang="en-US" altLang="ja-JP" sz="2000" dirty="0"/>
              <a:t>Di </a:t>
            </a:r>
            <a:r>
              <a:rPr lang="en-US" altLang="ja-JP" sz="2000" dirty="0" err="1"/>
              <a:t>Jepang</a:t>
            </a:r>
            <a:r>
              <a:rPr lang="en-US" altLang="ja-JP" sz="2000" dirty="0"/>
              <a:t>, </a:t>
            </a:r>
            <a:r>
              <a:rPr lang="en-US" altLang="ja-JP" sz="2000" dirty="0" err="1"/>
              <a:t>saat</a:t>
            </a:r>
            <a:r>
              <a:rPr lang="en-US" altLang="ja-JP" sz="2000" dirty="0"/>
              <a:t> </a:t>
            </a:r>
            <a:r>
              <a:rPr lang="en-US" altLang="ja-JP" sz="2000" dirty="0" err="1"/>
              <a:t>naik</a:t>
            </a:r>
            <a:r>
              <a:rPr lang="en-US" altLang="ja-JP" sz="2000" dirty="0"/>
              <a:t> </a:t>
            </a:r>
            <a:r>
              <a:rPr lang="en-US" altLang="ja-JP" sz="2000" dirty="0" err="1"/>
              <a:t>kereta</a:t>
            </a:r>
            <a:r>
              <a:rPr lang="en-US" altLang="ja-JP" sz="2000" dirty="0"/>
              <a:t> </a:t>
            </a:r>
            <a:r>
              <a:rPr lang="en-US" altLang="ja-JP" sz="2000" dirty="0" err="1"/>
              <a:t>atau</a:t>
            </a:r>
            <a:r>
              <a:rPr lang="en-US" altLang="ja-JP" sz="2000" dirty="0"/>
              <a:t> bus, </a:t>
            </a:r>
            <a:r>
              <a:rPr lang="en-US" altLang="ja-JP" sz="2000" dirty="0" err="1"/>
              <a:t>penting</a:t>
            </a:r>
            <a:r>
              <a:rPr lang="en-US" altLang="ja-JP" sz="2000" dirty="0"/>
              <a:t> </a:t>
            </a:r>
            <a:r>
              <a:rPr lang="en-US" altLang="ja-JP" sz="2000" dirty="0" err="1"/>
              <a:t>untuk</a:t>
            </a:r>
            <a:r>
              <a:rPr lang="en-US" altLang="ja-JP" sz="2000" dirty="0"/>
              <a:t> </a:t>
            </a:r>
            <a:endParaRPr lang="en-US" altLang="ja-JP" sz="2000" dirty="0" smtClean="0"/>
          </a:p>
          <a:p>
            <a:pPr algn="ctr"/>
            <a:r>
              <a:rPr lang="en-US" altLang="ja-JP" sz="2000" dirty="0" err="1" smtClean="0"/>
              <a:t>mengikuti</a:t>
            </a:r>
            <a:r>
              <a:rPr lang="en-US" altLang="ja-JP" sz="2000" dirty="0" smtClean="0"/>
              <a:t> </a:t>
            </a:r>
            <a:r>
              <a:rPr lang="en-US" altLang="ja-JP" sz="2000" dirty="0" err="1"/>
              <a:t>aturan</a:t>
            </a:r>
            <a:r>
              <a:rPr lang="en-US" altLang="ja-JP" sz="2000" dirty="0"/>
              <a:t> </a:t>
            </a:r>
            <a:r>
              <a:rPr lang="en-US" altLang="ja-JP" sz="2000" dirty="0" err="1"/>
              <a:t>dan</a:t>
            </a:r>
            <a:r>
              <a:rPr lang="en-US" altLang="ja-JP" sz="2000" dirty="0"/>
              <a:t> </a:t>
            </a:r>
            <a:r>
              <a:rPr lang="en-US" altLang="ja-JP" sz="2000" dirty="0" err="1"/>
              <a:t>menjaga</a:t>
            </a:r>
            <a:r>
              <a:rPr lang="en-US" altLang="ja-JP" sz="2000" dirty="0"/>
              <a:t> </a:t>
            </a:r>
            <a:r>
              <a:rPr lang="en-US" altLang="ja-JP" sz="2000" dirty="0" err="1"/>
              <a:t>sopan</a:t>
            </a:r>
            <a:r>
              <a:rPr lang="en-US" altLang="ja-JP" sz="2000" dirty="0"/>
              <a:t> </a:t>
            </a:r>
            <a:r>
              <a:rPr lang="en-US" altLang="ja-JP" sz="2000" dirty="0" err="1"/>
              <a:t>santun</a:t>
            </a:r>
            <a:r>
              <a:rPr lang="en-US" altLang="ja-JP" sz="2000" dirty="0"/>
              <a:t>.</a:t>
            </a:r>
            <a:endParaRPr lang="ja-JP" altLang="en-US" sz="2000" b="1" dirty="0">
              <a:solidFill>
                <a:srgbClr val="FF0000"/>
              </a:solidFill>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5" name="テキスト ボックス 4"/>
          <p:cNvSpPr txBox="1"/>
          <p:nvPr/>
        </p:nvSpPr>
        <p:spPr>
          <a:xfrm>
            <a:off x="1053152" y="6488668"/>
            <a:ext cx="7161832" cy="369332"/>
          </a:xfrm>
          <a:prstGeom prst="rect">
            <a:avLst/>
          </a:prstGeom>
          <a:noFill/>
        </p:spPr>
        <p:txBody>
          <a:bodyPr wrap="none" rtlCol="0">
            <a:spAutoFit/>
          </a:bodyPr>
          <a:lstStyle/>
          <a:p>
            <a:r>
              <a:rPr lang="en-US" altLang="ja-JP" b="1" dirty="0">
                <a:latin typeface="Meiryo UI" panose="020B0604030504040204" pitchFamily="50" charset="-128"/>
                <a:ea typeface="Meiryo UI" panose="020B0604030504040204" pitchFamily="50" charset="-128"/>
              </a:rPr>
              <a:t>https://</a:t>
            </a:r>
            <a:r>
              <a:rPr lang="en-US" altLang="ja-JP" b="1" dirty="0" smtClean="0">
                <a:latin typeface="Meiryo UI" panose="020B0604030504040204" pitchFamily="50" charset="-128"/>
                <a:ea typeface="Meiryo UI" panose="020B0604030504040204" pitchFamily="50" charset="-128"/>
              </a:rPr>
              <a:t>youtu.be/2vX9HYAbM1U?si=SsXFwt_LfRSx5EXY</a:t>
            </a:r>
            <a:endParaRPr lang="en-US" altLang="ja-JP" b="1" dirty="0">
              <a:latin typeface="Meiryo UI" panose="020B0604030504040204" pitchFamily="50" charset="-128"/>
              <a:ea typeface="Meiryo UI" panose="020B0604030504040204" pitchFamily="50" charset="-128"/>
            </a:endParaRPr>
          </a:p>
        </p:txBody>
      </p:sp>
      <p:sp>
        <p:nvSpPr>
          <p:cNvPr id="9" name="テキスト ボックス 8"/>
          <p:cNvSpPr txBox="1"/>
          <p:nvPr/>
        </p:nvSpPr>
        <p:spPr>
          <a:xfrm>
            <a:off x="7834466" y="6066064"/>
            <a:ext cx="281969" cy="276999"/>
          </a:xfrm>
          <a:prstGeom prst="rect">
            <a:avLst/>
          </a:prstGeom>
          <a:solidFill>
            <a:schemeClr val="bg1"/>
          </a:solidFill>
        </p:spPr>
        <p:txBody>
          <a:bodyPr wrap="square" rtlCol="0">
            <a:spAutoFit/>
          </a:bodyPr>
          <a:lstStyle/>
          <a:p>
            <a:endParaRPr kumimoji="1" lang="ja-JP" altLang="en-US" sz="1200" dirty="0"/>
          </a:p>
        </p:txBody>
      </p:sp>
      <p:pic>
        <p:nvPicPr>
          <p:cNvPr id="7" name="図 6"/>
          <p:cNvPicPr>
            <a:picLocks noChangeAspect="1"/>
          </p:cNvPicPr>
          <p:nvPr/>
        </p:nvPicPr>
        <p:blipFill>
          <a:blip r:embed="rId2"/>
          <a:stretch>
            <a:fillRect/>
          </a:stretch>
        </p:blipFill>
        <p:spPr>
          <a:xfrm>
            <a:off x="2901127" y="2424026"/>
            <a:ext cx="3171825" cy="3248025"/>
          </a:xfrm>
          <a:prstGeom prst="rect">
            <a:avLst/>
          </a:prstGeom>
        </p:spPr>
      </p:pic>
    </p:spTree>
    <p:extLst>
      <p:ext uri="{BB962C8B-B14F-4D97-AF65-F5344CB8AC3E}">
        <p14:creationId xmlns:p14="http://schemas.microsoft.com/office/powerpoint/2010/main" val="38067796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6608" y="745584"/>
            <a:ext cx="5674292" cy="1200329"/>
          </a:xfrm>
          <a:prstGeom prst="rect">
            <a:avLst/>
          </a:prstGeom>
        </p:spPr>
        <p:txBody>
          <a:bodyPr wrap="square">
            <a:spAutoFit/>
          </a:bodyPr>
          <a:lstStyle/>
          <a:p>
            <a:r>
              <a:rPr lang="en-US" altLang="ja-JP" sz="2400" dirty="0">
                <a:latin typeface="Meiryo UI" panose="020B0604030504040204" pitchFamily="50" charset="-128"/>
                <a:ea typeface="Meiryo UI" panose="020B0604030504040204" pitchFamily="50" charset="-128"/>
                <a:hlinkClick r:id="rId2"/>
              </a:rPr>
              <a:t>【Yahoo!</a:t>
            </a:r>
            <a:r>
              <a:rPr lang="ja-JP" altLang="en-US" sz="2400" dirty="0">
                <a:latin typeface="Meiryo UI" panose="020B0604030504040204" pitchFamily="50" charset="-128"/>
                <a:ea typeface="Meiryo UI" panose="020B0604030504040204" pitchFamily="50" charset="-128"/>
                <a:hlinkClick r:id="rId2"/>
              </a:rPr>
              <a:t>乗換案内</a:t>
            </a:r>
            <a:r>
              <a:rPr lang="en-US" altLang="ja-JP" sz="2400" dirty="0" smtClean="0">
                <a:latin typeface="Meiryo UI" panose="020B0604030504040204" pitchFamily="50" charset="-128"/>
                <a:ea typeface="Meiryo UI" panose="020B0604030504040204" pitchFamily="50" charset="-128"/>
                <a:hlinkClick r:id="rId2"/>
              </a:rPr>
              <a:t>】</a:t>
            </a:r>
            <a:endParaRPr lang="en-US" altLang="ja-JP" sz="2400" dirty="0" smtClean="0">
              <a:latin typeface="Meiryo UI" panose="020B0604030504040204" pitchFamily="50" charset="-128"/>
              <a:ea typeface="Meiryo UI" panose="020B0604030504040204" pitchFamily="50" charset="-128"/>
            </a:endParaRPr>
          </a:p>
          <a:p>
            <a:r>
              <a:rPr lang="ja-JP" altLang="en-US" sz="2400" dirty="0" smtClean="0">
                <a:latin typeface="Meiryo UI" panose="020B0604030504040204" pitchFamily="50" charset="-128"/>
                <a:ea typeface="Meiryo UI" panose="020B0604030504040204" pitchFamily="50" charset="-128"/>
              </a:rPr>
              <a:t>　電車</a:t>
            </a:r>
            <a:r>
              <a:rPr lang="ja-JP" altLang="en-US" sz="2400" dirty="0">
                <a:latin typeface="Meiryo UI" panose="020B0604030504040204" pitchFamily="50" charset="-128"/>
                <a:ea typeface="Meiryo UI" panose="020B0604030504040204" pitchFamily="50" charset="-128"/>
              </a:rPr>
              <a:t>の乗り方</a:t>
            </a:r>
            <a:r>
              <a:rPr lang="ja-JP" altLang="en-US" sz="2400" dirty="0" smtClean="0">
                <a:latin typeface="Meiryo UI" panose="020B0604030504040204" pitchFamily="50" charset="-128"/>
                <a:ea typeface="Meiryo UI" panose="020B0604030504040204" pitchFamily="50" charset="-128"/>
              </a:rPr>
              <a:t>を調べることができます</a:t>
            </a:r>
            <a:endParaRPr lang="en-US" altLang="ja-JP" sz="2400" dirty="0" smtClean="0">
              <a:latin typeface="Meiryo UI" panose="020B0604030504040204" pitchFamily="50" charset="-128"/>
              <a:ea typeface="Meiryo UI" panose="020B0604030504040204" pitchFamily="50" charset="-128"/>
            </a:endParaRPr>
          </a:p>
          <a:p>
            <a:endParaRPr lang="ja-JP" altLang="en-US" sz="2400" dirty="0">
              <a:latin typeface="Meiryo UI" panose="020B0604030504040204" pitchFamily="50" charset="-128"/>
              <a:ea typeface="Meiryo UI" panose="020B0604030504040204" pitchFamily="50" charset="-128"/>
            </a:endParaRPr>
          </a:p>
        </p:txBody>
      </p:sp>
      <p:sp>
        <p:nvSpPr>
          <p:cNvPr id="8" name="正方形/長方形 7"/>
          <p:cNvSpPr/>
          <p:nvPr/>
        </p:nvSpPr>
        <p:spPr>
          <a:xfrm>
            <a:off x="256608" y="2973425"/>
            <a:ext cx="255198" cy="369332"/>
          </a:xfrm>
          <a:prstGeom prst="rect">
            <a:avLst/>
          </a:prstGeom>
        </p:spPr>
        <p:txBody>
          <a:bodyPr wrap="none">
            <a:spAutoFit/>
          </a:bodyPr>
          <a:lstStyle/>
          <a:p>
            <a:r>
              <a:rPr lang="vi-VN" altLang="ja-JP" dirty="0" smtClean="0"/>
              <a:t>.</a:t>
            </a:r>
            <a:endParaRPr lang="ja-JP" altLang="en-US" dirty="0"/>
          </a:p>
        </p:txBody>
      </p:sp>
      <p:pic>
        <p:nvPicPr>
          <p:cNvPr id="5" name="図 4"/>
          <p:cNvPicPr>
            <a:picLocks noChangeAspect="1"/>
          </p:cNvPicPr>
          <p:nvPr/>
        </p:nvPicPr>
        <p:blipFill>
          <a:blip r:embed="rId3"/>
          <a:stretch>
            <a:fillRect/>
          </a:stretch>
        </p:blipFill>
        <p:spPr>
          <a:xfrm>
            <a:off x="5323089" y="745584"/>
            <a:ext cx="2284211" cy="2256855"/>
          </a:xfrm>
          <a:prstGeom prst="rect">
            <a:avLst/>
          </a:prstGeom>
        </p:spPr>
      </p:pic>
      <p:sp>
        <p:nvSpPr>
          <p:cNvPr id="2" name="正方形/長方形 1"/>
          <p:cNvSpPr/>
          <p:nvPr/>
        </p:nvSpPr>
        <p:spPr>
          <a:xfrm>
            <a:off x="256608" y="1576581"/>
            <a:ext cx="4107919" cy="369332"/>
          </a:xfrm>
          <a:prstGeom prst="rect">
            <a:avLst/>
          </a:prstGeom>
        </p:spPr>
        <p:txBody>
          <a:bodyPr wrap="none">
            <a:spAutoFit/>
          </a:bodyPr>
          <a:lstStyle/>
          <a:p>
            <a:r>
              <a:rPr lang="pt-BR" altLang="ja-JP" dirty="0"/>
              <a:t>Anda dapat mencari tahu cara naik kereta.</a:t>
            </a:r>
            <a:endParaRPr lang="ja-JP" altLang="en-US" dirty="0"/>
          </a:p>
        </p:txBody>
      </p:sp>
      <p:pic>
        <p:nvPicPr>
          <p:cNvPr id="3" name="図 2"/>
          <p:cNvPicPr>
            <a:picLocks noChangeAspect="1"/>
          </p:cNvPicPr>
          <p:nvPr/>
        </p:nvPicPr>
        <p:blipFill>
          <a:blip r:embed="rId4"/>
          <a:stretch>
            <a:fillRect/>
          </a:stretch>
        </p:blipFill>
        <p:spPr>
          <a:xfrm>
            <a:off x="0" y="4216400"/>
            <a:ext cx="2641600" cy="2641600"/>
          </a:xfrm>
          <a:prstGeom prst="rect">
            <a:avLst/>
          </a:prstGeom>
        </p:spPr>
      </p:pic>
      <p:sp>
        <p:nvSpPr>
          <p:cNvPr id="6" name="正方形/長方形 5"/>
          <p:cNvSpPr/>
          <p:nvPr/>
        </p:nvSpPr>
        <p:spPr>
          <a:xfrm>
            <a:off x="100766" y="3691416"/>
            <a:ext cx="8103433" cy="369332"/>
          </a:xfrm>
          <a:prstGeom prst="rect">
            <a:avLst/>
          </a:prstGeom>
        </p:spPr>
        <p:txBody>
          <a:bodyPr wrap="square">
            <a:spAutoFit/>
          </a:bodyPr>
          <a:lstStyle/>
          <a:p>
            <a:r>
              <a:rPr lang="en-US" altLang="ja-JP" b="1" dirty="0">
                <a:solidFill>
                  <a:srgbClr val="0F0F0F"/>
                </a:solidFill>
                <a:latin typeface="Meiryo UI" panose="020B0604030504040204" pitchFamily="50" charset="-128"/>
                <a:ea typeface="Meiryo UI" panose="020B0604030504040204" pitchFamily="50" charset="-128"/>
              </a:rPr>
              <a:t>【2026</a:t>
            </a:r>
            <a:r>
              <a:rPr lang="ja-JP" altLang="en-US" b="1" dirty="0">
                <a:solidFill>
                  <a:srgbClr val="0F0F0F"/>
                </a:solidFill>
                <a:latin typeface="Meiryo UI" panose="020B0604030504040204" pitchFamily="50" charset="-128"/>
                <a:ea typeface="Meiryo UI" panose="020B0604030504040204" pitchFamily="50" charset="-128"/>
              </a:rPr>
              <a:t>年</a:t>
            </a:r>
            <a:r>
              <a:rPr lang="en-US" altLang="ja-JP" b="1" dirty="0">
                <a:solidFill>
                  <a:srgbClr val="0F0F0F"/>
                </a:solidFill>
                <a:latin typeface="Meiryo UI" panose="020B0604030504040204" pitchFamily="50" charset="-128"/>
                <a:ea typeface="Meiryo UI" panose="020B0604030504040204" pitchFamily="50" charset="-128"/>
              </a:rPr>
              <a:t>4</a:t>
            </a:r>
            <a:r>
              <a:rPr lang="ja-JP" altLang="en-US" b="1" dirty="0">
                <a:solidFill>
                  <a:srgbClr val="0F0F0F"/>
                </a:solidFill>
                <a:latin typeface="Meiryo UI" panose="020B0604030504040204" pitchFamily="50" charset="-128"/>
                <a:ea typeface="Meiryo UI" panose="020B0604030504040204" pitchFamily="50" charset="-128"/>
              </a:rPr>
              <a:t>月スタート</a:t>
            </a:r>
            <a:r>
              <a:rPr lang="en-US" altLang="ja-JP" b="1" dirty="0">
                <a:solidFill>
                  <a:srgbClr val="0F0F0F"/>
                </a:solidFill>
                <a:latin typeface="Meiryo UI" panose="020B0604030504040204" pitchFamily="50" charset="-128"/>
                <a:ea typeface="Meiryo UI" panose="020B0604030504040204" pitchFamily="50" charset="-128"/>
              </a:rPr>
              <a:t>】</a:t>
            </a:r>
            <a:r>
              <a:rPr lang="ja-JP" altLang="en-US" b="1" dirty="0">
                <a:solidFill>
                  <a:srgbClr val="0F0F0F"/>
                </a:solidFill>
                <a:latin typeface="Meiryo UI" panose="020B0604030504040204" pitchFamily="50" charset="-128"/>
                <a:ea typeface="Meiryo UI" panose="020B0604030504040204" pitchFamily="50" charset="-128"/>
              </a:rPr>
              <a:t>知らないと反則金！自転車「青切符」で捕まる違反とは！</a:t>
            </a:r>
            <a:endParaRPr lang="ja-JP" altLang="en-US" b="1" i="0" dirty="0">
              <a:solidFill>
                <a:srgbClr val="0F0F0F"/>
              </a:solidFill>
              <a:effectLst/>
              <a:latin typeface="Meiryo UI" panose="020B0604030504040204" pitchFamily="50" charset="-128"/>
              <a:ea typeface="Meiryo UI" panose="020B0604030504040204" pitchFamily="50" charset="-128"/>
            </a:endParaRPr>
          </a:p>
        </p:txBody>
      </p:sp>
      <p:sp>
        <p:nvSpPr>
          <p:cNvPr id="7" name="正方形/長方形 6"/>
          <p:cNvSpPr/>
          <p:nvPr/>
        </p:nvSpPr>
        <p:spPr>
          <a:xfrm>
            <a:off x="2768600" y="4412915"/>
            <a:ext cx="4572000" cy="923330"/>
          </a:xfrm>
          <a:prstGeom prst="rect">
            <a:avLst/>
          </a:prstGeom>
        </p:spPr>
        <p:txBody>
          <a:bodyPr>
            <a:spAutoFit/>
          </a:bodyPr>
          <a:lstStyle/>
          <a:p>
            <a:r>
              <a:rPr lang="en-US" altLang="ja-JP" dirty="0"/>
              <a:t>【</a:t>
            </a:r>
            <a:r>
              <a:rPr lang="en-US" altLang="ja-JP" dirty="0" err="1"/>
              <a:t>Mulai</a:t>
            </a:r>
            <a:r>
              <a:rPr lang="en-US" altLang="ja-JP" dirty="0"/>
              <a:t> April 2026】Jangan </a:t>
            </a:r>
            <a:r>
              <a:rPr lang="en-US" altLang="ja-JP" dirty="0" err="1"/>
              <a:t>sampai</a:t>
            </a:r>
            <a:r>
              <a:rPr lang="en-US" altLang="ja-JP" dirty="0"/>
              <a:t> </a:t>
            </a:r>
            <a:r>
              <a:rPr lang="en-US" altLang="ja-JP" dirty="0" err="1"/>
              <a:t>kena</a:t>
            </a:r>
            <a:r>
              <a:rPr lang="en-US" altLang="ja-JP" dirty="0"/>
              <a:t> </a:t>
            </a:r>
            <a:r>
              <a:rPr lang="en-US" altLang="ja-JP" dirty="0" err="1"/>
              <a:t>denda</a:t>
            </a:r>
            <a:r>
              <a:rPr lang="en-US" altLang="ja-JP" dirty="0"/>
              <a:t>! </a:t>
            </a:r>
            <a:r>
              <a:rPr lang="en-US" altLang="ja-JP" dirty="0" err="1"/>
              <a:t>Pelanggaran</a:t>
            </a:r>
            <a:r>
              <a:rPr lang="en-US" altLang="ja-JP" dirty="0"/>
              <a:t> </a:t>
            </a:r>
            <a:r>
              <a:rPr lang="en-US" altLang="ja-JP" dirty="0" err="1"/>
              <a:t>bersepeda</a:t>
            </a:r>
            <a:r>
              <a:rPr lang="en-US" altLang="ja-JP" dirty="0"/>
              <a:t> yang </a:t>
            </a:r>
            <a:r>
              <a:rPr lang="en-US" altLang="ja-JP" dirty="0" err="1"/>
              <a:t>bisa</a:t>
            </a:r>
            <a:r>
              <a:rPr lang="en-US" altLang="ja-JP" dirty="0"/>
              <a:t> </a:t>
            </a:r>
            <a:r>
              <a:rPr lang="en-US" altLang="ja-JP" dirty="0" err="1"/>
              <a:t>membuat</a:t>
            </a:r>
            <a:r>
              <a:rPr lang="en-US" altLang="ja-JP" dirty="0"/>
              <a:t> </a:t>
            </a:r>
            <a:r>
              <a:rPr lang="en-US" altLang="ja-JP" dirty="0" err="1"/>
              <a:t>Anda</a:t>
            </a:r>
            <a:r>
              <a:rPr lang="en-US" altLang="ja-JP" dirty="0"/>
              <a:t> </a:t>
            </a:r>
            <a:r>
              <a:rPr lang="en-US" altLang="ja-JP" dirty="0" err="1"/>
              <a:t>terkena</a:t>
            </a:r>
            <a:r>
              <a:rPr lang="en-US" altLang="ja-JP" dirty="0"/>
              <a:t> </a:t>
            </a:r>
            <a:r>
              <a:rPr lang="en-US" altLang="ja-JP" dirty="0" err="1"/>
              <a:t>Tiket</a:t>
            </a:r>
            <a:r>
              <a:rPr lang="en-US" altLang="ja-JP" dirty="0"/>
              <a:t> </a:t>
            </a:r>
            <a:r>
              <a:rPr lang="en-US" altLang="ja-JP" dirty="0" err="1"/>
              <a:t>Biru</a:t>
            </a:r>
            <a:r>
              <a:rPr lang="en-US" altLang="ja-JP" dirty="0"/>
              <a:t> (</a:t>
            </a:r>
            <a:r>
              <a:rPr lang="en-US" altLang="ja-JP" dirty="0" err="1"/>
              <a:t>Aokippu</a:t>
            </a:r>
            <a:r>
              <a:rPr lang="en-US" altLang="ja-JP" dirty="0"/>
              <a:t>).</a:t>
            </a:r>
            <a:endParaRPr lang="ja-JP" altLang="en-US" dirty="0"/>
          </a:p>
        </p:txBody>
      </p:sp>
    </p:spTree>
    <p:extLst>
      <p:ext uri="{BB962C8B-B14F-4D97-AF65-F5344CB8AC3E}">
        <p14:creationId xmlns:p14="http://schemas.microsoft.com/office/powerpoint/2010/main" val="401058897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259278" y="772448"/>
            <a:ext cx="8503721" cy="3785652"/>
          </a:xfrm>
          <a:prstGeom prst="rect">
            <a:avLst/>
          </a:prstGeom>
        </p:spPr>
        <p:txBody>
          <a:bodyPr wrap="square">
            <a:spAutoFit/>
          </a:bodyPr>
          <a:lstStyle/>
          <a:p>
            <a:r>
              <a:rPr lang="ja-JP" altLang="en-US" sz="2400" b="1" dirty="0" smtClean="0">
                <a:latin typeface="Meiryo UI" panose="020B0604030504040204" pitchFamily="50" charset="-128"/>
                <a:ea typeface="Meiryo UI" panose="020B0604030504040204" pitchFamily="50" charset="-128"/>
              </a:rPr>
              <a:t>きっぷ</a:t>
            </a:r>
            <a:r>
              <a:rPr lang="ja-JP" altLang="en-US" sz="2400" b="1" dirty="0">
                <a:latin typeface="Meiryo UI" panose="020B0604030504040204" pitchFamily="50" charset="-128"/>
                <a:ea typeface="Meiryo UI" panose="020B0604030504040204" pitchFamily="50" charset="-128"/>
              </a:rPr>
              <a:t>の買い方・</a:t>
            </a:r>
            <a:r>
              <a:rPr lang="ja-JP" altLang="en-US" sz="2400" b="1" dirty="0" smtClean="0">
                <a:latin typeface="Meiryo UI" panose="020B0604030504040204" pitchFamily="50" charset="-128"/>
                <a:ea typeface="Meiryo UI" panose="020B0604030504040204" pitchFamily="50" charset="-128"/>
              </a:rPr>
              <a:t>使い方　（</a:t>
            </a:r>
            <a:r>
              <a:rPr lang="en-US" altLang="ja-JP" sz="2400" b="1" dirty="0" smtClean="0">
                <a:latin typeface="Meiryo UI" panose="020B0604030504040204" pitchFamily="50" charset="-128"/>
                <a:ea typeface="Meiryo UI" panose="020B0604030504040204" pitchFamily="50" charset="-128"/>
              </a:rPr>
              <a:t>11</a:t>
            </a:r>
            <a:r>
              <a:rPr lang="ja-JP" altLang="en-US" sz="2400" b="1" dirty="0" smtClean="0">
                <a:latin typeface="Meiryo UI" panose="020B0604030504040204" pitchFamily="50" charset="-128"/>
                <a:ea typeface="Meiryo UI" panose="020B0604030504040204" pitchFamily="50" charset="-128"/>
              </a:rPr>
              <a:t>：</a:t>
            </a:r>
            <a:r>
              <a:rPr lang="en-US" altLang="ja-JP" sz="2400" b="1" dirty="0" smtClean="0">
                <a:latin typeface="Meiryo UI" panose="020B0604030504040204" pitchFamily="50" charset="-128"/>
                <a:ea typeface="Meiryo UI" panose="020B0604030504040204" pitchFamily="50" charset="-128"/>
              </a:rPr>
              <a:t>21</a:t>
            </a:r>
            <a:r>
              <a:rPr lang="ja-JP" altLang="en-US" sz="2400" b="1" dirty="0" smtClean="0">
                <a:latin typeface="Meiryo UI" panose="020B0604030504040204" pitchFamily="50" charset="-128"/>
                <a:ea typeface="Meiryo UI" panose="020B0604030504040204" pitchFamily="50" charset="-128"/>
              </a:rPr>
              <a:t>）</a:t>
            </a:r>
            <a:endParaRPr lang="en-US" altLang="ja-JP" sz="2400" dirty="0" smtClean="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a:p>
            <a:endParaRPr lang="en-US" altLang="ja-JP" sz="1200" dirty="0" smtClean="0">
              <a:latin typeface="Meiryo UI" panose="020B0604030504040204" pitchFamily="50" charset="-128"/>
              <a:ea typeface="Meiryo UI" panose="020B0604030504040204" pitchFamily="50" charset="-128"/>
            </a:endParaRPr>
          </a:p>
          <a:p>
            <a:r>
              <a:rPr lang="ja-JP" altLang="en-US" sz="1200" dirty="0">
                <a:hlinkClick r:id="rId2"/>
              </a:rPr>
              <a:t>名古屋の地下鉄に登場した超ハイテク</a:t>
            </a:r>
            <a:r>
              <a:rPr lang="ja-JP" altLang="en-US" sz="1200" dirty="0" err="1">
                <a:hlinkClick r:id="rId2"/>
              </a:rPr>
              <a:t>な券売</a:t>
            </a:r>
            <a:r>
              <a:rPr lang="ja-JP" altLang="en-US" sz="1200" dirty="0">
                <a:hlinkClick r:id="rId2"/>
              </a:rPr>
              <a:t>機を使ってみた！ </a:t>
            </a:r>
            <a:r>
              <a:rPr lang="en-US" altLang="ja-JP" sz="1200" dirty="0">
                <a:hlinkClick r:id="rId2"/>
              </a:rPr>
              <a:t>- YouTube</a:t>
            </a:r>
            <a:endParaRPr lang="en-US" altLang="ja-JP" sz="1200" dirty="0" smtClean="0">
              <a:latin typeface="Meiryo UI" panose="020B0604030504040204" pitchFamily="50" charset="-128"/>
              <a:ea typeface="Meiryo UI" panose="020B0604030504040204" pitchFamily="50" charset="-128"/>
            </a:endParaRPr>
          </a:p>
          <a:p>
            <a:endParaRPr lang="en-US" altLang="ja-JP" sz="1200" b="1" dirty="0" smtClean="0">
              <a:latin typeface="Meiryo UI" panose="020B0604030504040204" pitchFamily="50" charset="-128"/>
              <a:ea typeface="Meiryo UI" panose="020B0604030504040204" pitchFamily="50" charset="-128"/>
            </a:endParaRPr>
          </a:p>
          <a:p>
            <a:endParaRPr lang="en-US" altLang="ja-JP" sz="1200" b="1" dirty="0">
              <a:latin typeface="Meiryo UI" panose="020B0604030504040204" pitchFamily="50" charset="-128"/>
              <a:ea typeface="Meiryo UI" panose="020B0604030504040204" pitchFamily="50" charset="-128"/>
            </a:endParaRPr>
          </a:p>
          <a:p>
            <a:endParaRPr lang="en-US" altLang="ja-JP" sz="1200" b="1" dirty="0" smtClean="0">
              <a:latin typeface="Meiryo UI" panose="020B0604030504040204" pitchFamily="50" charset="-128"/>
              <a:ea typeface="Meiryo UI" panose="020B0604030504040204" pitchFamily="50" charset="-128"/>
            </a:endParaRPr>
          </a:p>
          <a:p>
            <a:endParaRPr lang="en-US" altLang="ja-JP" sz="1200" b="1" dirty="0">
              <a:latin typeface="Meiryo UI" panose="020B0604030504040204" pitchFamily="50" charset="-128"/>
              <a:ea typeface="Meiryo UI" panose="020B0604030504040204" pitchFamily="50" charset="-128"/>
            </a:endParaRPr>
          </a:p>
          <a:p>
            <a:endParaRPr lang="en-US" altLang="ja-JP" sz="1200" b="1" dirty="0" smtClean="0">
              <a:latin typeface="Meiryo UI" panose="020B0604030504040204" pitchFamily="50" charset="-128"/>
              <a:ea typeface="Meiryo UI" panose="020B0604030504040204" pitchFamily="50" charset="-128"/>
            </a:endParaRPr>
          </a:p>
          <a:p>
            <a:endParaRPr lang="en-US" altLang="ja-JP" sz="1200" b="1" dirty="0">
              <a:latin typeface="Meiryo UI" panose="020B0604030504040204" pitchFamily="50" charset="-128"/>
              <a:ea typeface="Meiryo UI" panose="020B0604030504040204" pitchFamily="50" charset="-128"/>
            </a:endParaRPr>
          </a:p>
          <a:p>
            <a:endParaRPr lang="en-US" altLang="ja-JP" sz="1200" b="1" dirty="0" smtClean="0">
              <a:latin typeface="Meiryo UI" panose="020B0604030504040204" pitchFamily="50" charset="-128"/>
              <a:ea typeface="Meiryo UI" panose="020B0604030504040204" pitchFamily="50" charset="-128"/>
            </a:endParaRPr>
          </a:p>
          <a:p>
            <a:endParaRPr lang="en-US" altLang="ja-JP" sz="1200" b="1" dirty="0">
              <a:latin typeface="Meiryo UI" panose="020B0604030504040204" pitchFamily="50" charset="-128"/>
              <a:ea typeface="Meiryo UI" panose="020B0604030504040204" pitchFamily="50" charset="-128"/>
            </a:endParaRPr>
          </a:p>
          <a:p>
            <a:endParaRPr lang="en-US" altLang="ja-JP" sz="1200" b="1" dirty="0" smtClean="0">
              <a:latin typeface="Meiryo UI" panose="020B0604030504040204" pitchFamily="50" charset="-128"/>
              <a:ea typeface="Meiryo UI" panose="020B0604030504040204" pitchFamily="50" charset="-128"/>
            </a:endParaRPr>
          </a:p>
          <a:p>
            <a:endParaRPr lang="en-US" altLang="ja-JP" sz="1200" b="1" dirty="0">
              <a:latin typeface="Meiryo UI" panose="020B0604030504040204" pitchFamily="50" charset="-128"/>
              <a:ea typeface="Meiryo UI" panose="020B0604030504040204" pitchFamily="50" charset="-128"/>
            </a:endParaRPr>
          </a:p>
          <a:p>
            <a:endParaRPr lang="en-US" altLang="ja-JP" sz="1200" b="1" dirty="0" smtClean="0">
              <a:latin typeface="Meiryo UI" panose="020B0604030504040204" pitchFamily="50" charset="-128"/>
              <a:ea typeface="Meiryo UI" panose="020B0604030504040204" pitchFamily="50" charset="-128"/>
            </a:endParaRPr>
          </a:p>
          <a:p>
            <a:endParaRPr lang="en-US" altLang="ja-JP" sz="1200" dirty="0" smtClean="0">
              <a:latin typeface="Meiryo UI" panose="020B0604030504040204" pitchFamily="50" charset="-128"/>
              <a:ea typeface="Meiryo UI" panose="020B0604030504040204" pitchFamily="50" charset="-128"/>
            </a:endParaRPr>
          </a:p>
          <a:p>
            <a:endParaRPr lang="en-US" altLang="ja-JP" sz="1200" dirty="0" smtClean="0">
              <a:latin typeface="Meiryo UI" panose="020B0604030504040204" pitchFamily="50" charset="-128"/>
              <a:ea typeface="Meiryo UI" panose="020B0604030504040204" pitchFamily="50" charset="-128"/>
            </a:endParaRPr>
          </a:p>
          <a:p>
            <a:endParaRPr lang="ja-JP" altLang="en-US" sz="1200" dirty="0">
              <a:latin typeface="Meiryo UI" panose="020B0604030504040204" pitchFamily="50" charset="-128"/>
              <a:ea typeface="Meiryo UI" panose="020B0604030504040204" pitchFamily="50" charset="-128"/>
            </a:endParaRPr>
          </a:p>
          <a:p>
            <a:endParaRPr lang="ja-JP" altLang="en-US" sz="1200" dirty="0">
              <a:latin typeface="Meiryo UI" panose="020B0604030504040204" pitchFamily="50" charset="-128"/>
              <a:ea typeface="Meiryo UI" panose="020B0604030504040204" pitchFamily="50" charset="-128"/>
            </a:endParaRPr>
          </a:p>
        </p:txBody>
      </p:sp>
      <p:pic>
        <p:nvPicPr>
          <p:cNvPr id="4" name="図 3"/>
          <p:cNvPicPr>
            <a:picLocks noChangeAspect="1"/>
          </p:cNvPicPr>
          <p:nvPr/>
        </p:nvPicPr>
        <p:blipFill>
          <a:blip r:embed="rId3"/>
          <a:stretch>
            <a:fillRect/>
          </a:stretch>
        </p:blipFill>
        <p:spPr>
          <a:xfrm>
            <a:off x="5749925" y="772448"/>
            <a:ext cx="3105150" cy="3095625"/>
          </a:xfrm>
          <a:prstGeom prst="rect">
            <a:avLst/>
          </a:prstGeom>
        </p:spPr>
      </p:pic>
      <p:sp>
        <p:nvSpPr>
          <p:cNvPr id="11" name="正方形/長方形 10"/>
          <p:cNvSpPr/>
          <p:nvPr/>
        </p:nvSpPr>
        <p:spPr>
          <a:xfrm>
            <a:off x="552022" y="2666076"/>
            <a:ext cx="1980029" cy="523220"/>
          </a:xfrm>
          <a:prstGeom prst="rect">
            <a:avLst/>
          </a:prstGeom>
        </p:spPr>
        <p:txBody>
          <a:bodyPr wrap="none">
            <a:spAutoFit/>
          </a:bodyPr>
          <a:lstStyle/>
          <a:p>
            <a:r>
              <a:rPr lang="en-US" altLang="ja-JP" sz="2800" dirty="0" smtClean="0">
                <a:latin typeface="Meiryo UI" panose="020B0604030504040204" pitchFamily="50" charset="-128"/>
                <a:ea typeface="Meiryo UI" panose="020B0604030504040204" pitchFamily="50" charset="-128"/>
                <a:hlinkClick r:id="rId4"/>
              </a:rPr>
              <a:t>【</a:t>
            </a:r>
            <a:r>
              <a:rPr lang="ja-JP" altLang="en-US" sz="2800" dirty="0" smtClean="0">
                <a:latin typeface="Meiryo UI" panose="020B0604030504040204" pitchFamily="50" charset="-128"/>
                <a:ea typeface="Meiryo UI" panose="020B0604030504040204" pitchFamily="50" charset="-128"/>
                <a:hlinkClick r:id="rId4"/>
              </a:rPr>
              <a:t>交通案内</a:t>
            </a:r>
            <a:r>
              <a:rPr lang="en-US" altLang="ja-JP" sz="2800" dirty="0">
                <a:latin typeface="Meiryo UI" panose="020B0604030504040204" pitchFamily="50" charset="-128"/>
                <a:ea typeface="Meiryo UI" panose="020B0604030504040204" pitchFamily="50" charset="-128"/>
                <a:hlinkClick r:id="rId4"/>
              </a:rPr>
              <a:t>】</a:t>
            </a:r>
            <a:endParaRPr lang="en-US" altLang="ja-JP" sz="2800" dirty="0">
              <a:latin typeface="Meiryo UI" panose="020B0604030504040204" pitchFamily="50" charset="-128"/>
              <a:ea typeface="Meiryo UI" panose="020B0604030504040204" pitchFamily="50" charset="-128"/>
            </a:endParaRPr>
          </a:p>
        </p:txBody>
      </p:sp>
      <p:sp>
        <p:nvSpPr>
          <p:cNvPr id="2" name="正方形/長方形 1"/>
          <p:cNvSpPr/>
          <p:nvPr/>
        </p:nvSpPr>
        <p:spPr>
          <a:xfrm>
            <a:off x="610843" y="1858537"/>
            <a:ext cx="4338945" cy="369332"/>
          </a:xfrm>
          <a:prstGeom prst="rect">
            <a:avLst/>
          </a:prstGeom>
        </p:spPr>
        <p:txBody>
          <a:bodyPr wrap="none">
            <a:spAutoFit/>
          </a:bodyPr>
          <a:lstStyle/>
          <a:p>
            <a:r>
              <a:rPr lang="en-US" altLang="ja-JP" dirty="0"/>
              <a:t>Cara </a:t>
            </a:r>
            <a:r>
              <a:rPr lang="en-US" altLang="ja-JP" dirty="0" err="1"/>
              <a:t>membeli</a:t>
            </a:r>
            <a:r>
              <a:rPr lang="en-US" altLang="ja-JP" dirty="0"/>
              <a:t> </a:t>
            </a:r>
            <a:r>
              <a:rPr lang="en-US" altLang="ja-JP" dirty="0" err="1"/>
              <a:t>dan</a:t>
            </a:r>
            <a:r>
              <a:rPr lang="en-US" altLang="ja-JP" dirty="0"/>
              <a:t> </a:t>
            </a:r>
            <a:r>
              <a:rPr lang="en-US" altLang="ja-JP" dirty="0" err="1"/>
              <a:t>menggunakan</a:t>
            </a:r>
            <a:r>
              <a:rPr lang="en-US" altLang="ja-JP" dirty="0"/>
              <a:t> </a:t>
            </a:r>
            <a:r>
              <a:rPr lang="en-US" altLang="ja-JP" dirty="0" err="1"/>
              <a:t>tiket</a:t>
            </a:r>
            <a:r>
              <a:rPr lang="en-US" altLang="ja-JP" dirty="0"/>
              <a:t> </a:t>
            </a:r>
            <a:r>
              <a:rPr lang="en-US" altLang="ja-JP" dirty="0" err="1"/>
              <a:t>kereta</a:t>
            </a:r>
            <a:endParaRPr lang="ja-JP" altLang="en-US" dirty="0"/>
          </a:p>
        </p:txBody>
      </p:sp>
      <p:sp>
        <p:nvSpPr>
          <p:cNvPr id="5" name="正方形/長方形 4"/>
          <p:cNvSpPr/>
          <p:nvPr/>
        </p:nvSpPr>
        <p:spPr>
          <a:xfrm>
            <a:off x="423396" y="3309555"/>
            <a:ext cx="2237279" cy="369332"/>
          </a:xfrm>
          <a:prstGeom prst="rect">
            <a:avLst/>
          </a:prstGeom>
        </p:spPr>
        <p:txBody>
          <a:bodyPr wrap="none">
            <a:spAutoFit/>
          </a:bodyPr>
          <a:lstStyle/>
          <a:p>
            <a:r>
              <a:rPr lang="en-US" altLang="ja-JP" dirty="0" err="1"/>
              <a:t>Informasi</a:t>
            </a:r>
            <a:r>
              <a:rPr lang="en-US" altLang="ja-JP" dirty="0"/>
              <a:t> </a:t>
            </a:r>
            <a:r>
              <a:rPr lang="en-US" altLang="ja-JP" dirty="0" err="1"/>
              <a:t>Transportasi</a:t>
            </a:r>
            <a:endParaRPr lang="ja-JP" altLang="en-US" dirty="0"/>
          </a:p>
        </p:txBody>
      </p:sp>
    </p:spTree>
    <p:extLst>
      <p:ext uri="{BB962C8B-B14F-4D97-AF65-F5344CB8AC3E}">
        <p14:creationId xmlns:p14="http://schemas.microsoft.com/office/powerpoint/2010/main" val="1153613549"/>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30200" y="730039"/>
            <a:ext cx="8699500" cy="369332"/>
          </a:xfrm>
          <a:prstGeom prst="rect">
            <a:avLst/>
          </a:prstGeom>
        </p:spPr>
        <p:txBody>
          <a:bodyPr wrap="square">
            <a:spAutoFit/>
          </a:bodyPr>
          <a:lstStyle/>
          <a:p>
            <a:r>
              <a:rPr lang="en-US" altLang="ja-JP" dirty="0">
                <a:solidFill>
                  <a:srgbClr val="002060"/>
                </a:solidFill>
                <a:hlinkClick r:id="rId2"/>
              </a:rPr>
              <a:t>【ATM</a:t>
            </a:r>
            <a:r>
              <a:rPr lang="ja-JP" altLang="en-US" dirty="0">
                <a:solidFill>
                  <a:srgbClr val="002060"/>
                </a:solidFill>
                <a:hlinkClick r:id="rId2"/>
              </a:rPr>
              <a:t>の使い方</a:t>
            </a:r>
            <a:r>
              <a:rPr lang="en-US" altLang="ja-JP" dirty="0">
                <a:solidFill>
                  <a:srgbClr val="002060"/>
                </a:solidFill>
                <a:hlinkClick r:id="rId2"/>
              </a:rPr>
              <a:t>】</a:t>
            </a:r>
            <a:r>
              <a:rPr lang="ja-JP" altLang="en-US" dirty="0">
                <a:solidFill>
                  <a:srgbClr val="002060"/>
                </a:solidFill>
                <a:hlinkClick r:id="rId2"/>
              </a:rPr>
              <a:t>キャッシュカー</a:t>
            </a:r>
            <a:r>
              <a:rPr lang="ja-JP" altLang="en-US" dirty="0" err="1">
                <a:solidFill>
                  <a:srgbClr val="002060"/>
                </a:solidFill>
                <a:hlinkClick r:id="rId2"/>
              </a:rPr>
              <a:t>ドで</a:t>
            </a:r>
            <a:r>
              <a:rPr lang="ja-JP" altLang="en-US" dirty="0">
                <a:solidFill>
                  <a:srgbClr val="002060"/>
                </a:solidFill>
                <a:hlinkClick r:id="rId2"/>
              </a:rPr>
              <a:t>お金を引き出す　ゆうちょ銀行 </a:t>
            </a:r>
            <a:r>
              <a:rPr lang="en-US" altLang="ja-JP" dirty="0">
                <a:solidFill>
                  <a:srgbClr val="002060"/>
                </a:solidFill>
                <a:hlinkClick r:id="rId2"/>
              </a:rPr>
              <a:t>- YouTube</a:t>
            </a:r>
            <a:endParaRPr lang="ja-JP" altLang="en-US" dirty="0">
              <a:solidFill>
                <a:srgbClr val="002060"/>
              </a:solidFill>
            </a:endParaRPr>
          </a:p>
        </p:txBody>
      </p:sp>
      <p:sp>
        <p:nvSpPr>
          <p:cNvPr id="4" name="正方形/長方形 3"/>
          <p:cNvSpPr/>
          <p:nvPr/>
        </p:nvSpPr>
        <p:spPr>
          <a:xfrm>
            <a:off x="436554" y="2609503"/>
            <a:ext cx="8149167" cy="369332"/>
          </a:xfrm>
          <a:prstGeom prst="rect">
            <a:avLst/>
          </a:prstGeom>
        </p:spPr>
        <p:txBody>
          <a:bodyPr wrap="square">
            <a:spAutoFit/>
          </a:bodyPr>
          <a:lstStyle/>
          <a:p>
            <a:r>
              <a:rPr lang="en-US" altLang="ja-JP" dirty="0" smtClean="0">
                <a:solidFill>
                  <a:srgbClr val="002060"/>
                </a:solidFill>
                <a:hlinkClick r:id="rId3"/>
              </a:rPr>
              <a:t>【</a:t>
            </a:r>
            <a:r>
              <a:rPr lang="en-US" altLang="ja-JP" dirty="0">
                <a:solidFill>
                  <a:srgbClr val="002060"/>
                </a:solidFill>
                <a:hlinkClick r:id="rId3"/>
              </a:rPr>
              <a:t>ATM</a:t>
            </a:r>
            <a:r>
              <a:rPr lang="ja-JP" altLang="en-US" dirty="0">
                <a:solidFill>
                  <a:srgbClr val="002060"/>
                </a:solidFill>
                <a:hlinkClick r:id="rId3"/>
              </a:rPr>
              <a:t>の使い方</a:t>
            </a:r>
            <a:r>
              <a:rPr lang="en-US" altLang="ja-JP" dirty="0" smtClean="0">
                <a:solidFill>
                  <a:srgbClr val="002060"/>
                </a:solidFill>
                <a:hlinkClick r:id="rId3"/>
              </a:rPr>
              <a:t>】</a:t>
            </a:r>
            <a:r>
              <a:rPr lang="ja-JP" altLang="en-US" dirty="0" smtClean="0">
                <a:solidFill>
                  <a:srgbClr val="002060"/>
                </a:solidFill>
                <a:hlinkClick r:id="rId3"/>
              </a:rPr>
              <a:t>キャッシュカー</a:t>
            </a:r>
            <a:r>
              <a:rPr lang="ja-JP" altLang="en-US" dirty="0" err="1" smtClean="0">
                <a:solidFill>
                  <a:srgbClr val="002060"/>
                </a:solidFill>
                <a:hlinkClick r:id="rId3"/>
              </a:rPr>
              <a:t>ド</a:t>
            </a:r>
            <a:r>
              <a:rPr lang="ja-JP" altLang="en-US" dirty="0" err="1">
                <a:solidFill>
                  <a:srgbClr val="002060"/>
                </a:solidFill>
                <a:hlinkClick r:id="rId3"/>
              </a:rPr>
              <a:t>で</a:t>
            </a:r>
            <a:r>
              <a:rPr lang="ja-JP" altLang="en-US" dirty="0">
                <a:solidFill>
                  <a:srgbClr val="002060"/>
                </a:solidFill>
                <a:hlinkClick r:id="rId3"/>
              </a:rPr>
              <a:t>お金を入れる　ゆうちょ銀行 </a:t>
            </a:r>
            <a:r>
              <a:rPr lang="en-US" altLang="ja-JP" dirty="0">
                <a:solidFill>
                  <a:srgbClr val="002060"/>
                </a:solidFill>
                <a:hlinkClick r:id="rId3"/>
              </a:rPr>
              <a:t>- YouTube</a:t>
            </a:r>
            <a:endParaRPr lang="ja-JP" altLang="en-US" dirty="0">
              <a:solidFill>
                <a:srgbClr val="002060"/>
              </a:solidFill>
            </a:endParaRPr>
          </a:p>
        </p:txBody>
      </p:sp>
      <p:sp>
        <p:nvSpPr>
          <p:cNvPr id="5" name="正方形/長方形 4"/>
          <p:cNvSpPr/>
          <p:nvPr/>
        </p:nvSpPr>
        <p:spPr>
          <a:xfrm>
            <a:off x="237588" y="4682632"/>
            <a:ext cx="8348133" cy="369332"/>
          </a:xfrm>
          <a:prstGeom prst="rect">
            <a:avLst/>
          </a:prstGeom>
        </p:spPr>
        <p:txBody>
          <a:bodyPr wrap="square">
            <a:spAutoFit/>
          </a:bodyPr>
          <a:lstStyle/>
          <a:p>
            <a:r>
              <a:rPr lang="en-US" altLang="ja-JP" dirty="0" smtClean="0">
                <a:solidFill>
                  <a:srgbClr val="002060"/>
                </a:solidFill>
                <a:hlinkClick r:id="rId4"/>
              </a:rPr>
              <a:t>【</a:t>
            </a:r>
            <a:r>
              <a:rPr lang="en-US" altLang="ja-JP" dirty="0">
                <a:solidFill>
                  <a:srgbClr val="002060"/>
                </a:solidFill>
                <a:hlinkClick r:id="rId4"/>
              </a:rPr>
              <a:t>ATM</a:t>
            </a:r>
            <a:r>
              <a:rPr lang="ja-JP" altLang="en-US" dirty="0">
                <a:solidFill>
                  <a:srgbClr val="002060"/>
                </a:solidFill>
                <a:hlinkClick r:id="rId4"/>
              </a:rPr>
              <a:t>の使い方</a:t>
            </a:r>
            <a:r>
              <a:rPr lang="en-US" altLang="ja-JP" dirty="0">
                <a:solidFill>
                  <a:srgbClr val="002060"/>
                </a:solidFill>
                <a:hlinkClick r:id="rId4"/>
              </a:rPr>
              <a:t>】ATM</a:t>
            </a:r>
            <a:r>
              <a:rPr lang="ja-JP" altLang="en-US" dirty="0">
                <a:solidFill>
                  <a:srgbClr val="002060"/>
                </a:solidFill>
                <a:hlinkClick r:id="rId4"/>
              </a:rPr>
              <a:t>で預金口座の残高を確認する　ゆう</a:t>
            </a:r>
            <a:r>
              <a:rPr lang="ja-JP" altLang="en-US" dirty="0" err="1">
                <a:solidFill>
                  <a:srgbClr val="002060"/>
                </a:solidFill>
                <a:hlinkClick r:id="rId4"/>
              </a:rPr>
              <a:t>ちょ</a:t>
            </a:r>
            <a:r>
              <a:rPr lang="ja-JP" altLang="en-US" dirty="0">
                <a:solidFill>
                  <a:srgbClr val="002060"/>
                </a:solidFill>
                <a:hlinkClick r:id="rId4"/>
              </a:rPr>
              <a:t>銀行 </a:t>
            </a:r>
            <a:r>
              <a:rPr lang="en-US" altLang="ja-JP" dirty="0">
                <a:solidFill>
                  <a:srgbClr val="002060"/>
                </a:solidFill>
                <a:hlinkClick r:id="rId4"/>
              </a:rPr>
              <a:t>- YouTube</a:t>
            </a:r>
            <a:endParaRPr lang="ja-JP" altLang="en-US" dirty="0">
              <a:solidFill>
                <a:srgbClr val="002060"/>
              </a:solidFill>
            </a:endParaRPr>
          </a:p>
        </p:txBody>
      </p:sp>
      <p:sp>
        <p:nvSpPr>
          <p:cNvPr id="6" name="正方形/長方形 5"/>
          <p:cNvSpPr/>
          <p:nvPr/>
        </p:nvSpPr>
        <p:spPr>
          <a:xfrm>
            <a:off x="546099" y="1352339"/>
            <a:ext cx="5470979" cy="338554"/>
          </a:xfrm>
          <a:prstGeom prst="rect">
            <a:avLst/>
          </a:prstGeom>
        </p:spPr>
        <p:txBody>
          <a:bodyPr wrap="square">
            <a:spAutoFit/>
          </a:bodyPr>
          <a:lstStyle/>
          <a:p>
            <a:r>
              <a:rPr lang="ja-JP" altLang="en-US" sz="1600" dirty="0">
                <a:latin typeface="Meiryo UI" panose="020B0604030504040204" pitchFamily="50" charset="-128"/>
                <a:ea typeface="Meiryo UI" panose="020B0604030504040204" pitchFamily="50" charset="-128"/>
              </a:rPr>
              <a:t>https://www.youtube.com/watch?v=pFvnmVQUAc8</a:t>
            </a:r>
          </a:p>
        </p:txBody>
      </p:sp>
      <p:sp>
        <p:nvSpPr>
          <p:cNvPr id="7" name="正方形/長方形 6"/>
          <p:cNvSpPr/>
          <p:nvPr/>
        </p:nvSpPr>
        <p:spPr>
          <a:xfrm>
            <a:off x="3808185" y="3031748"/>
            <a:ext cx="5470979" cy="338554"/>
          </a:xfrm>
          <a:prstGeom prst="rect">
            <a:avLst/>
          </a:prstGeom>
        </p:spPr>
        <p:txBody>
          <a:bodyPr wrap="square">
            <a:spAutoFit/>
          </a:bodyPr>
          <a:lstStyle/>
          <a:p>
            <a:r>
              <a:rPr lang="ja-JP" altLang="en-US" sz="1600" dirty="0">
                <a:latin typeface="Meiryo UI" panose="020B0604030504040204" pitchFamily="50" charset="-128"/>
                <a:ea typeface="Meiryo UI" panose="020B0604030504040204" pitchFamily="50" charset="-128"/>
              </a:rPr>
              <a:t>https://www.youtube.com/watch?v=NASpHdYZoE8</a:t>
            </a:r>
          </a:p>
        </p:txBody>
      </p:sp>
      <p:sp>
        <p:nvSpPr>
          <p:cNvPr id="9" name="正方形/長方形 8"/>
          <p:cNvSpPr/>
          <p:nvPr/>
        </p:nvSpPr>
        <p:spPr>
          <a:xfrm>
            <a:off x="330200" y="5074099"/>
            <a:ext cx="5470979" cy="338554"/>
          </a:xfrm>
          <a:prstGeom prst="rect">
            <a:avLst/>
          </a:prstGeom>
        </p:spPr>
        <p:txBody>
          <a:bodyPr wrap="square">
            <a:spAutoFit/>
          </a:bodyPr>
          <a:lstStyle/>
          <a:p>
            <a:r>
              <a:rPr lang="ja-JP" altLang="en-US" sz="1600" dirty="0">
                <a:latin typeface="Meiryo UI" panose="020B0604030504040204" pitchFamily="50" charset="-128"/>
                <a:ea typeface="Meiryo UI" panose="020B0604030504040204" pitchFamily="50" charset="-128"/>
              </a:rPr>
              <a:t>https://www.youtube.com/watch?v=vdw53Bxit3k</a:t>
            </a:r>
          </a:p>
        </p:txBody>
      </p:sp>
      <p:sp>
        <p:nvSpPr>
          <p:cNvPr id="10" name="正方形/長方形 9"/>
          <p:cNvSpPr/>
          <p:nvPr/>
        </p:nvSpPr>
        <p:spPr>
          <a:xfrm>
            <a:off x="2243530" y="31493"/>
            <a:ext cx="5461303" cy="369332"/>
          </a:xfrm>
          <a:prstGeom prst="rect">
            <a:avLst/>
          </a:prstGeom>
        </p:spPr>
        <p:txBody>
          <a:bodyPr wrap="none">
            <a:spAutoFit/>
          </a:bodyPr>
          <a:lstStyle/>
          <a:p>
            <a:r>
              <a:rPr lang="ja-JP" altLang="en-US" b="1" dirty="0">
                <a:solidFill>
                  <a:srgbClr val="0F0F0F"/>
                </a:solidFill>
                <a:latin typeface="Meiryo UI" panose="020B0604030504040204" pitchFamily="50" charset="-128"/>
                <a:ea typeface="Meiryo UI" panose="020B0604030504040204" pitchFamily="50" charset="-128"/>
              </a:rPr>
              <a:t>生活</a:t>
            </a:r>
            <a:r>
              <a:rPr lang="ja-JP" altLang="en-US" b="1" dirty="0" smtClean="0">
                <a:solidFill>
                  <a:srgbClr val="0F0F0F"/>
                </a:solidFill>
                <a:latin typeface="Meiryo UI" panose="020B0604030504040204" pitchFamily="50" charset="-128"/>
                <a:ea typeface="Meiryo UI" panose="020B0604030504040204" pitchFamily="50" charset="-128"/>
              </a:rPr>
              <a:t>オリエンテーション　</a:t>
            </a:r>
            <a:r>
              <a:rPr lang="en-US" altLang="ja-JP" dirty="0"/>
              <a:t> </a:t>
            </a:r>
            <a:r>
              <a:rPr lang="en-US" altLang="ja-JP" dirty="0" err="1"/>
              <a:t>Orientasi</a:t>
            </a:r>
            <a:r>
              <a:rPr lang="en-US" altLang="ja-JP" dirty="0"/>
              <a:t> </a:t>
            </a:r>
            <a:r>
              <a:rPr lang="en-US" altLang="ja-JP" dirty="0" err="1"/>
              <a:t>kehidupan</a:t>
            </a:r>
            <a:r>
              <a:rPr lang="en-US" altLang="ja-JP" dirty="0"/>
              <a:t> </a:t>
            </a:r>
            <a:r>
              <a:rPr lang="en-US" altLang="ja-JP" dirty="0" err="1"/>
              <a:t>sehari-hari</a:t>
            </a:r>
            <a:r>
              <a:rPr lang="vi-VN" altLang="ja-JP" b="1" dirty="0" smtClean="0">
                <a:latin typeface="Times New Roman" panose="02020603050405020304" pitchFamily="18" charset="0"/>
                <a:cs typeface="Times New Roman" panose="02020603050405020304" pitchFamily="18" charset="0"/>
              </a:rPr>
              <a:t> </a:t>
            </a:r>
            <a:endParaRPr lang="en-US" altLang="ja-JP" b="1" dirty="0">
              <a:solidFill>
                <a:srgbClr val="0F0F0F"/>
              </a:solidFill>
              <a:latin typeface="Meiryo UI" panose="020B0604030504040204" pitchFamily="50" charset="-128"/>
              <a:ea typeface="Meiryo UI" panose="020B0604030504040204" pitchFamily="50" charset="-128"/>
            </a:endParaRPr>
          </a:p>
        </p:txBody>
      </p:sp>
      <p:pic>
        <p:nvPicPr>
          <p:cNvPr id="2" name="図 1"/>
          <p:cNvPicPr>
            <a:picLocks noChangeAspect="1"/>
          </p:cNvPicPr>
          <p:nvPr/>
        </p:nvPicPr>
        <p:blipFill>
          <a:blip r:embed="rId5"/>
          <a:stretch>
            <a:fillRect/>
          </a:stretch>
        </p:blipFill>
        <p:spPr>
          <a:xfrm>
            <a:off x="6289576" y="1070835"/>
            <a:ext cx="1660624" cy="1611926"/>
          </a:xfrm>
          <a:prstGeom prst="rect">
            <a:avLst/>
          </a:prstGeom>
        </p:spPr>
      </p:pic>
      <p:pic>
        <p:nvPicPr>
          <p:cNvPr id="8" name="図 7"/>
          <p:cNvPicPr>
            <a:picLocks noChangeAspect="1"/>
          </p:cNvPicPr>
          <p:nvPr/>
        </p:nvPicPr>
        <p:blipFill>
          <a:blip r:embed="rId6"/>
          <a:stretch>
            <a:fillRect/>
          </a:stretch>
        </p:blipFill>
        <p:spPr>
          <a:xfrm>
            <a:off x="694063" y="2997418"/>
            <a:ext cx="1744338" cy="1754942"/>
          </a:xfrm>
          <a:prstGeom prst="rect">
            <a:avLst/>
          </a:prstGeom>
        </p:spPr>
      </p:pic>
      <p:pic>
        <p:nvPicPr>
          <p:cNvPr id="11" name="図 10"/>
          <p:cNvPicPr>
            <a:picLocks noChangeAspect="1"/>
          </p:cNvPicPr>
          <p:nvPr/>
        </p:nvPicPr>
        <p:blipFill>
          <a:blip r:embed="rId7"/>
          <a:stretch>
            <a:fillRect/>
          </a:stretch>
        </p:blipFill>
        <p:spPr>
          <a:xfrm>
            <a:off x="6321279" y="5168900"/>
            <a:ext cx="1628921" cy="1643911"/>
          </a:xfrm>
          <a:prstGeom prst="rect">
            <a:avLst/>
          </a:prstGeom>
        </p:spPr>
      </p:pic>
      <p:sp>
        <p:nvSpPr>
          <p:cNvPr id="12" name="正方形/長方形 11"/>
          <p:cNvSpPr/>
          <p:nvPr/>
        </p:nvSpPr>
        <p:spPr>
          <a:xfrm>
            <a:off x="330200" y="1781456"/>
            <a:ext cx="4430387" cy="646331"/>
          </a:xfrm>
          <a:prstGeom prst="rect">
            <a:avLst/>
          </a:prstGeom>
        </p:spPr>
        <p:txBody>
          <a:bodyPr wrap="square">
            <a:spAutoFit/>
          </a:bodyPr>
          <a:lstStyle/>
          <a:p>
            <a:r>
              <a:rPr lang="en-US" altLang="ja-JP" dirty="0"/>
              <a:t>【Cara </a:t>
            </a:r>
            <a:r>
              <a:rPr lang="en-US" altLang="ja-JP" dirty="0" err="1"/>
              <a:t>menggunakan</a:t>
            </a:r>
            <a:r>
              <a:rPr lang="en-US" altLang="ja-JP" dirty="0"/>
              <a:t> </a:t>
            </a:r>
            <a:r>
              <a:rPr lang="en-US" altLang="ja-JP" dirty="0" err="1"/>
              <a:t>ATM】Cara</a:t>
            </a:r>
            <a:r>
              <a:rPr lang="en-US" altLang="ja-JP" dirty="0"/>
              <a:t> </a:t>
            </a:r>
            <a:r>
              <a:rPr lang="en-US" altLang="ja-JP" dirty="0" err="1"/>
              <a:t>menarik</a:t>
            </a:r>
            <a:r>
              <a:rPr lang="en-US" altLang="ja-JP" dirty="0"/>
              <a:t> </a:t>
            </a:r>
            <a:r>
              <a:rPr lang="en-US" altLang="ja-JP" dirty="0" err="1"/>
              <a:t>uang</a:t>
            </a:r>
            <a:r>
              <a:rPr lang="en-US" altLang="ja-JP" dirty="0"/>
              <a:t> </a:t>
            </a:r>
            <a:r>
              <a:rPr lang="en-US" altLang="ja-JP" dirty="0" err="1"/>
              <a:t>tunai</a:t>
            </a:r>
            <a:r>
              <a:rPr lang="en-US" altLang="ja-JP" dirty="0"/>
              <a:t> </a:t>
            </a:r>
            <a:r>
              <a:rPr lang="en-US" altLang="ja-JP" dirty="0" err="1"/>
              <a:t>dengan</a:t>
            </a:r>
            <a:r>
              <a:rPr lang="en-US" altLang="ja-JP" dirty="0"/>
              <a:t> </a:t>
            </a:r>
            <a:r>
              <a:rPr lang="en-US" altLang="ja-JP" dirty="0" err="1"/>
              <a:t>kartu</a:t>
            </a:r>
            <a:r>
              <a:rPr lang="en-US" altLang="ja-JP" dirty="0"/>
              <a:t> ATM</a:t>
            </a:r>
            <a:endParaRPr lang="ja-JP" altLang="en-US" dirty="0"/>
          </a:p>
        </p:txBody>
      </p:sp>
      <p:sp>
        <p:nvSpPr>
          <p:cNvPr id="13" name="正方形/長方形 12"/>
          <p:cNvSpPr/>
          <p:nvPr/>
        </p:nvSpPr>
        <p:spPr>
          <a:xfrm>
            <a:off x="3759009" y="3450334"/>
            <a:ext cx="3945824" cy="369332"/>
          </a:xfrm>
          <a:prstGeom prst="rect">
            <a:avLst/>
          </a:prstGeom>
        </p:spPr>
        <p:txBody>
          <a:bodyPr wrap="none">
            <a:spAutoFit/>
          </a:bodyPr>
          <a:lstStyle/>
          <a:p>
            <a:r>
              <a:rPr lang="en-US" altLang="ja-JP" dirty="0" err="1"/>
              <a:t>Menyetor</a:t>
            </a:r>
            <a:r>
              <a:rPr lang="en-US" altLang="ja-JP" dirty="0"/>
              <a:t> </a:t>
            </a:r>
            <a:r>
              <a:rPr lang="en-US" altLang="ja-JP" dirty="0" err="1"/>
              <a:t>uang</a:t>
            </a:r>
            <a:r>
              <a:rPr lang="en-US" altLang="ja-JP" dirty="0"/>
              <a:t> </a:t>
            </a:r>
            <a:r>
              <a:rPr lang="en-US" altLang="ja-JP" dirty="0" err="1"/>
              <a:t>menggunakan</a:t>
            </a:r>
            <a:r>
              <a:rPr lang="en-US" altLang="ja-JP" dirty="0"/>
              <a:t> </a:t>
            </a:r>
            <a:r>
              <a:rPr lang="en-US" altLang="ja-JP" dirty="0" err="1"/>
              <a:t>kartu</a:t>
            </a:r>
            <a:r>
              <a:rPr lang="en-US" altLang="ja-JP" dirty="0"/>
              <a:t> ATM</a:t>
            </a:r>
            <a:endParaRPr lang="ja-JP" altLang="en-US" dirty="0"/>
          </a:p>
        </p:txBody>
      </p:sp>
      <p:sp>
        <p:nvSpPr>
          <p:cNvPr id="14" name="正方形/長方形 13"/>
          <p:cNvSpPr/>
          <p:nvPr/>
        </p:nvSpPr>
        <p:spPr>
          <a:xfrm>
            <a:off x="436554" y="5523463"/>
            <a:ext cx="4915135" cy="369332"/>
          </a:xfrm>
          <a:prstGeom prst="rect">
            <a:avLst/>
          </a:prstGeom>
        </p:spPr>
        <p:txBody>
          <a:bodyPr wrap="square">
            <a:spAutoFit/>
          </a:bodyPr>
          <a:lstStyle/>
          <a:p>
            <a:r>
              <a:rPr lang="en-US" altLang="ja-JP" dirty="0" err="1"/>
              <a:t>Memeriksa</a:t>
            </a:r>
            <a:r>
              <a:rPr lang="en-US" altLang="ja-JP" dirty="0"/>
              <a:t> </a:t>
            </a:r>
            <a:r>
              <a:rPr lang="en-US" altLang="ja-JP" dirty="0" err="1"/>
              <a:t>saldo</a:t>
            </a:r>
            <a:r>
              <a:rPr lang="en-US" altLang="ja-JP" dirty="0"/>
              <a:t> </a:t>
            </a:r>
            <a:r>
              <a:rPr lang="en-US" altLang="ja-JP" dirty="0" err="1"/>
              <a:t>rekening</a:t>
            </a:r>
            <a:r>
              <a:rPr lang="en-US" altLang="ja-JP" dirty="0"/>
              <a:t> </a:t>
            </a:r>
            <a:r>
              <a:rPr lang="en-US" altLang="ja-JP" dirty="0" err="1"/>
              <a:t>tabungan</a:t>
            </a:r>
            <a:r>
              <a:rPr lang="en-US" altLang="ja-JP" dirty="0"/>
              <a:t> </a:t>
            </a:r>
            <a:r>
              <a:rPr lang="en-US" altLang="ja-JP" dirty="0" err="1"/>
              <a:t>melalui</a:t>
            </a:r>
            <a:r>
              <a:rPr lang="en-US" altLang="ja-JP" dirty="0"/>
              <a:t> ATM</a:t>
            </a:r>
            <a:endParaRPr lang="ja-JP" altLang="en-US" dirty="0"/>
          </a:p>
        </p:txBody>
      </p:sp>
    </p:spTree>
    <p:extLst>
      <p:ext uri="{BB962C8B-B14F-4D97-AF65-F5344CB8AC3E}">
        <p14:creationId xmlns:p14="http://schemas.microsoft.com/office/powerpoint/2010/main" val="293421855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7879" y="1251671"/>
            <a:ext cx="3890809" cy="677108"/>
          </a:xfrm>
          <a:prstGeom prst="rect">
            <a:avLst/>
          </a:prstGeom>
          <a:noFill/>
        </p:spPr>
        <p:txBody>
          <a:bodyPr wrap="none">
            <a:spAutoFit/>
          </a:bodyPr>
          <a:lstStyle/>
          <a:p>
            <a:endParaRPr sz="1400" dirty="0">
              <a:latin typeface="Meiryo UI" panose="020B0604030504040204" pitchFamily="50" charset="-128"/>
              <a:ea typeface="Meiryo UI" panose="020B0604030504040204" pitchFamily="50" charset="-128"/>
            </a:endParaRPr>
          </a:p>
          <a:p>
            <a:pPr>
              <a:defRPr sz="3200" b="1">
                <a:solidFill>
                  <a:srgbClr val="008000"/>
                </a:solidFill>
              </a:defRPr>
            </a:pPr>
            <a:r>
              <a:rPr sz="2400" dirty="0">
                <a:latin typeface="Meiryo UI" panose="020B0604030504040204" pitchFamily="50" charset="-128"/>
                <a:ea typeface="Meiryo UI" panose="020B0604030504040204" pitchFamily="50" charset="-128"/>
              </a:rPr>
              <a:t>① </a:t>
            </a:r>
            <a:r>
              <a:rPr sz="2400" dirty="0" err="1" smtClean="0">
                <a:latin typeface="Meiryo UI" panose="020B0604030504040204" pitchFamily="50" charset="-128"/>
                <a:ea typeface="Meiryo UI" panose="020B0604030504040204" pitchFamily="50" charset="-128"/>
              </a:rPr>
              <a:t>アプリをダウンロードする</a:t>
            </a:r>
            <a:r>
              <a:rPr sz="2400" dirty="0" smtClean="0">
                <a:latin typeface="Meiryo UI" panose="020B0604030504040204" pitchFamily="50" charset="-128"/>
                <a:ea typeface="Meiryo UI" panose="020B0604030504040204" pitchFamily="50" charset="-128"/>
              </a:rPr>
              <a:t> </a:t>
            </a:r>
            <a:r>
              <a:rPr lang="en-US" altLang="ja-JP" sz="2400" dirty="0" smtClean="0">
                <a:latin typeface="Meiryo UI" panose="020B0604030504040204" pitchFamily="50" charset="-128"/>
                <a:ea typeface="Meiryo UI" panose="020B0604030504040204" pitchFamily="50" charset="-128"/>
              </a:rPr>
              <a:t>_</a:t>
            </a:r>
            <a:endParaRPr sz="240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3" name="TextBox 2"/>
          <p:cNvSpPr txBox="1"/>
          <p:nvPr/>
        </p:nvSpPr>
        <p:spPr>
          <a:xfrm>
            <a:off x="625569" y="2354264"/>
            <a:ext cx="7258974" cy="923330"/>
          </a:xfrm>
          <a:prstGeom prst="rect">
            <a:avLst/>
          </a:prstGeom>
          <a:noFill/>
        </p:spPr>
        <p:txBody>
          <a:bodyPr wrap="square">
            <a:spAutoFit/>
          </a:bodyPr>
          <a:lstStyle/>
          <a:p>
            <a:r>
              <a:rPr dirty="0">
                <a:latin typeface="Meiryo UI" panose="020B0604030504040204" pitchFamily="50" charset="-128"/>
                <a:ea typeface="Meiryo UI" panose="020B0604030504040204" pitchFamily="50" charset="-128"/>
              </a:rPr>
              <a:t>App Store / Google </a:t>
            </a:r>
            <a:r>
              <a:rPr dirty="0" err="1">
                <a:latin typeface="Meiryo UI" panose="020B0604030504040204" pitchFamily="50" charset="-128"/>
                <a:ea typeface="Meiryo UI" panose="020B0604030504040204" pitchFamily="50" charset="-128"/>
              </a:rPr>
              <a:t>Playで検索</a:t>
            </a:r>
            <a:r>
              <a:rPr dirty="0">
                <a:latin typeface="Meiryo UI" panose="020B0604030504040204" pitchFamily="50" charset="-128"/>
                <a:ea typeface="Meiryo UI" panose="020B0604030504040204" pitchFamily="50" charset="-128"/>
              </a:rPr>
              <a:t>:「</a:t>
            </a:r>
            <a:r>
              <a:rPr dirty="0" err="1">
                <a:latin typeface="Meiryo UI" panose="020B0604030504040204" pitchFamily="50" charset="-128"/>
                <a:ea typeface="Meiryo UI" panose="020B0604030504040204" pitchFamily="50" charset="-128"/>
              </a:rPr>
              <a:t>ごみ分別アプリ</a:t>
            </a:r>
            <a:r>
              <a:rPr dirty="0">
                <a:latin typeface="Meiryo UI" panose="020B0604030504040204" pitchFamily="50" charset="-128"/>
                <a:ea typeface="Meiryo UI" panose="020B0604030504040204" pitchFamily="50" charset="-128"/>
              </a:rPr>
              <a:t> </a:t>
            </a:r>
            <a:r>
              <a:rPr dirty="0" err="1">
                <a:latin typeface="Meiryo UI" panose="020B0604030504040204" pitchFamily="50" charset="-128"/>
                <a:ea typeface="Meiryo UI" panose="020B0604030504040204" pitchFamily="50" charset="-128"/>
              </a:rPr>
              <a:t>さんあ～る</a:t>
            </a:r>
            <a:r>
              <a:rPr dirty="0">
                <a:latin typeface="Meiryo UI" panose="020B0604030504040204" pitchFamily="50" charset="-128"/>
                <a:ea typeface="Meiryo UI" panose="020B0604030504040204" pitchFamily="50" charset="-128"/>
              </a:rPr>
              <a:t>」</a:t>
            </a:r>
          </a:p>
          <a:p>
            <a:r>
              <a:rPr dirty="0" err="1">
                <a:latin typeface="Meiryo UI" panose="020B0604030504040204" pitchFamily="50" charset="-128"/>
                <a:ea typeface="Meiryo UI" panose="020B0604030504040204" pitchFamily="50" charset="-128"/>
              </a:rPr>
              <a:t>アイコン</a:t>
            </a:r>
            <a:r>
              <a:rPr dirty="0">
                <a:latin typeface="Meiryo UI" panose="020B0604030504040204" pitchFamily="50" charset="-128"/>
                <a:ea typeface="Meiryo UI" panose="020B0604030504040204" pitchFamily="50" charset="-128"/>
              </a:rPr>
              <a:t>：♻️ </a:t>
            </a:r>
            <a:r>
              <a:rPr dirty="0" err="1">
                <a:latin typeface="Meiryo UI" panose="020B0604030504040204" pitchFamily="50" charset="-128"/>
                <a:ea typeface="Meiryo UI" panose="020B0604030504040204" pitchFamily="50" charset="-128"/>
              </a:rPr>
              <a:t>緑色のマーク</a:t>
            </a:r>
            <a:endParaRPr dirty="0">
              <a:latin typeface="Meiryo UI" panose="020B0604030504040204" pitchFamily="50" charset="-128"/>
              <a:ea typeface="Meiryo UI" panose="020B0604030504040204" pitchFamily="50" charset="-128"/>
            </a:endParaRPr>
          </a:p>
          <a:p>
            <a:endParaRPr dirty="0">
              <a:latin typeface="Meiryo UI" panose="020B0604030504040204" pitchFamily="50" charset="-128"/>
              <a:ea typeface="Meiryo UI" panose="020B0604030504040204" pitchFamily="50" charset="-128"/>
            </a:endParaRPr>
          </a:p>
        </p:txBody>
      </p:sp>
      <p:pic>
        <p:nvPicPr>
          <p:cNvPr id="4" name="Picture 3" descr="e6ccbff8-db03-464b-9230-52c8f8375852.png"/>
          <p:cNvPicPr>
            <a:picLocks noChangeAspect="1"/>
          </p:cNvPicPr>
          <p:nvPr/>
        </p:nvPicPr>
        <p:blipFill rotWithShape="1">
          <a:blip r:embed="rId2"/>
          <a:srcRect l="86898" t="7114" b="20249"/>
          <a:stretch/>
        </p:blipFill>
        <p:spPr>
          <a:xfrm>
            <a:off x="6491528" y="4181999"/>
            <a:ext cx="2254746" cy="2469875"/>
          </a:xfrm>
          <a:prstGeom prst="rect">
            <a:avLst/>
          </a:prstGeom>
        </p:spPr>
      </p:pic>
      <p:sp>
        <p:nvSpPr>
          <p:cNvPr id="5" name="TextBox 1"/>
          <p:cNvSpPr txBox="1"/>
          <p:nvPr/>
        </p:nvSpPr>
        <p:spPr>
          <a:xfrm>
            <a:off x="2187145" y="326475"/>
            <a:ext cx="4304383" cy="1123384"/>
          </a:xfrm>
          <a:prstGeom prst="rect">
            <a:avLst/>
          </a:prstGeom>
          <a:noFill/>
        </p:spPr>
        <p:txBody>
          <a:bodyPr wrap="none">
            <a:spAutoFit/>
          </a:bodyPr>
          <a:lstStyle/>
          <a:p>
            <a:endParaRPr sz="1100" dirty="0">
              <a:latin typeface="Meiryo UI" panose="020B0604030504040204" pitchFamily="50" charset="-128"/>
              <a:ea typeface="Meiryo UI" panose="020B0604030504040204" pitchFamily="50" charset="-128"/>
            </a:endParaRPr>
          </a:p>
          <a:p>
            <a:pPr>
              <a:defRPr sz="4400" b="1">
                <a:solidFill>
                  <a:srgbClr val="008000"/>
                </a:solidFill>
              </a:defRPr>
            </a:pPr>
            <a:r>
              <a:rPr sz="2800" dirty="0" err="1">
                <a:latin typeface="Meiryo UI" panose="020B0604030504040204" pitchFamily="50" charset="-128"/>
                <a:ea typeface="Meiryo UI" panose="020B0604030504040204" pitchFamily="50" charset="-128"/>
              </a:rPr>
              <a:t>ごみ分別アプリ『さんあ～る</a:t>
            </a:r>
            <a:r>
              <a:rPr sz="2800" dirty="0" smtClean="0">
                <a:latin typeface="Meiryo UI" panose="020B0604030504040204" pitchFamily="50" charset="-128"/>
                <a:ea typeface="Meiryo UI" panose="020B0604030504040204" pitchFamily="50" charset="-128"/>
              </a:rPr>
              <a:t>』</a:t>
            </a:r>
            <a:endParaRPr lang="en-US" sz="2800" dirty="0" smtClean="0">
              <a:latin typeface="Meiryo UI" panose="020B0604030504040204" pitchFamily="50" charset="-128"/>
              <a:ea typeface="Meiryo UI" panose="020B0604030504040204" pitchFamily="50" charset="-128"/>
            </a:endParaRPr>
          </a:p>
          <a:p>
            <a:pPr>
              <a:defRPr sz="4400" b="1">
                <a:solidFill>
                  <a:srgbClr val="008000"/>
                </a:solidFill>
              </a:defRPr>
            </a:pPr>
            <a:endParaRPr sz="2800" dirty="0">
              <a:latin typeface="Meiryo UI" panose="020B0604030504040204" pitchFamily="50" charset="-128"/>
              <a:ea typeface="Meiryo UI" panose="020B0604030504040204" pitchFamily="50" charset="-128"/>
            </a:endParaRPr>
          </a:p>
        </p:txBody>
      </p:sp>
      <p:sp>
        <p:nvSpPr>
          <p:cNvPr id="6" name="正方形/長方形 5"/>
          <p:cNvSpPr/>
          <p:nvPr/>
        </p:nvSpPr>
        <p:spPr>
          <a:xfrm>
            <a:off x="2769034" y="1036227"/>
            <a:ext cx="3140603" cy="369332"/>
          </a:xfrm>
          <a:prstGeom prst="rect">
            <a:avLst/>
          </a:prstGeom>
        </p:spPr>
        <p:txBody>
          <a:bodyPr wrap="none">
            <a:spAutoFit/>
          </a:bodyPr>
          <a:lstStyle/>
          <a:p>
            <a:r>
              <a:rPr lang="en-US" altLang="ja-JP" dirty="0" err="1"/>
              <a:t>Aplikasi</a:t>
            </a:r>
            <a:r>
              <a:rPr lang="en-US" altLang="ja-JP" dirty="0"/>
              <a:t> </a:t>
            </a:r>
            <a:r>
              <a:rPr lang="en-US" altLang="ja-JP" dirty="0" err="1"/>
              <a:t>pemilahan</a:t>
            </a:r>
            <a:r>
              <a:rPr lang="en-US" altLang="ja-JP" dirty="0"/>
              <a:t> </a:t>
            </a:r>
            <a:r>
              <a:rPr lang="en-US" altLang="ja-JP" dirty="0" err="1"/>
              <a:t>sampah</a:t>
            </a:r>
            <a:r>
              <a:rPr lang="en-US" altLang="ja-JP" dirty="0"/>
              <a:t> "3R"</a:t>
            </a:r>
            <a:endParaRPr lang="ja-JP" altLang="en-US" dirty="0"/>
          </a:p>
        </p:txBody>
      </p:sp>
      <p:sp>
        <p:nvSpPr>
          <p:cNvPr id="7" name="正方形/長方形 6"/>
          <p:cNvSpPr/>
          <p:nvPr/>
        </p:nvSpPr>
        <p:spPr>
          <a:xfrm>
            <a:off x="1436543" y="1882359"/>
            <a:ext cx="1992212" cy="369332"/>
          </a:xfrm>
          <a:prstGeom prst="rect">
            <a:avLst/>
          </a:prstGeom>
        </p:spPr>
        <p:txBody>
          <a:bodyPr wrap="none">
            <a:spAutoFit/>
          </a:bodyPr>
          <a:lstStyle/>
          <a:p>
            <a:r>
              <a:rPr lang="en-US" altLang="ja-JP" dirty="0" err="1"/>
              <a:t>Mengunduh</a:t>
            </a:r>
            <a:r>
              <a:rPr lang="en-US" altLang="ja-JP" dirty="0"/>
              <a:t> </a:t>
            </a:r>
            <a:r>
              <a:rPr lang="en-US" altLang="ja-JP" dirty="0" err="1"/>
              <a:t>aplikasi</a:t>
            </a:r>
            <a:endParaRPr lang="ja-JP" altLang="en-US" dirty="0"/>
          </a:p>
        </p:txBody>
      </p:sp>
      <p:sp>
        <p:nvSpPr>
          <p:cNvPr id="8" name="正方形/長方形 7"/>
          <p:cNvSpPr/>
          <p:nvPr/>
        </p:nvSpPr>
        <p:spPr>
          <a:xfrm>
            <a:off x="625569" y="3156096"/>
            <a:ext cx="6478438" cy="646331"/>
          </a:xfrm>
          <a:prstGeom prst="rect">
            <a:avLst/>
          </a:prstGeom>
        </p:spPr>
        <p:txBody>
          <a:bodyPr wrap="square">
            <a:spAutoFit/>
          </a:bodyPr>
          <a:lstStyle/>
          <a:p>
            <a:r>
              <a:rPr lang="en-US" altLang="ja-JP" dirty="0" err="1"/>
              <a:t>Cari</a:t>
            </a:r>
            <a:r>
              <a:rPr lang="en-US" altLang="ja-JP" dirty="0"/>
              <a:t> di App Store / Google Play: "</a:t>
            </a:r>
            <a:r>
              <a:rPr lang="en-US" altLang="ja-JP" dirty="0" err="1"/>
              <a:t>Aplikasi</a:t>
            </a:r>
            <a:r>
              <a:rPr lang="en-US" altLang="ja-JP" dirty="0"/>
              <a:t> </a:t>
            </a:r>
            <a:r>
              <a:rPr lang="en-US" altLang="ja-JP" dirty="0" err="1"/>
              <a:t>pemilahan</a:t>
            </a:r>
            <a:r>
              <a:rPr lang="en-US" altLang="ja-JP" dirty="0"/>
              <a:t> </a:t>
            </a:r>
            <a:r>
              <a:rPr lang="en-US" altLang="ja-JP" dirty="0" err="1"/>
              <a:t>sampah</a:t>
            </a:r>
            <a:r>
              <a:rPr lang="en-US" altLang="ja-JP" dirty="0"/>
              <a:t> </a:t>
            </a:r>
            <a:r>
              <a:rPr lang="en-US" altLang="ja-JP" dirty="0" err="1"/>
              <a:t>Sanāru</a:t>
            </a:r>
            <a:r>
              <a:rPr lang="en-US" altLang="ja-JP" dirty="0"/>
              <a:t> (</a:t>
            </a:r>
            <a:r>
              <a:rPr lang="ja-JP" altLang="en-US" dirty="0" err="1"/>
              <a:t>さんあ</a:t>
            </a:r>
            <a:r>
              <a:rPr lang="ja-JP" altLang="en-US" dirty="0"/>
              <a:t>～</a:t>
            </a:r>
            <a:r>
              <a:rPr lang="ja-JP" altLang="en-US" dirty="0" err="1"/>
              <a:t>る</a:t>
            </a:r>
            <a:r>
              <a:rPr lang="en-US" altLang="ja-JP" dirty="0"/>
              <a:t>)"</a:t>
            </a:r>
            <a:endParaRPr lang="ja-JP" altLang="en-US" dirty="0"/>
          </a:p>
        </p:txBody>
      </p:sp>
      <p:sp>
        <p:nvSpPr>
          <p:cNvPr id="9" name="正方形/長方形 8"/>
          <p:cNvSpPr/>
          <p:nvPr/>
        </p:nvSpPr>
        <p:spPr>
          <a:xfrm>
            <a:off x="7073417" y="677922"/>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smtClean="0">
                <a:solidFill>
                  <a:schemeClr val="tx1"/>
                </a:solidFill>
              </a:rPr>
              <a:t>QR</a:t>
            </a:r>
            <a:r>
              <a:rPr kumimoji="1" lang="ja-JP" altLang="en-US" dirty="0" smtClean="0">
                <a:solidFill>
                  <a:schemeClr val="tx1"/>
                </a:solidFill>
              </a:rPr>
              <a:t>＿説明</a:t>
            </a:r>
            <a:endParaRPr kumimoji="1" lang="ja-JP" altLang="en-US" dirty="0">
              <a:solidFill>
                <a:schemeClr val="tx1"/>
              </a:solidFill>
            </a:endParaRPr>
          </a:p>
        </p:txBody>
      </p:sp>
      <p:sp>
        <p:nvSpPr>
          <p:cNvPr id="10" name="正方形/長方形 9"/>
          <p:cNvSpPr/>
          <p:nvPr/>
        </p:nvSpPr>
        <p:spPr>
          <a:xfrm>
            <a:off x="987879" y="5093770"/>
            <a:ext cx="6478438" cy="646331"/>
          </a:xfrm>
          <a:prstGeom prst="rect">
            <a:avLst/>
          </a:prstGeom>
        </p:spPr>
        <p:txBody>
          <a:bodyPr wrap="square">
            <a:spAutoFit/>
          </a:bodyPr>
          <a:lstStyle/>
          <a:p>
            <a:r>
              <a:rPr lang="ja-JP" altLang="en-US" dirty="0" smtClean="0"/>
              <a:t>住んでいる街によってごみ分別がちがいます</a:t>
            </a:r>
            <a:endParaRPr lang="en-US" altLang="ja-JP" dirty="0" smtClean="0"/>
          </a:p>
          <a:p>
            <a:r>
              <a:rPr lang="ja-JP" altLang="en-US" dirty="0" smtClean="0"/>
              <a:t>このアップリで</a:t>
            </a:r>
            <a:endParaRPr lang="ja-JP" altLang="en-US" dirty="0"/>
          </a:p>
        </p:txBody>
      </p:sp>
    </p:spTree>
    <p:extLst>
      <p:ext uri="{BB962C8B-B14F-4D97-AF65-F5344CB8AC3E}">
        <p14:creationId xmlns:p14="http://schemas.microsoft.com/office/powerpoint/2010/main" val="21837664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09499"/>
            <a:ext cx="6658361" cy="584775"/>
          </a:xfrm>
          <a:prstGeom prst="rect">
            <a:avLst/>
          </a:prstGeom>
          <a:noFill/>
        </p:spPr>
        <p:txBody>
          <a:bodyPr wrap="none">
            <a:spAutoFit/>
          </a:bodyPr>
          <a:lstStyle/>
          <a:p>
            <a:pPr>
              <a:defRPr sz="3200" b="1">
                <a:solidFill>
                  <a:srgbClr val="008000"/>
                </a:solidFill>
              </a:defRPr>
            </a:pPr>
            <a:r>
              <a:rPr sz="3200" dirty="0" smtClean="0">
                <a:latin typeface="Meiryo UI" panose="020B0604030504040204" pitchFamily="50" charset="-128"/>
                <a:ea typeface="Meiryo UI" panose="020B0604030504040204" pitchFamily="50" charset="-128"/>
              </a:rPr>
              <a:t>② </a:t>
            </a:r>
            <a:r>
              <a:rPr sz="3200" dirty="0" err="1" smtClean="0">
                <a:latin typeface="Meiryo UI" panose="020B0604030504040204" pitchFamily="50" charset="-128"/>
                <a:ea typeface="Meiryo UI" panose="020B0604030504040204" pitchFamily="50" charset="-128"/>
              </a:rPr>
              <a:t>アプリを開く</a:t>
            </a:r>
            <a:r>
              <a:rPr sz="3200" dirty="0" smtClean="0">
                <a:latin typeface="Meiryo UI" panose="020B0604030504040204" pitchFamily="50" charset="-128"/>
                <a:ea typeface="Meiryo UI" panose="020B0604030504040204" pitchFamily="50" charset="-128"/>
              </a:rPr>
              <a:t> </a:t>
            </a:r>
            <a:r>
              <a:rPr lang="en-US" altLang="ja-JP" sz="3200" dirty="0" smtClean="0">
                <a:latin typeface="Meiryo UI" panose="020B0604030504040204" pitchFamily="50" charset="-128"/>
                <a:ea typeface="Meiryo UI" panose="020B0604030504040204" pitchFamily="50" charset="-128"/>
              </a:rPr>
              <a:t>_</a:t>
            </a:r>
            <a:r>
              <a:rPr sz="3200" dirty="0" smtClean="0">
                <a:latin typeface="Meiryo UI" panose="020B0604030504040204" pitchFamily="50" charset="-128"/>
                <a:ea typeface="Meiryo UI" panose="020B0604030504040204" pitchFamily="50" charset="-128"/>
              </a:rPr>
              <a:t> </a:t>
            </a:r>
            <a:r>
              <a:rPr lang="en-US" altLang="ja-JP" sz="3200" b="1" dirty="0" err="1"/>
              <a:t>Membuka</a:t>
            </a:r>
            <a:r>
              <a:rPr lang="en-US" altLang="ja-JP" sz="3200" b="1" dirty="0"/>
              <a:t> </a:t>
            </a:r>
            <a:r>
              <a:rPr lang="en-US" altLang="ja-JP" sz="3200" b="1" dirty="0" err="1"/>
              <a:t>aplikasi</a:t>
            </a:r>
            <a:endParaRPr sz="320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3" name="TextBox 2"/>
          <p:cNvSpPr txBox="1"/>
          <p:nvPr/>
        </p:nvSpPr>
        <p:spPr>
          <a:xfrm>
            <a:off x="600052" y="1601638"/>
            <a:ext cx="7997254" cy="1631216"/>
          </a:xfrm>
          <a:prstGeom prst="rect">
            <a:avLst/>
          </a:prstGeom>
          <a:noFill/>
        </p:spPr>
        <p:txBody>
          <a:bodyPr wrap="none">
            <a:spAutoFit/>
          </a:bodyPr>
          <a:lstStyle/>
          <a:p>
            <a:r>
              <a:rPr sz="2000" dirty="0" err="1">
                <a:latin typeface="Meiryo UI" panose="020B0604030504040204" pitchFamily="50" charset="-128"/>
                <a:ea typeface="Meiryo UI" panose="020B0604030504040204" pitchFamily="50" charset="-128"/>
              </a:rPr>
              <a:t>ダウンロードが終わったら、アイコンをタップして開きます</a:t>
            </a:r>
            <a:r>
              <a:rPr sz="2000" dirty="0">
                <a:latin typeface="Meiryo UI" panose="020B0604030504040204" pitchFamily="50" charset="-128"/>
                <a:ea typeface="Meiryo UI" panose="020B0604030504040204" pitchFamily="50" charset="-128"/>
              </a:rPr>
              <a:t>。</a:t>
            </a:r>
          </a:p>
          <a:p>
            <a:r>
              <a:rPr sz="2000" dirty="0" err="1">
                <a:latin typeface="Meiryo UI" panose="020B0604030504040204" pitchFamily="50" charset="-128"/>
                <a:ea typeface="Meiryo UI" panose="020B0604030504040204" pitchFamily="50" charset="-128"/>
              </a:rPr>
              <a:t>最初に「ようこそ」画面が出ます</a:t>
            </a:r>
            <a:r>
              <a:rPr sz="2000" dirty="0">
                <a:latin typeface="Meiryo UI" panose="020B0604030504040204" pitchFamily="50" charset="-128"/>
                <a:ea typeface="Meiryo UI" panose="020B0604030504040204" pitchFamily="50" charset="-128"/>
              </a:rPr>
              <a:t>。</a:t>
            </a:r>
          </a:p>
          <a:p>
            <a:endParaRPr sz="2000" dirty="0">
              <a:latin typeface="Meiryo UI" panose="020B0604030504040204" pitchFamily="50" charset="-128"/>
              <a:ea typeface="Meiryo UI" panose="020B0604030504040204" pitchFamily="50" charset="-128"/>
            </a:endParaRPr>
          </a:p>
          <a:p>
            <a:r>
              <a:rPr lang="en-US" altLang="ja-JP" sz="2000" dirty="0" err="1"/>
              <a:t>Setelah</a:t>
            </a:r>
            <a:r>
              <a:rPr lang="en-US" altLang="ja-JP" sz="2000" dirty="0"/>
              <a:t> proses </a:t>
            </a:r>
            <a:r>
              <a:rPr lang="en-US" altLang="ja-JP" sz="2000" dirty="0" err="1"/>
              <a:t>pengunduhan</a:t>
            </a:r>
            <a:r>
              <a:rPr lang="en-US" altLang="ja-JP" sz="2000" dirty="0"/>
              <a:t> </a:t>
            </a:r>
            <a:r>
              <a:rPr lang="en-US" altLang="ja-JP" sz="2000" dirty="0" err="1"/>
              <a:t>selesai</a:t>
            </a:r>
            <a:r>
              <a:rPr lang="en-US" altLang="ja-JP" sz="2000" dirty="0"/>
              <a:t>, </a:t>
            </a:r>
            <a:r>
              <a:rPr lang="en-US" altLang="ja-JP" sz="2000" dirty="0" err="1"/>
              <a:t>ketuk</a:t>
            </a:r>
            <a:r>
              <a:rPr lang="en-US" altLang="ja-JP" sz="2000" dirty="0"/>
              <a:t> </a:t>
            </a:r>
            <a:r>
              <a:rPr lang="en-US" altLang="ja-JP" sz="2000" dirty="0" err="1"/>
              <a:t>ikon</a:t>
            </a:r>
            <a:r>
              <a:rPr lang="en-US" altLang="ja-JP" sz="2000" dirty="0"/>
              <a:t> </a:t>
            </a:r>
            <a:r>
              <a:rPr lang="en-US" altLang="ja-JP" sz="2000" dirty="0" err="1"/>
              <a:t>aplikasi</a:t>
            </a:r>
            <a:r>
              <a:rPr lang="en-US" altLang="ja-JP" sz="2000" dirty="0"/>
              <a:t> </a:t>
            </a:r>
            <a:r>
              <a:rPr lang="en-US" altLang="ja-JP" sz="2000" dirty="0" err="1"/>
              <a:t>untuk</a:t>
            </a:r>
            <a:r>
              <a:rPr lang="en-US" altLang="ja-JP" sz="2000" dirty="0"/>
              <a:t> </a:t>
            </a:r>
            <a:r>
              <a:rPr lang="en-US" altLang="ja-JP" sz="2000" dirty="0" err="1"/>
              <a:t>membukanya</a:t>
            </a:r>
            <a:r>
              <a:rPr lang="en-US" altLang="ja-JP" sz="2000" dirty="0" smtClean="0"/>
              <a:t>.</a:t>
            </a:r>
          </a:p>
          <a:p>
            <a:r>
              <a:rPr lang="fi-FI" altLang="ja-JP" sz="2000" dirty="0"/>
              <a:t>Saat pertama kali dibuka, akan muncul layar "Selamat Datang".</a:t>
            </a:r>
            <a:endParaRPr sz="200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4" name="TextBox 1"/>
          <p:cNvSpPr txBox="1"/>
          <p:nvPr/>
        </p:nvSpPr>
        <p:spPr>
          <a:xfrm>
            <a:off x="457200" y="3304887"/>
            <a:ext cx="5549724" cy="861774"/>
          </a:xfrm>
          <a:prstGeom prst="rect">
            <a:avLst/>
          </a:prstGeom>
          <a:noFill/>
        </p:spPr>
        <p:txBody>
          <a:bodyPr wrap="none">
            <a:spAutoFit/>
          </a:bodyPr>
          <a:lstStyle/>
          <a:p>
            <a:endParaRPr dirty="0">
              <a:latin typeface="Meiryo UI" panose="020B0604030504040204" pitchFamily="50" charset="-128"/>
              <a:ea typeface="Meiryo UI" panose="020B0604030504040204" pitchFamily="50" charset="-128"/>
            </a:endParaRPr>
          </a:p>
          <a:p>
            <a:pPr>
              <a:defRPr sz="3200" b="1">
                <a:solidFill>
                  <a:srgbClr val="008000"/>
                </a:solidFill>
              </a:defRPr>
            </a:pPr>
            <a:r>
              <a:rPr dirty="0">
                <a:latin typeface="Meiryo UI" panose="020B0604030504040204" pitchFamily="50" charset="-128"/>
                <a:ea typeface="Meiryo UI" panose="020B0604030504040204" pitchFamily="50" charset="-128"/>
              </a:rPr>
              <a:t>③ </a:t>
            </a:r>
            <a:r>
              <a:rPr dirty="0" err="1" smtClean="0">
                <a:latin typeface="Meiryo UI" panose="020B0604030504040204" pitchFamily="50" charset="-128"/>
                <a:ea typeface="Meiryo UI" panose="020B0604030504040204" pitchFamily="50" charset="-128"/>
              </a:rPr>
              <a:t>地域を選ぶ</a:t>
            </a:r>
            <a:r>
              <a:rPr dirty="0" smtClean="0">
                <a:latin typeface="Meiryo UI" panose="020B0604030504040204" pitchFamily="50" charset="-128"/>
                <a:ea typeface="Meiryo UI" panose="020B0604030504040204" pitchFamily="50" charset="-128"/>
              </a:rPr>
              <a:t> </a:t>
            </a:r>
            <a:r>
              <a:rPr lang="en-US" altLang="ja-JP" dirty="0" smtClean="0">
                <a:latin typeface="Meiryo UI" panose="020B0604030504040204" pitchFamily="50" charset="-128"/>
                <a:ea typeface="Meiryo UI" panose="020B0604030504040204" pitchFamily="50" charset="-128"/>
              </a:rPr>
              <a:t>_</a:t>
            </a:r>
            <a:r>
              <a:rPr lang="en-US" altLang="ja-JP" sz="3200" b="1" dirty="0"/>
              <a:t> </a:t>
            </a:r>
            <a:r>
              <a:rPr lang="en-US" altLang="ja-JP" sz="3200" b="1" dirty="0" err="1"/>
              <a:t>Pilih</a:t>
            </a:r>
            <a:r>
              <a:rPr lang="en-US" altLang="ja-JP" sz="3200" b="1" dirty="0"/>
              <a:t> </a:t>
            </a:r>
            <a:r>
              <a:rPr lang="en-US" altLang="ja-JP" sz="3200" b="1" dirty="0" err="1"/>
              <a:t>wilayah</a:t>
            </a:r>
            <a:endParaRPr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5" name="TextBox 2"/>
          <p:cNvSpPr txBox="1"/>
          <p:nvPr/>
        </p:nvSpPr>
        <p:spPr>
          <a:xfrm>
            <a:off x="1117637" y="4310727"/>
            <a:ext cx="8072723" cy="1754326"/>
          </a:xfrm>
          <a:prstGeom prst="rect">
            <a:avLst/>
          </a:prstGeom>
          <a:noFill/>
        </p:spPr>
        <p:txBody>
          <a:bodyPr wrap="none">
            <a:spAutoFit/>
          </a:bodyPr>
          <a:lstStyle/>
          <a:p>
            <a:r>
              <a:rPr dirty="0">
                <a:latin typeface="Meiryo UI" panose="020B0604030504040204" pitchFamily="50" charset="-128"/>
                <a:ea typeface="Meiryo UI" panose="020B0604030504040204" pitchFamily="50" charset="-128"/>
              </a:rPr>
              <a:t>「</a:t>
            </a:r>
            <a:r>
              <a:rPr dirty="0" err="1">
                <a:latin typeface="Meiryo UI" panose="020B0604030504040204" pitchFamily="50" charset="-128"/>
                <a:ea typeface="Meiryo UI" panose="020B0604030504040204" pitchFamily="50" charset="-128"/>
              </a:rPr>
              <a:t>お住まいの地域を選んでください」と出ます</a:t>
            </a:r>
            <a:r>
              <a:rPr dirty="0">
                <a:latin typeface="Meiryo UI" panose="020B0604030504040204" pitchFamily="50" charset="-128"/>
                <a:ea typeface="Meiryo UI" panose="020B0604030504040204" pitchFamily="50" charset="-128"/>
              </a:rPr>
              <a:t>。</a:t>
            </a:r>
          </a:p>
          <a:p>
            <a:r>
              <a:rPr dirty="0" err="1">
                <a:latin typeface="Meiryo UI" panose="020B0604030504040204" pitchFamily="50" charset="-128"/>
                <a:ea typeface="Meiryo UI" panose="020B0604030504040204" pitchFamily="50" charset="-128"/>
              </a:rPr>
              <a:t>自分の住んでいる市を選びます（例：名古屋市、岡崎市</a:t>
            </a:r>
            <a:r>
              <a:rPr dirty="0">
                <a:latin typeface="Meiryo UI" panose="020B0604030504040204" pitchFamily="50" charset="-128"/>
                <a:ea typeface="Meiryo UI" panose="020B0604030504040204" pitchFamily="50" charset="-128"/>
              </a:rPr>
              <a:t>…）。</a:t>
            </a:r>
          </a:p>
          <a:p>
            <a:r>
              <a:rPr dirty="0">
                <a:latin typeface="Meiryo UI" panose="020B0604030504040204" pitchFamily="50" charset="-128"/>
                <a:ea typeface="Meiryo UI" panose="020B0604030504040204" pitchFamily="50" charset="-128"/>
              </a:rPr>
              <a:t>→ 「</a:t>
            </a:r>
            <a:r>
              <a:rPr dirty="0" err="1">
                <a:latin typeface="Meiryo UI" panose="020B0604030504040204" pitchFamily="50" charset="-128"/>
                <a:ea typeface="Meiryo UI" panose="020B0604030504040204" pitchFamily="50" charset="-128"/>
              </a:rPr>
              <a:t>決定」ボタンを押す</a:t>
            </a:r>
            <a:r>
              <a:rPr dirty="0">
                <a:latin typeface="Meiryo UI" panose="020B0604030504040204" pitchFamily="50" charset="-128"/>
                <a:ea typeface="Meiryo UI" panose="020B0604030504040204" pitchFamily="50" charset="-128"/>
              </a:rPr>
              <a:t>。</a:t>
            </a:r>
          </a:p>
          <a:p>
            <a:endParaRPr dirty="0">
              <a:latin typeface="Meiryo UI" panose="020B0604030504040204" pitchFamily="50" charset="-128"/>
              <a:ea typeface="Meiryo UI" panose="020B0604030504040204" pitchFamily="50" charset="-128"/>
            </a:endParaRPr>
          </a:p>
          <a:p>
            <a:r>
              <a:rPr lang="en-US" altLang="ja-JP" dirty="0" err="1"/>
              <a:t>Pilih</a:t>
            </a:r>
            <a:r>
              <a:rPr lang="en-US" altLang="ja-JP" dirty="0"/>
              <a:t> </a:t>
            </a:r>
            <a:r>
              <a:rPr lang="en-US" altLang="ja-JP" dirty="0" err="1"/>
              <a:t>kota</a:t>
            </a:r>
            <a:r>
              <a:rPr lang="en-US" altLang="ja-JP" dirty="0"/>
              <a:t> </a:t>
            </a:r>
            <a:r>
              <a:rPr lang="en-US" altLang="ja-JP" dirty="0" err="1"/>
              <a:t>tempat</a:t>
            </a:r>
            <a:r>
              <a:rPr lang="en-US" altLang="ja-JP" dirty="0"/>
              <a:t> </a:t>
            </a:r>
            <a:r>
              <a:rPr lang="en-US" altLang="ja-JP" dirty="0" err="1"/>
              <a:t>Anda</a:t>
            </a:r>
            <a:r>
              <a:rPr lang="en-US" altLang="ja-JP" dirty="0"/>
              <a:t> </a:t>
            </a:r>
            <a:r>
              <a:rPr lang="en-US" altLang="ja-JP" dirty="0" err="1"/>
              <a:t>tinggal</a:t>
            </a:r>
            <a:r>
              <a:rPr lang="en-US" altLang="ja-JP" dirty="0"/>
              <a:t> (</a:t>
            </a:r>
            <a:r>
              <a:rPr lang="en-US" altLang="ja-JP" dirty="0" err="1"/>
              <a:t>misalnya</a:t>
            </a:r>
            <a:r>
              <a:rPr lang="en-US" altLang="ja-JP" dirty="0"/>
              <a:t>: Kota Nagoya, Kota Okazaki, </a:t>
            </a:r>
            <a:r>
              <a:rPr lang="en-US" altLang="ja-JP" dirty="0" err="1"/>
              <a:t>dan</a:t>
            </a:r>
            <a:r>
              <a:rPr lang="en-US" altLang="ja-JP" dirty="0"/>
              <a:t> </a:t>
            </a:r>
            <a:r>
              <a:rPr lang="en-US" altLang="ja-JP" dirty="0" err="1"/>
              <a:t>sebagainya</a:t>
            </a:r>
            <a:r>
              <a:rPr lang="en-US" altLang="ja-JP" dirty="0"/>
              <a:t>).</a:t>
            </a:r>
            <a:endParaRPr dirty="0">
              <a:latin typeface="Times New Roman" panose="02020603050405020304" pitchFamily="18" charset="0"/>
              <a:ea typeface="Meiryo UI" panose="020B0604030504040204" pitchFamily="50" charset="-128"/>
              <a:cs typeface="Times New Roman" panose="02020603050405020304" pitchFamily="18" charset="0"/>
            </a:endParaRPr>
          </a:p>
          <a:p>
            <a:r>
              <a:rPr lang="en-US" altLang="ja-JP" dirty="0" err="1"/>
              <a:t>Tekan</a:t>
            </a:r>
            <a:r>
              <a:rPr lang="en-US" altLang="ja-JP" dirty="0"/>
              <a:t> </a:t>
            </a:r>
            <a:r>
              <a:rPr lang="en-US" altLang="ja-JP" dirty="0" err="1"/>
              <a:t>tombol</a:t>
            </a:r>
            <a:r>
              <a:rPr lang="en-US" altLang="ja-JP" dirty="0"/>
              <a:t> "</a:t>
            </a:r>
            <a:r>
              <a:rPr lang="en-US" altLang="ja-JP" dirty="0" err="1"/>
              <a:t>Konfirmasi</a:t>
            </a:r>
            <a:r>
              <a:rPr lang="en-US" altLang="ja-JP" dirty="0"/>
              <a:t>" (</a:t>
            </a:r>
            <a:r>
              <a:rPr lang="ja-JP" altLang="en-US" dirty="0"/>
              <a:t>決定</a:t>
            </a:r>
            <a:r>
              <a:rPr lang="en-US" altLang="ja-JP" dirty="0"/>
              <a:t>).</a:t>
            </a:r>
            <a:endParaRPr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468003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8018" y="648243"/>
            <a:ext cx="7231467" cy="584775"/>
          </a:xfrm>
          <a:prstGeom prst="rect">
            <a:avLst/>
          </a:prstGeom>
          <a:noFill/>
        </p:spPr>
        <p:txBody>
          <a:bodyPr wrap="none">
            <a:spAutoFit/>
          </a:bodyPr>
          <a:lstStyle/>
          <a:p>
            <a:pPr>
              <a:defRPr sz="3200" b="1">
                <a:solidFill>
                  <a:srgbClr val="008000"/>
                </a:solidFill>
              </a:defRPr>
            </a:pPr>
            <a:r>
              <a:rPr sz="3200" dirty="0" smtClean="0">
                <a:latin typeface="Meiryo UI" panose="020B0604030504040204" pitchFamily="50" charset="-128"/>
                <a:ea typeface="Meiryo UI" panose="020B0604030504040204" pitchFamily="50" charset="-128"/>
              </a:rPr>
              <a:t>④ </a:t>
            </a:r>
            <a:r>
              <a:rPr sz="3200" dirty="0" err="1" smtClean="0">
                <a:latin typeface="Meiryo UI" panose="020B0604030504040204" pitchFamily="50" charset="-128"/>
                <a:ea typeface="Meiryo UI" panose="020B0604030504040204" pitchFamily="50" charset="-128"/>
              </a:rPr>
              <a:t>カレンダーを見る</a:t>
            </a:r>
            <a:r>
              <a:rPr sz="3200" dirty="0" smtClean="0">
                <a:latin typeface="Meiryo UI" panose="020B0604030504040204" pitchFamily="50" charset="-128"/>
                <a:ea typeface="Meiryo UI" panose="020B0604030504040204" pitchFamily="50" charset="-128"/>
              </a:rPr>
              <a:t> </a:t>
            </a:r>
            <a:r>
              <a:rPr lang="en-US" altLang="ja-JP" sz="3200" dirty="0" smtClean="0">
                <a:latin typeface="Meiryo UI" panose="020B0604030504040204" pitchFamily="50" charset="-128"/>
                <a:ea typeface="Meiryo UI" panose="020B0604030504040204" pitchFamily="50" charset="-128"/>
              </a:rPr>
              <a:t>_</a:t>
            </a:r>
            <a:r>
              <a:rPr sz="3200" dirty="0" smtClean="0">
                <a:latin typeface="Meiryo UI" panose="020B0604030504040204" pitchFamily="50" charset="-128"/>
                <a:ea typeface="Meiryo UI" panose="020B0604030504040204" pitchFamily="50" charset="-128"/>
              </a:rPr>
              <a:t> </a:t>
            </a:r>
            <a:r>
              <a:rPr lang="en-US" altLang="ja-JP" sz="3200" b="1" dirty="0" err="1"/>
              <a:t>Melihat</a:t>
            </a:r>
            <a:r>
              <a:rPr lang="en-US" altLang="ja-JP" sz="3200" b="1" dirty="0"/>
              <a:t> </a:t>
            </a:r>
            <a:r>
              <a:rPr lang="en-US" altLang="ja-JP" sz="3200" b="1" dirty="0" err="1"/>
              <a:t>kalender</a:t>
            </a:r>
            <a:endParaRPr sz="320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3" name="TextBox 2"/>
          <p:cNvSpPr txBox="1"/>
          <p:nvPr/>
        </p:nvSpPr>
        <p:spPr>
          <a:xfrm>
            <a:off x="348018" y="1233018"/>
            <a:ext cx="8901860" cy="1938992"/>
          </a:xfrm>
          <a:prstGeom prst="rect">
            <a:avLst/>
          </a:prstGeom>
          <a:noFill/>
        </p:spPr>
        <p:txBody>
          <a:bodyPr wrap="none">
            <a:spAutoFit/>
          </a:bodyPr>
          <a:lstStyle/>
          <a:p>
            <a:r>
              <a:rPr sz="2000" dirty="0" err="1">
                <a:latin typeface="Meiryo UI" panose="020B0604030504040204" pitchFamily="50" charset="-128"/>
                <a:ea typeface="Meiryo UI" panose="020B0604030504040204" pitchFamily="50" charset="-128"/>
              </a:rPr>
              <a:t>選んだ地域のごみカレンダーが表示されます</a:t>
            </a:r>
            <a:r>
              <a:rPr sz="2000" dirty="0" smtClean="0">
                <a:latin typeface="Meiryo UI" panose="020B0604030504040204" pitchFamily="50" charset="-128"/>
                <a:ea typeface="Meiryo UI" panose="020B0604030504040204" pitchFamily="50" charset="-128"/>
              </a:rPr>
              <a:t>。</a:t>
            </a:r>
            <a:endParaRPr lang="en-US" sz="2000" dirty="0" smtClean="0">
              <a:latin typeface="Meiryo UI" panose="020B0604030504040204" pitchFamily="50" charset="-128"/>
              <a:ea typeface="Meiryo UI" panose="020B0604030504040204" pitchFamily="50" charset="-128"/>
            </a:endParaRPr>
          </a:p>
          <a:p>
            <a:r>
              <a:rPr lang="en-US" altLang="ja-JP" sz="2000" dirty="0" err="1"/>
              <a:t>Kalender</a:t>
            </a:r>
            <a:r>
              <a:rPr lang="en-US" altLang="ja-JP" sz="2000" dirty="0"/>
              <a:t> </a:t>
            </a:r>
            <a:r>
              <a:rPr lang="en-US" altLang="ja-JP" sz="2000" dirty="0" err="1"/>
              <a:t>pengumpulan</a:t>
            </a:r>
            <a:r>
              <a:rPr lang="en-US" altLang="ja-JP" sz="2000" dirty="0"/>
              <a:t> </a:t>
            </a:r>
            <a:r>
              <a:rPr lang="en-US" altLang="ja-JP" sz="2000" dirty="0" err="1"/>
              <a:t>sampah</a:t>
            </a:r>
            <a:r>
              <a:rPr lang="en-US" altLang="ja-JP" sz="2000" dirty="0"/>
              <a:t> </a:t>
            </a:r>
            <a:r>
              <a:rPr lang="en-US" altLang="ja-JP" sz="2000" dirty="0" err="1"/>
              <a:t>sesuai</a:t>
            </a:r>
            <a:r>
              <a:rPr lang="en-US" altLang="ja-JP" sz="2000" dirty="0"/>
              <a:t> </a:t>
            </a:r>
            <a:r>
              <a:rPr lang="en-US" altLang="ja-JP" sz="2000" dirty="0" err="1"/>
              <a:t>dengan</a:t>
            </a:r>
            <a:r>
              <a:rPr lang="en-US" altLang="ja-JP" sz="2000" dirty="0"/>
              <a:t> </a:t>
            </a:r>
            <a:r>
              <a:rPr lang="en-US" altLang="ja-JP" sz="2000" dirty="0" err="1"/>
              <a:t>wilayah</a:t>
            </a:r>
            <a:r>
              <a:rPr lang="en-US" altLang="ja-JP" sz="2000" dirty="0"/>
              <a:t> yang </a:t>
            </a:r>
            <a:r>
              <a:rPr lang="en-US" altLang="ja-JP" sz="2000" dirty="0" err="1"/>
              <a:t>telah</a:t>
            </a:r>
            <a:r>
              <a:rPr lang="en-US" altLang="ja-JP" sz="2000" dirty="0"/>
              <a:t> </a:t>
            </a:r>
            <a:r>
              <a:rPr lang="en-US" altLang="ja-JP" sz="2000" dirty="0" err="1"/>
              <a:t>dipilih</a:t>
            </a:r>
            <a:r>
              <a:rPr lang="en-US" altLang="ja-JP" sz="2000" dirty="0"/>
              <a:t> </a:t>
            </a:r>
            <a:r>
              <a:rPr lang="en-US" altLang="ja-JP" sz="2000" dirty="0" err="1"/>
              <a:t>akan</a:t>
            </a:r>
            <a:r>
              <a:rPr lang="en-US" altLang="ja-JP" sz="2000" dirty="0"/>
              <a:t> </a:t>
            </a:r>
            <a:r>
              <a:rPr lang="en-US" altLang="ja-JP" sz="2000" dirty="0" err="1"/>
              <a:t>muncul</a:t>
            </a:r>
            <a:r>
              <a:rPr lang="en-US" altLang="ja-JP" sz="2000" dirty="0"/>
              <a:t>.</a:t>
            </a:r>
            <a:endParaRPr sz="2000" dirty="0">
              <a:latin typeface="Meiryo UI" panose="020B0604030504040204" pitchFamily="50" charset="-128"/>
              <a:ea typeface="Meiryo UI" panose="020B0604030504040204" pitchFamily="50" charset="-128"/>
            </a:endParaRPr>
          </a:p>
          <a:p>
            <a:r>
              <a:rPr sz="2000" dirty="0" smtClean="0">
                <a:latin typeface="Meiryo UI" panose="020B0604030504040204" pitchFamily="50" charset="-128"/>
                <a:ea typeface="Meiryo UI" panose="020B0604030504040204" pitchFamily="50" charset="-128"/>
              </a:rPr>
              <a:t> </a:t>
            </a:r>
            <a:r>
              <a:rPr lang="ja-JP" altLang="en-US" sz="2000" dirty="0">
                <a:latin typeface="Meiryo UI" panose="020B0604030504040204" pitchFamily="50" charset="-128"/>
                <a:ea typeface="Meiryo UI" panose="020B0604030504040204" pitchFamily="50" charset="-128"/>
              </a:rPr>
              <a:t>・</a:t>
            </a:r>
            <a:r>
              <a:rPr sz="2000" dirty="0" err="1" smtClean="0">
                <a:latin typeface="Meiryo UI" panose="020B0604030504040204" pitchFamily="50" charset="-128"/>
                <a:ea typeface="Meiryo UI" panose="020B0604030504040204" pitchFamily="50" charset="-128"/>
              </a:rPr>
              <a:t>燃えるごみ</a:t>
            </a:r>
            <a:r>
              <a:rPr sz="2000" dirty="0" smtClean="0">
                <a:latin typeface="Meiryo UI" panose="020B0604030504040204" pitchFamily="50" charset="-128"/>
                <a:ea typeface="Meiryo UI" panose="020B0604030504040204" pitchFamily="50" charset="-128"/>
              </a:rPr>
              <a:t> </a:t>
            </a:r>
            <a:r>
              <a:rPr sz="2000" dirty="0">
                <a:latin typeface="Meiryo UI" panose="020B0604030504040204" pitchFamily="50" charset="-128"/>
                <a:ea typeface="Meiryo UI" panose="020B0604030504040204" pitchFamily="50" charset="-128"/>
              </a:rPr>
              <a:t>= </a:t>
            </a:r>
            <a:r>
              <a:rPr lang="en-US" altLang="ja-JP" sz="2000" dirty="0" err="1"/>
              <a:t>Sampah</a:t>
            </a:r>
            <a:r>
              <a:rPr lang="en-US" altLang="ja-JP" sz="2000" dirty="0"/>
              <a:t> yang </a:t>
            </a:r>
            <a:r>
              <a:rPr lang="en-US" altLang="ja-JP" sz="2000" dirty="0" err="1"/>
              <a:t>dapat</a:t>
            </a:r>
            <a:r>
              <a:rPr lang="en-US" altLang="ja-JP" sz="2000" dirty="0"/>
              <a:t> </a:t>
            </a:r>
            <a:r>
              <a:rPr lang="en-US" altLang="ja-JP" sz="2000" dirty="0" err="1" smtClean="0"/>
              <a:t>dibakar</a:t>
            </a:r>
            <a:endParaRPr lang="en-US" altLang="ja-JP" sz="2000" dirty="0" smtClean="0"/>
          </a:p>
          <a:p>
            <a:r>
              <a:rPr lang="en-US" sz="2000" dirty="0" smtClean="0">
                <a:latin typeface="Meiryo UI" panose="020B0604030504040204" pitchFamily="50" charset="-128"/>
                <a:ea typeface="Meiryo UI" panose="020B0604030504040204" pitchFamily="50" charset="-128"/>
              </a:rPr>
              <a:t> </a:t>
            </a:r>
            <a:r>
              <a:rPr lang="ja-JP" altLang="en-US" sz="2000" dirty="0" smtClean="0">
                <a:latin typeface="Meiryo UI" panose="020B0604030504040204" pitchFamily="50" charset="-128"/>
                <a:ea typeface="Meiryo UI" panose="020B0604030504040204" pitchFamily="50" charset="-128"/>
              </a:rPr>
              <a:t>・</a:t>
            </a:r>
            <a:r>
              <a:rPr sz="2000" dirty="0" err="1" smtClean="0">
                <a:latin typeface="Meiryo UI" panose="020B0604030504040204" pitchFamily="50" charset="-128"/>
                <a:ea typeface="Meiryo UI" panose="020B0604030504040204" pitchFamily="50" charset="-128"/>
              </a:rPr>
              <a:t>資源ごみ</a:t>
            </a:r>
            <a:r>
              <a:rPr sz="2000" dirty="0" smtClean="0">
                <a:latin typeface="Meiryo UI" panose="020B0604030504040204" pitchFamily="50" charset="-128"/>
                <a:ea typeface="Meiryo UI" panose="020B0604030504040204" pitchFamily="50" charset="-128"/>
              </a:rPr>
              <a:t> </a:t>
            </a:r>
            <a:r>
              <a:rPr sz="2000" dirty="0">
                <a:latin typeface="Meiryo UI" panose="020B0604030504040204" pitchFamily="50" charset="-128"/>
                <a:ea typeface="Meiryo UI" panose="020B0604030504040204" pitchFamily="50" charset="-128"/>
              </a:rPr>
              <a:t>= </a:t>
            </a:r>
            <a:r>
              <a:rPr lang="en-US" altLang="ja-JP" sz="2000" dirty="0" err="1"/>
              <a:t>Sampah</a:t>
            </a:r>
            <a:r>
              <a:rPr lang="en-US" altLang="ja-JP" sz="2000" dirty="0"/>
              <a:t> yang </a:t>
            </a:r>
            <a:r>
              <a:rPr lang="en-US" altLang="ja-JP" sz="2000" dirty="0" err="1"/>
              <a:t>dapat</a:t>
            </a:r>
            <a:r>
              <a:rPr lang="en-US" altLang="ja-JP" sz="2000" dirty="0"/>
              <a:t> </a:t>
            </a:r>
            <a:r>
              <a:rPr lang="en-US" altLang="ja-JP" sz="2000" dirty="0" err="1"/>
              <a:t>didaur</a:t>
            </a:r>
            <a:r>
              <a:rPr lang="en-US" altLang="ja-JP" sz="2000" dirty="0"/>
              <a:t> </a:t>
            </a:r>
            <a:r>
              <a:rPr lang="en-US" altLang="ja-JP" sz="2000" dirty="0" err="1" smtClean="0"/>
              <a:t>ulang</a:t>
            </a:r>
            <a:endParaRPr lang="en-US" altLang="ja-JP" sz="2000" dirty="0" smtClean="0"/>
          </a:p>
          <a:p>
            <a:r>
              <a:rPr lang="en-US" sz="2000" dirty="0" smtClean="0">
                <a:latin typeface="Meiryo UI" panose="020B0604030504040204" pitchFamily="50" charset="-128"/>
                <a:ea typeface="Meiryo UI" panose="020B0604030504040204" pitchFamily="50" charset="-128"/>
              </a:rPr>
              <a:t> </a:t>
            </a:r>
            <a:r>
              <a:rPr lang="ja-JP" altLang="en-US" sz="2000" dirty="0" smtClean="0">
                <a:latin typeface="Meiryo UI" panose="020B0604030504040204" pitchFamily="50" charset="-128"/>
                <a:ea typeface="Meiryo UI" panose="020B0604030504040204" pitchFamily="50" charset="-128"/>
              </a:rPr>
              <a:t>・</a:t>
            </a:r>
            <a:r>
              <a:rPr sz="2000" dirty="0" err="1" smtClean="0">
                <a:latin typeface="Meiryo UI" panose="020B0604030504040204" pitchFamily="50" charset="-128"/>
                <a:ea typeface="Meiryo UI" panose="020B0604030504040204" pitchFamily="50" charset="-128"/>
              </a:rPr>
              <a:t>燃えないごみ</a:t>
            </a:r>
            <a:r>
              <a:rPr sz="2000" dirty="0" smtClean="0">
                <a:latin typeface="Meiryo UI" panose="020B0604030504040204" pitchFamily="50" charset="-128"/>
                <a:ea typeface="Meiryo UI" panose="020B0604030504040204" pitchFamily="50" charset="-128"/>
              </a:rPr>
              <a:t> </a:t>
            </a:r>
            <a:r>
              <a:rPr sz="2000" dirty="0">
                <a:latin typeface="Meiryo UI" panose="020B0604030504040204" pitchFamily="50" charset="-128"/>
                <a:ea typeface="Meiryo UI" panose="020B0604030504040204" pitchFamily="50" charset="-128"/>
              </a:rPr>
              <a:t>= </a:t>
            </a:r>
            <a:r>
              <a:rPr lang="sv-SE" altLang="ja-JP" sz="2000" dirty="0"/>
              <a:t>Sampah yang tidak dapat dibakar</a:t>
            </a:r>
            <a:endParaRPr sz="2000" dirty="0">
              <a:latin typeface="Meiryo UI" panose="020B0604030504040204" pitchFamily="50" charset="-128"/>
              <a:ea typeface="Meiryo UI" panose="020B0604030504040204" pitchFamily="50" charset="-128"/>
            </a:endParaRPr>
          </a:p>
          <a:p>
            <a:endParaRPr sz="200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4" name="TextBox 1"/>
          <p:cNvSpPr txBox="1"/>
          <p:nvPr/>
        </p:nvSpPr>
        <p:spPr>
          <a:xfrm>
            <a:off x="348018" y="3082748"/>
            <a:ext cx="8156400" cy="584775"/>
          </a:xfrm>
          <a:prstGeom prst="rect">
            <a:avLst/>
          </a:prstGeom>
          <a:noFill/>
        </p:spPr>
        <p:txBody>
          <a:bodyPr wrap="none">
            <a:spAutoFit/>
          </a:bodyPr>
          <a:lstStyle/>
          <a:p>
            <a:pPr>
              <a:defRPr sz="3200" b="1">
                <a:solidFill>
                  <a:srgbClr val="008000"/>
                </a:solidFill>
              </a:defRPr>
            </a:pPr>
            <a:r>
              <a:rPr sz="3200" dirty="0" smtClean="0">
                <a:latin typeface="Meiryo UI" panose="020B0604030504040204" pitchFamily="50" charset="-128"/>
                <a:ea typeface="Meiryo UI" panose="020B0604030504040204" pitchFamily="50" charset="-128"/>
              </a:rPr>
              <a:t>⑤ </a:t>
            </a:r>
            <a:r>
              <a:rPr sz="3200" dirty="0">
                <a:latin typeface="Meiryo UI" panose="020B0604030504040204" pitchFamily="50" charset="-128"/>
                <a:ea typeface="Meiryo UI" panose="020B0604030504040204" pitchFamily="50" charset="-128"/>
              </a:rPr>
              <a:t>🔔 </a:t>
            </a:r>
            <a:r>
              <a:rPr sz="3200" dirty="0" err="1">
                <a:latin typeface="Meiryo UI" panose="020B0604030504040204" pitchFamily="50" charset="-128"/>
                <a:ea typeface="Meiryo UI" panose="020B0604030504040204" pitchFamily="50" charset="-128"/>
              </a:rPr>
              <a:t>通知を設定する</a:t>
            </a:r>
            <a:r>
              <a:rPr sz="3200" dirty="0">
                <a:latin typeface="Meiryo UI" panose="020B0604030504040204" pitchFamily="50" charset="-128"/>
                <a:ea typeface="Meiryo UI" panose="020B0604030504040204" pitchFamily="50" charset="-128"/>
              </a:rPr>
              <a:t> </a:t>
            </a:r>
            <a:r>
              <a:rPr lang="en-US" altLang="ja-JP" sz="3200" dirty="0" smtClean="0">
                <a:latin typeface="Meiryo UI" panose="020B0604030504040204" pitchFamily="50" charset="-128"/>
                <a:ea typeface="Meiryo UI" panose="020B0604030504040204" pitchFamily="50" charset="-128"/>
              </a:rPr>
              <a:t>_</a:t>
            </a:r>
            <a:r>
              <a:rPr lang="en-US" altLang="ja-JP" sz="3200" b="1" dirty="0"/>
              <a:t> </a:t>
            </a:r>
            <a:r>
              <a:rPr lang="en-US" altLang="ja-JP" sz="3200" b="1" dirty="0" err="1"/>
              <a:t>Mengatur</a:t>
            </a:r>
            <a:r>
              <a:rPr lang="en-US" altLang="ja-JP" sz="3200" b="1" dirty="0"/>
              <a:t> </a:t>
            </a:r>
            <a:r>
              <a:rPr lang="en-US" altLang="ja-JP" sz="3200" b="1" dirty="0" err="1"/>
              <a:t>notifikasi</a:t>
            </a:r>
            <a:endParaRPr sz="3200" dirty="0">
              <a:latin typeface="Times New Roman" panose="02020603050405020304" pitchFamily="18" charset="0"/>
              <a:ea typeface="Meiryo UI" panose="020B0604030504040204" pitchFamily="50" charset="-128"/>
              <a:cs typeface="Times New Roman" panose="02020603050405020304" pitchFamily="18" charset="0"/>
            </a:endParaRPr>
          </a:p>
        </p:txBody>
      </p:sp>
      <p:sp>
        <p:nvSpPr>
          <p:cNvPr id="5" name="TextBox 2"/>
          <p:cNvSpPr txBox="1"/>
          <p:nvPr/>
        </p:nvSpPr>
        <p:spPr>
          <a:xfrm>
            <a:off x="469783" y="3886037"/>
            <a:ext cx="7435754" cy="1938992"/>
          </a:xfrm>
          <a:prstGeom prst="rect">
            <a:avLst/>
          </a:prstGeom>
          <a:noFill/>
        </p:spPr>
        <p:txBody>
          <a:bodyPr wrap="none">
            <a:spAutoFit/>
          </a:bodyPr>
          <a:lstStyle/>
          <a:p>
            <a:r>
              <a:rPr sz="2000" dirty="0">
                <a:latin typeface="Meiryo UI" panose="020B0604030504040204" pitchFamily="50" charset="-128"/>
                <a:ea typeface="Meiryo UI" panose="020B0604030504040204" pitchFamily="50" charset="-128"/>
              </a:rPr>
              <a:t>「</a:t>
            </a:r>
            <a:r>
              <a:rPr sz="2000" dirty="0" err="1">
                <a:latin typeface="Meiryo UI" panose="020B0604030504040204" pitchFamily="50" charset="-128"/>
                <a:ea typeface="Meiryo UI" panose="020B0604030504040204" pitchFamily="50" charset="-128"/>
              </a:rPr>
              <a:t>設定</a:t>
            </a:r>
            <a:r>
              <a:rPr sz="2000" dirty="0">
                <a:latin typeface="Meiryo UI" panose="020B0604030504040204" pitchFamily="50" charset="-128"/>
                <a:ea typeface="Meiryo UI" panose="020B0604030504040204" pitchFamily="50" charset="-128"/>
              </a:rPr>
              <a:t>」→「</a:t>
            </a:r>
            <a:r>
              <a:rPr sz="2000" dirty="0" err="1">
                <a:latin typeface="Meiryo UI" panose="020B0604030504040204" pitchFamily="50" charset="-128"/>
                <a:ea typeface="Meiryo UI" panose="020B0604030504040204" pitchFamily="50" charset="-128"/>
              </a:rPr>
              <a:t>通知」をONにすると、毎朝お知らせが来ます</a:t>
            </a:r>
            <a:r>
              <a:rPr sz="2000" dirty="0">
                <a:latin typeface="Meiryo UI" panose="020B0604030504040204" pitchFamily="50" charset="-128"/>
                <a:ea typeface="Meiryo UI" panose="020B0604030504040204" pitchFamily="50" charset="-128"/>
              </a:rPr>
              <a:t>。</a:t>
            </a:r>
          </a:p>
          <a:p>
            <a:r>
              <a:rPr sz="2000" dirty="0">
                <a:latin typeface="Meiryo UI" panose="020B0604030504040204" pitchFamily="50" charset="-128"/>
                <a:ea typeface="Meiryo UI" panose="020B0604030504040204" pitchFamily="50" charset="-128"/>
              </a:rPr>
              <a:t>例：「</a:t>
            </a:r>
            <a:r>
              <a:rPr sz="2000" dirty="0" err="1">
                <a:latin typeface="Meiryo UI" panose="020B0604030504040204" pitchFamily="50" charset="-128"/>
                <a:ea typeface="Meiryo UI" panose="020B0604030504040204" pitchFamily="50" charset="-128"/>
              </a:rPr>
              <a:t>今日は燃えるごみの日です</a:t>
            </a:r>
            <a:r>
              <a:rPr sz="2000" dirty="0">
                <a:latin typeface="Meiryo UI" panose="020B0604030504040204" pitchFamily="50" charset="-128"/>
                <a:ea typeface="Meiryo UI" panose="020B0604030504040204" pitchFamily="50" charset="-128"/>
              </a:rPr>
              <a:t>」</a:t>
            </a:r>
          </a:p>
          <a:p>
            <a:endParaRPr sz="2000" dirty="0">
              <a:latin typeface="Meiryo UI" panose="020B0604030504040204" pitchFamily="50" charset="-128"/>
              <a:ea typeface="Meiryo UI" panose="020B0604030504040204" pitchFamily="50" charset="-128"/>
            </a:endParaRPr>
          </a:p>
          <a:p>
            <a:r>
              <a:rPr sz="2000" dirty="0">
                <a:latin typeface="Meiryo UI" panose="020B0604030504040204" pitchFamily="50" charset="-128"/>
                <a:ea typeface="Meiryo UI" panose="020B0604030504040204" pitchFamily="50" charset="-128"/>
              </a:rPr>
              <a:t>👉 </a:t>
            </a:r>
            <a:r>
              <a:rPr lang="en-US" altLang="ja-JP" sz="2000" dirty="0" err="1"/>
              <a:t>Jika</a:t>
            </a:r>
            <a:r>
              <a:rPr lang="en-US" altLang="ja-JP" sz="2000" dirty="0"/>
              <a:t> </a:t>
            </a:r>
            <a:r>
              <a:rPr lang="en-US" altLang="ja-JP" sz="2000" dirty="0" err="1"/>
              <a:t>Anda</a:t>
            </a:r>
            <a:r>
              <a:rPr lang="en-US" altLang="ja-JP" sz="2000" dirty="0"/>
              <a:t> </a:t>
            </a:r>
            <a:r>
              <a:rPr lang="en-US" altLang="ja-JP" sz="2000" dirty="0" err="1"/>
              <a:t>mengaktifkan</a:t>
            </a:r>
            <a:r>
              <a:rPr lang="en-US" altLang="ja-JP" sz="2000" dirty="0"/>
              <a:t> "</a:t>
            </a:r>
            <a:r>
              <a:rPr lang="en-US" altLang="ja-JP" sz="2000" dirty="0" err="1"/>
              <a:t>Pengaturan</a:t>
            </a:r>
            <a:r>
              <a:rPr lang="en-US" altLang="ja-JP" sz="2000" dirty="0"/>
              <a:t>" → "</a:t>
            </a:r>
            <a:r>
              <a:rPr lang="en-US" altLang="ja-JP" sz="2000" dirty="0" err="1"/>
              <a:t>Notifikasi</a:t>
            </a:r>
            <a:r>
              <a:rPr lang="en-US" altLang="ja-JP" sz="2000" dirty="0"/>
              <a:t>", </a:t>
            </a:r>
            <a:endParaRPr lang="en-US" altLang="ja-JP" sz="2000" dirty="0" smtClean="0"/>
          </a:p>
          <a:p>
            <a:r>
              <a:rPr lang="en-US" altLang="ja-JP" sz="2000" dirty="0" err="1" smtClean="0"/>
              <a:t>Anda</a:t>
            </a:r>
            <a:r>
              <a:rPr lang="en-US" altLang="ja-JP" sz="2000" dirty="0" smtClean="0"/>
              <a:t> </a:t>
            </a:r>
            <a:r>
              <a:rPr lang="en-US" altLang="ja-JP" sz="2000" dirty="0" err="1"/>
              <a:t>akan</a:t>
            </a:r>
            <a:r>
              <a:rPr lang="en-US" altLang="ja-JP" sz="2000" dirty="0"/>
              <a:t> </a:t>
            </a:r>
            <a:r>
              <a:rPr lang="en-US" altLang="ja-JP" sz="2000" dirty="0" err="1"/>
              <a:t>menerima</a:t>
            </a:r>
            <a:r>
              <a:rPr lang="en-US" altLang="ja-JP" sz="2000" dirty="0"/>
              <a:t> </a:t>
            </a:r>
            <a:r>
              <a:rPr lang="en-US" altLang="ja-JP" sz="2000" dirty="0" err="1"/>
              <a:t>pemberitahuan</a:t>
            </a:r>
            <a:r>
              <a:rPr lang="en-US" altLang="ja-JP" sz="2000" dirty="0"/>
              <a:t> </a:t>
            </a:r>
            <a:r>
              <a:rPr lang="en-US" altLang="ja-JP" sz="2000" dirty="0" err="1"/>
              <a:t>setiap</a:t>
            </a:r>
            <a:r>
              <a:rPr lang="en-US" altLang="ja-JP" sz="2000" dirty="0"/>
              <a:t> </a:t>
            </a:r>
            <a:r>
              <a:rPr lang="en-US" altLang="ja-JP" sz="2000" dirty="0" err="1"/>
              <a:t>pagi</a:t>
            </a:r>
            <a:r>
              <a:rPr lang="en-US" altLang="ja-JP" sz="2000" dirty="0" smtClean="0"/>
              <a:t>.</a:t>
            </a:r>
          </a:p>
          <a:p>
            <a:r>
              <a:rPr lang="en-US" altLang="ja-JP" sz="2000" dirty="0" err="1"/>
              <a:t>Contoh</a:t>
            </a:r>
            <a:r>
              <a:rPr lang="en-US" altLang="ja-JP" sz="2000" dirty="0"/>
              <a:t>: "Hari </a:t>
            </a:r>
            <a:r>
              <a:rPr lang="en-US" altLang="ja-JP" sz="2000" dirty="0" err="1"/>
              <a:t>ini</a:t>
            </a:r>
            <a:r>
              <a:rPr lang="en-US" altLang="ja-JP" sz="2000" dirty="0"/>
              <a:t> </a:t>
            </a:r>
            <a:r>
              <a:rPr lang="en-US" altLang="ja-JP" sz="2000" dirty="0" err="1"/>
              <a:t>adalah</a:t>
            </a:r>
            <a:r>
              <a:rPr lang="en-US" altLang="ja-JP" sz="2000" dirty="0"/>
              <a:t> </a:t>
            </a:r>
            <a:r>
              <a:rPr lang="en-US" altLang="ja-JP" sz="2000" dirty="0" err="1"/>
              <a:t>hari</a:t>
            </a:r>
            <a:r>
              <a:rPr lang="en-US" altLang="ja-JP" sz="2000" dirty="0"/>
              <a:t> </a:t>
            </a:r>
            <a:r>
              <a:rPr lang="en-US" altLang="ja-JP" sz="2000" dirty="0" err="1"/>
              <a:t>pembuangan</a:t>
            </a:r>
            <a:r>
              <a:rPr lang="en-US" altLang="ja-JP" sz="2000" dirty="0"/>
              <a:t> </a:t>
            </a:r>
            <a:r>
              <a:rPr lang="en-US" altLang="ja-JP" sz="2000" dirty="0" err="1"/>
              <a:t>sampah</a:t>
            </a:r>
            <a:r>
              <a:rPr lang="en-US" altLang="ja-JP" sz="2000" dirty="0"/>
              <a:t> yang </a:t>
            </a:r>
            <a:r>
              <a:rPr lang="en-US" altLang="ja-JP" sz="2000" dirty="0" err="1"/>
              <a:t>dapat</a:t>
            </a:r>
            <a:r>
              <a:rPr lang="en-US" altLang="ja-JP" sz="2000" dirty="0"/>
              <a:t> </a:t>
            </a:r>
            <a:r>
              <a:rPr lang="en-US" altLang="ja-JP" sz="2000" dirty="0" err="1"/>
              <a:t>dibakar</a:t>
            </a:r>
            <a:r>
              <a:rPr lang="en-US" altLang="ja-JP" sz="2000" dirty="0"/>
              <a:t>."</a:t>
            </a:r>
            <a:endParaRPr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854389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586268" y="1066800"/>
            <a:ext cx="5166832" cy="40005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1200" b="1" dirty="0" smtClean="0">
                <a:solidFill>
                  <a:schemeClr val="tx1"/>
                </a:solidFill>
                <a:latin typeface="Meiryo UI" panose="020B0604030504040204" pitchFamily="50" charset="-128"/>
                <a:ea typeface="Meiryo UI" panose="020B0604030504040204" pitchFamily="50" charset="-128"/>
              </a:rPr>
              <a:t>注意事項：</a:t>
            </a:r>
            <a:endParaRPr lang="en-US" altLang="ja-JP" sz="1200" b="1" dirty="0" smtClean="0">
              <a:solidFill>
                <a:schemeClr val="tx1"/>
              </a:solidFill>
              <a:latin typeface="Meiryo UI" panose="020B0604030504040204" pitchFamily="50" charset="-128"/>
              <a:ea typeface="Meiryo UI" panose="020B0604030504040204" pitchFamily="50" charset="-128"/>
            </a:endParaRPr>
          </a:p>
          <a:p>
            <a:pPr>
              <a:lnSpc>
                <a:spcPct val="150000"/>
              </a:lnSpc>
            </a:pPr>
            <a:r>
              <a:rPr lang="ja-JP" altLang="en-US" sz="1200" dirty="0" smtClean="0">
                <a:solidFill>
                  <a:schemeClr val="tx1"/>
                </a:solidFill>
                <a:latin typeface="Meiryo UI" panose="020B0604030504040204" pitchFamily="50" charset="-128"/>
                <a:ea typeface="Meiryo UI" panose="020B0604030504040204" pitchFamily="50" charset="-128"/>
              </a:rPr>
              <a:t>日本</a:t>
            </a:r>
            <a:r>
              <a:rPr lang="ja-JP" altLang="en-US" sz="1200" dirty="0">
                <a:solidFill>
                  <a:schemeClr val="tx1"/>
                </a:solidFill>
                <a:latin typeface="Meiryo UI" panose="020B0604030504040204" pitchFamily="50" charset="-128"/>
                <a:ea typeface="Meiryo UI" panose="020B0604030504040204" pitchFamily="50" charset="-128"/>
              </a:rPr>
              <a:t>でのごみの分別・ごみ出しに関する指導について、これまでの実習生において、以下のような事例が発生しております。</a:t>
            </a:r>
          </a:p>
          <a:p>
            <a:pPr>
              <a:lnSpc>
                <a:spcPct val="150000"/>
              </a:lnSpc>
            </a:pPr>
            <a:r>
              <a:rPr lang="ja-JP" altLang="en-US" sz="1200" dirty="0">
                <a:solidFill>
                  <a:schemeClr val="tx1"/>
                </a:solidFill>
                <a:latin typeface="Meiryo UI" panose="020B0604030504040204" pitchFamily="50" charset="-128"/>
                <a:ea typeface="Meiryo UI" panose="020B0604030504040204" pitchFamily="50" charset="-128"/>
              </a:rPr>
              <a:t>・自治体のルールに従わず、ごみを正しく分別しなかった。</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・決められた収集日や時間を守らずにごみを出した。</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・廊下や共有スペース、居室内にごみを放置した。</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・生活ごみを適切に処理せず、室内や周辺環境の衛生状態を悪化させた。</a:t>
            </a:r>
          </a:p>
          <a:p>
            <a:pPr>
              <a:lnSpc>
                <a:spcPct val="150000"/>
              </a:lnSpc>
            </a:pPr>
            <a:r>
              <a:rPr lang="ja-JP" altLang="en-US" sz="1200" dirty="0">
                <a:solidFill>
                  <a:schemeClr val="tx1"/>
                </a:solidFill>
                <a:latin typeface="Meiryo UI" panose="020B0604030504040204" pitchFamily="50" charset="-128"/>
                <a:ea typeface="Meiryo UI" panose="020B0604030504040204" pitchFamily="50" charset="-128"/>
              </a:rPr>
              <a:t>このような行為により、以下のような問題が発生する可能性があります。</a:t>
            </a:r>
          </a:p>
          <a:p>
            <a:pPr>
              <a:lnSpc>
                <a:spcPct val="150000"/>
              </a:lnSpc>
            </a:pPr>
            <a:r>
              <a:rPr lang="ja-JP" altLang="en-US" sz="1200" dirty="0">
                <a:solidFill>
                  <a:schemeClr val="tx1"/>
                </a:solidFill>
                <a:latin typeface="Meiryo UI" panose="020B0604030504040204" pitchFamily="50" charset="-128"/>
                <a:ea typeface="Meiryo UI" panose="020B0604030504040204" pitchFamily="50" charset="-128"/>
              </a:rPr>
              <a:t>・悪臭やゴキブリ、害虫の発生につながる。</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・近隣住民へ迷惑をかけ、会社の信用にも影響を与える。</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・清掃、消毒、害虫駆除などの特別な対応が必要となった場合、発生した費用は本人負担となる。</a:t>
            </a:r>
            <a:br>
              <a:rPr lang="ja-JP" altLang="en-US" sz="1200" dirty="0">
                <a:solidFill>
                  <a:schemeClr val="tx1"/>
                </a:solidFill>
                <a:latin typeface="Meiryo UI" panose="020B0604030504040204" pitchFamily="50" charset="-128"/>
                <a:ea typeface="Meiryo UI" panose="020B0604030504040204" pitchFamily="50" charset="-128"/>
              </a:rPr>
            </a:br>
            <a:r>
              <a:rPr lang="ja-JP" altLang="en-US" sz="1200" dirty="0">
                <a:solidFill>
                  <a:schemeClr val="tx1"/>
                </a:solidFill>
                <a:latin typeface="Meiryo UI" panose="020B0604030504040204" pitchFamily="50" charset="-128"/>
                <a:ea typeface="Meiryo UI" panose="020B0604030504040204" pitchFamily="50" charset="-128"/>
              </a:rPr>
              <a:t>・違反の内容によっては、会社の規則に基づき指導や処分の対象となる場合が</a:t>
            </a:r>
            <a:r>
              <a:rPr lang="ja-JP" altLang="en-US" sz="1200" dirty="0" smtClean="0">
                <a:solidFill>
                  <a:schemeClr val="tx1"/>
                </a:solidFill>
                <a:latin typeface="Meiryo UI" panose="020B0604030504040204" pitchFamily="50" charset="-128"/>
                <a:ea typeface="Meiryo UI" panose="020B0604030504040204" pitchFamily="50" charset="-128"/>
              </a:rPr>
              <a:t>ある</a:t>
            </a:r>
            <a:r>
              <a:rPr lang="ja-JP" altLang="en-US" sz="1200" dirty="0">
                <a:solidFill>
                  <a:schemeClr val="tx1"/>
                </a:solidFill>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14988956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3712491" cy="861774"/>
          </a:xfrm>
          <a:prstGeom prst="rect">
            <a:avLst/>
          </a:prstGeom>
          <a:noFill/>
        </p:spPr>
        <p:txBody>
          <a:bodyPr wrap="none">
            <a:spAutoFit/>
          </a:bodyPr>
          <a:lstStyle/>
          <a:p>
            <a:endParaRPr dirty="0">
              <a:latin typeface="Arial" pitchFamily="34" charset="0"/>
              <a:ea typeface="Meiryo UI" panose="020B0604030504040204" pitchFamily="50" charset="-128"/>
              <a:cs typeface="Arial" pitchFamily="34" charset="0"/>
            </a:endParaRPr>
          </a:p>
          <a:p>
            <a:pPr>
              <a:defRPr sz="3200" b="1">
                <a:solidFill>
                  <a:srgbClr val="CC0000"/>
                </a:solidFill>
              </a:defRPr>
            </a:pPr>
            <a:r>
              <a:rPr lang="en-US" altLang="ja-JP" dirty="0" smtClean="0">
                <a:latin typeface="Arial" pitchFamily="34" charset="0"/>
                <a:ea typeface="Meiryo UI" panose="020B0604030504040204" pitchFamily="50" charset="-128"/>
                <a:cs typeface="Arial" pitchFamily="34" charset="0"/>
              </a:rPr>
              <a:t>※</a:t>
            </a:r>
            <a:r>
              <a:rPr dirty="0" err="1" smtClean="0">
                <a:latin typeface="Arial" pitchFamily="34" charset="0"/>
                <a:ea typeface="Meiryo UI" panose="020B0604030504040204" pitchFamily="50" charset="-128"/>
                <a:cs typeface="Arial" pitchFamily="34" charset="0"/>
              </a:rPr>
              <a:t>注意</a:t>
            </a:r>
            <a:r>
              <a:rPr dirty="0" smtClean="0">
                <a:latin typeface="Arial" pitchFamily="34" charset="0"/>
                <a:ea typeface="Meiryo UI" panose="020B0604030504040204" pitchFamily="50" charset="-128"/>
                <a:cs typeface="Arial" pitchFamily="34" charset="0"/>
              </a:rPr>
              <a:t> </a:t>
            </a:r>
            <a:r>
              <a:rPr lang="en-US" altLang="ja-JP" dirty="0" smtClean="0">
                <a:latin typeface="Arial" pitchFamily="34" charset="0"/>
                <a:ea typeface="Meiryo UI" panose="020B0604030504040204" pitchFamily="50" charset="-128"/>
                <a:cs typeface="Arial" pitchFamily="34" charset="0"/>
              </a:rPr>
              <a:t>_</a:t>
            </a:r>
            <a:r>
              <a:rPr dirty="0" smtClean="0">
                <a:latin typeface="Arial" pitchFamily="34" charset="0"/>
                <a:ea typeface="Meiryo UI" panose="020B0604030504040204" pitchFamily="50" charset="-128"/>
                <a:cs typeface="Arial" pitchFamily="34" charset="0"/>
              </a:rPr>
              <a:t> </a:t>
            </a:r>
            <a:r>
              <a:rPr lang="en-US" altLang="ja-JP" sz="3200" b="1" dirty="0" err="1"/>
              <a:t>Perhatian</a:t>
            </a:r>
            <a:endParaRPr dirty="0">
              <a:latin typeface="Arial" pitchFamily="34" charset="0"/>
              <a:ea typeface="Meiryo UI" panose="020B0604030504040204" pitchFamily="50" charset="-128"/>
              <a:cs typeface="Arial" pitchFamily="34" charset="0"/>
            </a:endParaRPr>
          </a:p>
        </p:txBody>
      </p:sp>
      <p:sp>
        <p:nvSpPr>
          <p:cNvPr id="3" name="TextBox 2"/>
          <p:cNvSpPr txBox="1"/>
          <p:nvPr/>
        </p:nvSpPr>
        <p:spPr>
          <a:xfrm>
            <a:off x="566383" y="1630907"/>
            <a:ext cx="8686609" cy="1754326"/>
          </a:xfrm>
          <a:prstGeom prst="rect">
            <a:avLst/>
          </a:prstGeom>
          <a:noFill/>
        </p:spPr>
        <p:txBody>
          <a:bodyPr wrap="none">
            <a:spAutoFit/>
          </a:bodyPr>
          <a:lstStyle/>
          <a:p>
            <a:pPr>
              <a:lnSpc>
                <a:spcPct val="150000"/>
              </a:lnSpc>
            </a:pPr>
            <a:r>
              <a:rPr dirty="0" err="1">
                <a:latin typeface="Arial" pitchFamily="34" charset="0"/>
                <a:ea typeface="Meiryo UI" panose="020B0604030504040204" pitchFamily="50" charset="-128"/>
                <a:cs typeface="Arial" pitchFamily="34" charset="0"/>
              </a:rPr>
              <a:t>地域を間違えたら「設定」で修正できます</a:t>
            </a:r>
            <a:r>
              <a:rPr dirty="0">
                <a:latin typeface="Arial" pitchFamily="34" charset="0"/>
                <a:ea typeface="Meiryo UI" panose="020B0604030504040204" pitchFamily="50" charset="-128"/>
                <a:cs typeface="Arial" pitchFamily="34" charset="0"/>
              </a:rPr>
              <a:t>。</a:t>
            </a:r>
          </a:p>
          <a:p>
            <a:pPr>
              <a:lnSpc>
                <a:spcPct val="150000"/>
              </a:lnSpc>
            </a:pPr>
            <a:r>
              <a:rPr dirty="0">
                <a:latin typeface="Arial" pitchFamily="34" charset="0"/>
                <a:ea typeface="Meiryo UI" panose="020B0604030504040204" pitchFamily="50" charset="-128"/>
                <a:cs typeface="Arial" pitchFamily="34" charset="0"/>
              </a:rPr>
              <a:t>👉 </a:t>
            </a:r>
            <a:r>
              <a:rPr lang="en-US" altLang="ja-JP" dirty="0" err="1"/>
              <a:t>Jika</a:t>
            </a:r>
            <a:r>
              <a:rPr lang="en-US" altLang="ja-JP" dirty="0"/>
              <a:t> </a:t>
            </a:r>
            <a:r>
              <a:rPr lang="en-US" altLang="ja-JP" dirty="0" err="1"/>
              <a:t>Anda</a:t>
            </a:r>
            <a:r>
              <a:rPr lang="en-US" altLang="ja-JP" dirty="0"/>
              <a:t> </a:t>
            </a:r>
            <a:r>
              <a:rPr lang="en-US" altLang="ja-JP" dirty="0" err="1"/>
              <a:t>salah</a:t>
            </a:r>
            <a:r>
              <a:rPr lang="en-US" altLang="ja-JP" dirty="0"/>
              <a:t> </a:t>
            </a:r>
            <a:r>
              <a:rPr lang="en-US" altLang="ja-JP" dirty="0" err="1"/>
              <a:t>memilih</a:t>
            </a:r>
            <a:r>
              <a:rPr lang="en-US" altLang="ja-JP" dirty="0"/>
              <a:t> </a:t>
            </a:r>
            <a:r>
              <a:rPr lang="en-US" altLang="ja-JP" dirty="0" err="1"/>
              <a:t>wilayah</a:t>
            </a:r>
            <a:r>
              <a:rPr lang="en-US" altLang="ja-JP" dirty="0"/>
              <a:t>, </a:t>
            </a:r>
            <a:r>
              <a:rPr lang="en-US" altLang="ja-JP" dirty="0" err="1"/>
              <a:t>Anda</a:t>
            </a:r>
            <a:r>
              <a:rPr lang="en-US" altLang="ja-JP" dirty="0"/>
              <a:t> </a:t>
            </a:r>
            <a:r>
              <a:rPr lang="en-US" altLang="ja-JP" dirty="0" err="1"/>
              <a:t>dapat</a:t>
            </a:r>
            <a:r>
              <a:rPr lang="en-US" altLang="ja-JP" dirty="0"/>
              <a:t> </a:t>
            </a:r>
            <a:r>
              <a:rPr lang="en-US" altLang="ja-JP" dirty="0" err="1"/>
              <a:t>memperbaikinya</a:t>
            </a:r>
            <a:r>
              <a:rPr lang="en-US" altLang="ja-JP" dirty="0"/>
              <a:t> </a:t>
            </a:r>
            <a:r>
              <a:rPr lang="en-US" altLang="ja-JP" dirty="0" err="1"/>
              <a:t>melalui</a:t>
            </a:r>
            <a:r>
              <a:rPr lang="en-US" altLang="ja-JP" dirty="0"/>
              <a:t> menu "</a:t>
            </a:r>
            <a:r>
              <a:rPr lang="en-US" altLang="ja-JP" dirty="0" err="1"/>
              <a:t>Pengaturan</a:t>
            </a:r>
            <a:r>
              <a:rPr lang="en-US" altLang="ja-JP" dirty="0"/>
              <a:t>".</a:t>
            </a:r>
            <a:endParaRPr dirty="0">
              <a:latin typeface="Arial" pitchFamily="34" charset="0"/>
              <a:ea typeface="Meiryo UI" panose="020B0604030504040204" pitchFamily="50" charset="-128"/>
              <a:cs typeface="Arial" pitchFamily="34" charset="0"/>
            </a:endParaRPr>
          </a:p>
          <a:p>
            <a:pPr>
              <a:lnSpc>
                <a:spcPct val="150000"/>
              </a:lnSpc>
            </a:pPr>
            <a:r>
              <a:rPr dirty="0" err="1">
                <a:latin typeface="Arial" pitchFamily="34" charset="0"/>
                <a:ea typeface="Meiryo UI" panose="020B0604030504040204" pitchFamily="50" charset="-128"/>
                <a:cs typeface="Arial" pitchFamily="34" charset="0"/>
              </a:rPr>
              <a:t>アプリは無料です</a:t>
            </a:r>
            <a:r>
              <a:rPr dirty="0">
                <a:latin typeface="Arial" pitchFamily="34" charset="0"/>
                <a:ea typeface="Meiryo UI" panose="020B0604030504040204" pitchFamily="50" charset="-128"/>
                <a:cs typeface="Arial" pitchFamily="34" charset="0"/>
              </a:rPr>
              <a:t>。</a:t>
            </a:r>
          </a:p>
          <a:p>
            <a:pPr>
              <a:lnSpc>
                <a:spcPct val="150000"/>
              </a:lnSpc>
            </a:pPr>
            <a:r>
              <a:rPr dirty="0">
                <a:latin typeface="Arial" pitchFamily="34" charset="0"/>
                <a:ea typeface="Meiryo UI" panose="020B0604030504040204" pitchFamily="50" charset="-128"/>
                <a:cs typeface="Arial" pitchFamily="34" charset="0"/>
              </a:rPr>
              <a:t>👉 </a:t>
            </a:r>
            <a:r>
              <a:rPr lang="en-US" altLang="ja-JP" dirty="0" err="1"/>
              <a:t>Aplikasi</a:t>
            </a:r>
            <a:r>
              <a:rPr lang="en-US" altLang="ja-JP" dirty="0"/>
              <a:t> </a:t>
            </a:r>
            <a:r>
              <a:rPr lang="en-US" altLang="ja-JP" dirty="0" err="1"/>
              <a:t>ini</a:t>
            </a:r>
            <a:r>
              <a:rPr lang="en-US" altLang="ja-JP" dirty="0"/>
              <a:t> gratis.</a:t>
            </a:r>
            <a:endParaRPr dirty="0">
              <a:latin typeface="Arial" pitchFamily="34" charset="0"/>
              <a:ea typeface="Meiryo UI" panose="020B0604030504040204" pitchFamily="50" charset="-128"/>
              <a:cs typeface="Arial" pitchFamily="34" charset="0"/>
            </a:endParaRPr>
          </a:p>
        </p:txBody>
      </p:sp>
    </p:spTree>
    <p:extLst>
      <p:ext uri="{BB962C8B-B14F-4D97-AF65-F5344CB8AC3E}">
        <p14:creationId xmlns:p14="http://schemas.microsoft.com/office/powerpoint/2010/main" val="12852704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213100" y="775502"/>
            <a:ext cx="2454518" cy="369332"/>
          </a:xfrm>
          <a:prstGeom prst="rect">
            <a:avLst/>
          </a:prstGeom>
        </p:spPr>
        <p:txBody>
          <a:bodyPr wrap="none">
            <a:spAutoFit/>
          </a:bodyPr>
          <a:lstStyle/>
          <a:p>
            <a:r>
              <a:rPr lang="ja-JP" altLang="en-US" dirty="0">
                <a:latin typeface="Arial" pitchFamily="34" charset="0"/>
                <a:ea typeface="Meiryo UI" panose="020B0604030504040204" pitchFamily="50" charset="-128"/>
                <a:cs typeface="Arial" pitchFamily="34" charset="0"/>
              </a:rPr>
              <a:t>生活する／愛知県</a:t>
            </a:r>
            <a:r>
              <a:rPr lang="ja-JP" altLang="en-US" dirty="0" smtClean="0">
                <a:latin typeface="Arial" pitchFamily="34" charset="0"/>
                <a:ea typeface="Meiryo UI" panose="020B0604030504040204" pitchFamily="50" charset="-128"/>
                <a:cs typeface="Arial" pitchFamily="34" charset="0"/>
              </a:rPr>
              <a:t>特殊</a:t>
            </a:r>
            <a:endParaRPr lang="ja-JP" altLang="en-US" dirty="0"/>
          </a:p>
        </p:txBody>
      </p:sp>
      <p:pic>
        <p:nvPicPr>
          <p:cNvPr id="2" name="図 1"/>
          <p:cNvPicPr>
            <a:picLocks noChangeAspect="1"/>
          </p:cNvPicPr>
          <p:nvPr/>
        </p:nvPicPr>
        <p:blipFill>
          <a:blip r:embed="rId2"/>
          <a:stretch>
            <a:fillRect/>
          </a:stretch>
        </p:blipFill>
        <p:spPr>
          <a:xfrm>
            <a:off x="2668709" y="1947862"/>
            <a:ext cx="3543300" cy="3419475"/>
          </a:xfrm>
          <a:prstGeom prst="rect">
            <a:avLst/>
          </a:prstGeom>
        </p:spPr>
      </p:pic>
      <p:sp>
        <p:nvSpPr>
          <p:cNvPr id="4" name="正方形/長方形 3"/>
          <p:cNvSpPr/>
          <p:nvPr/>
        </p:nvSpPr>
        <p:spPr>
          <a:xfrm>
            <a:off x="1705134" y="1177016"/>
            <a:ext cx="7438866" cy="369332"/>
          </a:xfrm>
          <a:prstGeom prst="rect">
            <a:avLst/>
          </a:prstGeom>
        </p:spPr>
        <p:txBody>
          <a:bodyPr wrap="square">
            <a:spAutoFit/>
          </a:bodyPr>
          <a:lstStyle/>
          <a:p>
            <a:r>
              <a:rPr lang="en-US" altLang="ja-JP" dirty="0" err="1"/>
              <a:t>Menjalani</a:t>
            </a:r>
            <a:r>
              <a:rPr lang="en-US" altLang="ja-JP" dirty="0"/>
              <a:t> </a:t>
            </a:r>
            <a:r>
              <a:rPr lang="en-US" altLang="ja-JP" dirty="0" err="1"/>
              <a:t>kehidupan</a:t>
            </a:r>
            <a:r>
              <a:rPr lang="en-US" altLang="ja-JP" dirty="0"/>
              <a:t> </a:t>
            </a:r>
            <a:r>
              <a:rPr lang="en-US" altLang="ja-JP" dirty="0" err="1" smtClean="0"/>
              <a:t>sehari-hari</a:t>
            </a:r>
            <a:r>
              <a:rPr lang="en-US" altLang="ja-JP" dirty="0" smtClean="0"/>
              <a:t>/</a:t>
            </a:r>
            <a:r>
              <a:rPr lang="de-DE" altLang="ja-JP" dirty="0"/>
              <a:t>Hal-hal khusus di Prefektur Aichi</a:t>
            </a:r>
            <a:endParaRPr lang="ja-JP" altLang="en-US" dirty="0"/>
          </a:p>
        </p:txBody>
      </p:sp>
    </p:spTree>
    <p:extLst>
      <p:ext uri="{BB962C8B-B14F-4D97-AF65-F5344CB8AC3E}">
        <p14:creationId xmlns:p14="http://schemas.microsoft.com/office/powerpoint/2010/main" val="39042880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p:cNvSpPr txBox="1">
            <a:spLocks/>
          </p:cNvSpPr>
          <p:nvPr/>
        </p:nvSpPr>
        <p:spPr>
          <a:xfrm>
            <a:off x="581192" y="687475"/>
            <a:ext cx="7989752" cy="709526"/>
          </a:xfrm>
          <a:prstGeom prst="rect">
            <a:avLst/>
          </a:prstGeom>
        </p:spPr>
        <p:txBody>
          <a:bodyPr vert="horz" lIns="91440" tIns="45720" rIns="91440" bIns="45720" rtlCol="0" anchor="b">
            <a:normAutofit/>
          </a:bodyPr>
          <a:lst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pPr algn="ctr"/>
            <a:r>
              <a:rPr lang="ja-JP" altLang="en-US" sz="4000" b="1" dirty="0" smtClean="0">
                <a:latin typeface="Meiryo UI" panose="020B0604030504040204" pitchFamily="50" charset="-128"/>
                <a:ea typeface="Meiryo UI" panose="020B0604030504040204" pitchFamily="50" charset="-128"/>
              </a:rPr>
              <a:t>生活</a:t>
            </a:r>
            <a:r>
              <a:rPr lang="ja-JP" altLang="en-US" sz="4000" b="1" dirty="0">
                <a:latin typeface="Meiryo UI" panose="020B0604030504040204" pitchFamily="50" charset="-128"/>
                <a:ea typeface="Meiryo UI" panose="020B0604030504040204" pitchFamily="50" charset="-128"/>
              </a:rPr>
              <a:t>案内</a:t>
            </a:r>
            <a:endParaRPr lang="en-US" altLang="ja-JP" sz="4000" b="1" dirty="0">
              <a:latin typeface="Meiryo UI" panose="020B0604030504040204" pitchFamily="50" charset="-128"/>
              <a:ea typeface="Meiryo UI" panose="020B0604030504040204" pitchFamily="50" charset="-128"/>
            </a:endParaRPr>
          </a:p>
        </p:txBody>
      </p:sp>
      <p:sp>
        <p:nvSpPr>
          <p:cNvPr id="4" name="正方形/長方形 3"/>
          <p:cNvSpPr/>
          <p:nvPr/>
        </p:nvSpPr>
        <p:spPr>
          <a:xfrm>
            <a:off x="581192" y="1358901"/>
            <a:ext cx="7989752" cy="393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vi-VN" altLang="ja-JP" sz="3600" b="1" dirty="0" smtClean="0">
                <a:latin typeface="Times New Roman" panose="02020603050405020304" pitchFamily="18" charset="0"/>
                <a:cs typeface="Times New Roman" panose="02020603050405020304" pitchFamily="18" charset="0"/>
              </a:rPr>
              <a:t>Hướng dẫn cuộc sống</a:t>
            </a:r>
          </a:p>
        </p:txBody>
      </p:sp>
      <p:sp>
        <p:nvSpPr>
          <p:cNvPr id="9" name="テキスト ボックス 8"/>
          <p:cNvSpPr txBox="1"/>
          <p:nvPr/>
        </p:nvSpPr>
        <p:spPr>
          <a:xfrm>
            <a:off x="-152400" y="3497455"/>
            <a:ext cx="3712962" cy="400110"/>
          </a:xfrm>
          <a:prstGeom prst="rect">
            <a:avLst/>
          </a:prstGeom>
          <a:noFill/>
        </p:spPr>
        <p:txBody>
          <a:bodyPr wrap="square" rtlCol="0">
            <a:spAutoFit/>
          </a:bodyPr>
          <a:lstStyle/>
          <a:p>
            <a:pPr algn="ctr"/>
            <a:r>
              <a:rPr lang="ja-JP" altLang="en-US" sz="2000" b="1" dirty="0">
                <a:latin typeface="Meiryo UI" panose="020B0604030504040204" pitchFamily="50" charset="-128"/>
                <a:ea typeface="Meiryo UI" panose="020B0604030504040204" pitchFamily="50" charset="-128"/>
              </a:rPr>
              <a:t>　</a:t>
            </a:r>
          </a:p>
        </p:txBody>
      </p:sp>
      <p:sp>
        <p:nvSpPr>
          <p:cNvPr id="2" name="正方形/長方形 1"/>
          <p:cNvSpPr/>
          <p:nvPr/>
        </p:nvSpPr>
        <p:spPr>
          <a:xfrm>
            <a:off x="430519" y="1042238"/>
            <a:ext cx="7528151" cy="3785652"/>
          </a:xfrm>
          <a:prstGeom prst="rect">
            <a:avLst/>
          </a:prstGeom>
        </p:spPr>
        <p:txBody>
          <a:bodyPr wrap="none">
            <a:spAutoFit/>
          </a:bodyPr>
          <a:lstStyle/>
          <a:p>
            <a:pPr>
              <a:lnSpc>
                <a:spcPct val="150000"/>
              </a:lnSpc>
            </a:pPr>
            <a:r>
              <a:rPr lang="ja-JP" altLang="en-US" b="1" dirty="0" smtClean="0">
                <a:latin typeface="Meiryo UI" panose="020B0604030504040204" pitchFamily="50" charset="-128"/>
                <a:ea typeface="Meiryo UI" panose="020B0604030504040204" pitchFamily="50" charset="-128"/>
                <a:cs typeface="Times New Roman" panose="02020603050405020304" pitchFamily="18" charset="0"/>
              </a:rPr>
              <a:t>・</a:t>
            </a:r>
            <a:r>
              <a:rPr lang="en-US" altLang="ja-JP" dirty="0"/>
              <a:t> 【</a:t>
            </a:r>
            <a:r>
              <a:rPr lang="ja-JP" altLang="en-US" b="1" dirty="0" smtClean="0">
                <a:latin typeface="Meiryo UI" panose="020B0604030504040204" pitchFamily="50" charset="-128"/>
                <a:ea typeface="Meiryo UI" panose="020B0604030504040204" pitchFamily="50" charset="-128"/>
                <a:cs typeface="Times New Roman" panose="02020603050405020304" pitchFamily="18" charset="0"/>
              </a:rPr>
              <a:t>技能</a:t>
            </a:r>
            <a:r>
              <a:rPr lang="ja-JP" altLang="en-US" b="1" dirty="0">
                <a:latin typeface="Meiryo UI" panose="020B0604030504040204" pitchFamily="50" charset="-128"/>
                <a:ea typeface="Meiryo UI" panose="020B0604030504040204" pitchFamily="50" charset="-128"/>
                <a:cs typeface="Times New Roman" panose="02020603050405020304" pitchFamily="18" charset="0"/>
              </a:rPr>
              <a:t>実習生</a:t>
            </a:r>
            <a:r>
              <a:rPr lang="en-US" altLang="ja-JP" b="1" dirty="0">
                <a:latin typeface="Meiryo UI" panose="020B0604030504040204" pitchFamily="50" charset="-128"/>
                <a:ea typeface="Meiryo UI" panose="020B0604030504040204" pitchFamily="50" charset="-128"/>
                <a:cs typeface="Times New Roman" panose="02020603050405020304" pitchFamily="18" charset="0"/>
              </a:rPr>
              <a:t>】</a:t>
            </a:r>
            <a:r>
              <a:rPr lang="ja-JP" altLang="en-US" b="1" dirty="0">
                <a:latin typeface="Meiryo UI" panose="020B0604030504040204" pitchFamily="50" charset="-128"/>
                <a:ea typeface="Meiryo UI" panose="020B0604030504040204" pitchFamily="50" charset="-128"/>
                <a:cs typeface="Times New Roman" panose="02020603050405020304" pitchFamily="18" charset="0"/>
              </a:rPr>
              <a:t>失踪予防</a:t>
            </a:r>
            <a:r>
              <a:rPr lang="ja-JP" altLang="en-US" b="1" dirty="0" smtClean="0">
                <a:latin typeface="Meiryo UI" panose="020B0604030504040204" pitchFamily="50" charset="-128"/>
                <a:ea typeface="Meiryo UI" panose="020B0604030504040204" pitchFamily="50" charset="-128"/>
                <a:cs typeface="Times New Roman" panose="02020603050405020304" pitchFamily="18" charset="0"/>
              </a:rPr>
              <a:t>指導</a:t>
            </a:r>
            <a:endParaRPr lang="en-US" altLang="ja-JP" b="1" dirty="0" smtClean="0">
              <a:latin typeface="Meiryo UI" panose="020B0604030504040204" pitchFamily="50" charset="-128"/>
              <a:ea typeface="Meiryo UI" panose="020B0604030504040204" pitchFamily="50" charset="-128"/>
              <a:cs typeface="Times New Roman" panose="02020603050405020304" pitchFamily="18" charset="0"/>
            </a:endParaRPr>
          </a:p>
          <a:p>
            <a:pPr>
              <a:lnSpc>
                <a:spcPct val="150000"/>
              </a:lnSpc>
            </a:pPr>
            <a:r>
              <a:rPr lang="ja-JP" altLang="en-US" dirty="0" smtClean="0">
                <a:latin typeface="Meiryo UI" panose="020B0604030504040204" pitchFamily="50" charset="-128"/>
                <a:ea typeface="Meiryo UI" panose="020B0604030504040204" pitchFamily="50" charset="-128"/>
                <a:cs typeface="Times New Roman" panose="02020603050405020304" pitchFamily="18" charset="0"/>
              </a:rPr>
              <a:t>　</a:t>
            </a:r>
            <a:r>
              <a:rPr lang="en-US" altLang="ja-JP" dirty="0"/>
              <a:t>【</a:t>
            </a:r>
            <a:r>
              <a:rPr lang="en-US" altLang="ja-JP" dirty="0" err="1"/>
              <a:t>Peserta</a:t>
            </a:r>
            <a:r>
              <a:rPr lang="en-US" altLang="ja-JP" dirty="0"/>
              <a:t> </a:t>
            </a:r>
            <a:r>
              <a:rPr lang="en-US" altLang="ja-JP" dirty="0" err="1"/>
              <a:t>Magang</a:t>
            </a:r>
            <a:r>
              <a:rPr lang="en-US" altLang="ja-JP" dirty="0"/>
              <a:t> </a:t>
            </a:r>
            <a:r>
              <a:rPr lang="en-US" altLang="ja-JP" dirty="0" err="1"/>
              <a:t>Teknis】Pembinaan</a:t>
            </a:r>
            <a:r>
              <a:rPr lang="en-US" altLang="ja-JP" dirty="0"/>
              <a:t> </a:t>
            </a:r>
            <a:r>
              <a:rPr lang="en-US" altLang="ja-JP" dirty="0" err="1"/>
              <a:t>untuk</a:t>
            </a:r>
            <a:r>
              <a:rPr lang="en-US" altLang="ja-JP" dirty="0"/>
              <a:t> </a:t>
            </a:r>
            <a:r>
              <a:rPr lang="en-US" altLang="ja-JP" dirty="0" err="1"/>
              <a:t>mencegah</a:t>
            </a:r>
            <a:r>
              <a:rPr lang="en-US" altLang="ja-JP" dirty="0"/>
              <a:t> </a:t>
            </a:r>
            <a:r>
              <a:rPr lang="en-US" altLang="ja-JP" dirty="0" err="1"/>
              <a:t>kabur</a:t>
            </a:r>
            <a:r>
              <a:rPr lang="en-US" altLang="ja-JP" dirty="0"/>
              <a:t> (</a:t>
            </a:r>
            <a:r>
              <a:rPr lang="en-US" altLang="ja-JP" dirty="0" err="1"/>
              <a:t>melarikan</a:t>
            </a:r>
            <a:r>
              <a:rPr lang="en-US" altLang="ja-JP" dirty="0"/>
              <a:t> </a:t>
            </a:r>
            <a:r>
              <a:rPr lang="en-US" altLang="ja-JP" dirty="0" err="1"/>
              <a:t>diri</a:t>
            </a:r>
            <a:r>
              <a:rPr lang="en-US" altLang="ja-JP" dirty="0" smtClean="0"/>
              <a:t>)</a:t>
            </a:r>
          </a:p>
          <a:p>
            <a:pPr>
              <a:lnSpc>
                <a:spcPct val="150000"/>
              </a:lnSpc>
            </a:pPr>
            <a:r>
              <a:rPr lang="ja-JP" altLang="en-US" b="1" dirty="0" smtClean="0">
                <a:latin typeface="Meiryo UI" panose="020B0604030504040204" pitchFamily="50" charset="-128"/>
                <a:ea typeface="Meiryo UI" panose="020B0604030504040204" pitchFamily="50" charset="-128"/>
                <a:cs typeface="Times New Roman" panose="02020603050405020304" pitchFamily="18" charset="0"/>
              </a:rPr>
              <a:t>・　病気</a:t>
            </a:r>
            <a:r>
              <a:rPr lang="ja-JP" altLang="en-US" b="1" dirty="0">
                <a:latin typeface="Meiryo UI" panose="020B0604030504040204" pitchFamily="50" charset="-128"/>
                <a:ea typeface="Meiryo UI" panose="020B0604030504040204" pitchFamily="50" charset="-128"/>
                <a:cs typeface="Times New Roman" panose="02020603050405020304" pitchFamily="18" charset="0"/>
              </a:rPr>
              <a:t>になったときの連絡と</a:t>
            </a:r>
            <a:r>
              <a:rPr lang="ja-JP" altLang="en-US" b="1" dirty="0" smtClean="0">
                <a:latin typeface="Meiryo UI" panose="020B0604030504040204" pitchFamily="50" charset="-128"/>
                <a:ea typeface="Meiryo UI" panose="020B0604030504040204" pitchFamily="50" charset="-128"/>
                <a:cs typeface="Times New Roman" panose="02020603050405020304" pitchFamily="18" charset="0"/>
              </a:rPr>
              <a:t>対応</a:t>
            </a:r>
            <a:endParaRPr lang="en-US" altLang="ja-JP" b="1" dirty="0" smtClean="0">
              <a:latin typeface="Meiryo UI" panose="020B0604030504040204" pitchFamily="50" charset="-128"/>
              <a:ea typeface="Meiryo UI" panose="020B0604030504040204" pitchFamily="50" charset="-128"/>
              <a:cs typeface="Times New Roman" panose="02020603050405020304" pitchFamily="18" charset="0"/>
            </a:endParaRPr>
          </a:p>
          <a:p>
            <a:pPr>
              <a:lnSpc>
                <a:spcPct val="150000"/>
              </a:lnSpc>
            </a:pPr>
            <a:r>
              <a:rPr lang="ja-JP" altLang="en-US" dirty="0" smtClean="0"/>
              <a:t>　</a:t>
            </a:r>
            <a:r>
              <a:rPr lang="en-US" altLang="ja-JP" dirty="0" err="1" smtClean="0"/>
              <a:t>Tindakan</a:t>
            </a:r>
            <a:r>
              <a:rPr lang="en-US" altLang="ja-JP" dirty="0" smtClean="0"/>
              <a:t> </a:t>
            </a:r>
            <a:r>
              <a:rPr lang="en-US" altLang="ja-JP" dirty="0" err="1"/>
              <a:t>dan</a:t>
            </a:r>
            <a:r>
              <a:rPr lang="en-US" altLang="ja-JP" dirty="0"/>
              <a:t> </a:t>
            </a:r>
            <a:r>
              <a:rPr lang="en-US" altLang="ja-JP" dirty="0" err="1"/>
              <a:t>cara</a:t>
            </a:r>
            <a:r>
              <a:rPr lang="en-US" altLang="ja-JP" dirty="0"/>
              <a:t> </a:t>
            </a:r>
            <a:r>
              <a:rPr lang="en-US" altLang="ja-JP" dirty="0" err="1"/>
              <a:t>menghubungi</a:t>
            </a:r>
            <a:r>
              <a:rPr lang="en-US" altLang="ja-JP" dirty="0"/>
              <a:t> </a:t>
            </a:r>
            <a:r>
              <a:rPr lang="en-US" altLang="ja-JP" dirty="0" err="1"/>
              <a:t>saat</a:t>
            </a:r>
            <a:r>
              <a:rPr lang="en-US" altLang="ja-JP" dirty="0"/>
              <a:t> </a:t>
            </a:r>
            <a:r>
              <a:rPr lang="en-US" altLang="ja-JP" dirty="0" err="1" smtClean="0"/>
              <a:t>sakit</a:t>
            </a:r>
            <a:endParaRPr lang="en-US" altLang="ja-JP" dirty="0" smtClean="0"/>
          </a:p>
          <a:p>
            <a:pPr>
              <a:lnSpc>
                <a:spcPct val="150000"/>
              </a:lnSpc>
            </a:pPr>
            <a:r>
              <a:rPr lang="ja-JP" altLang="en-US" b="1" dirty="0" smtClean="0">
                <a:latin typeface="Meiryo UI" panose="020B0604030504040204" pitchFamily="50" charset="-128"/>
                <a:ea typeface="Meiryo UI" panose="020B0604030504040204" pitchFamily="50" charset="-128"/>
                <a:cs typeface="Times New Roman" panose="02020603050405020304" pitchFamily="18" charset="0"/>
              </a:rPr>
              <a:t>・</a:t>
            </a:r>
            <a:r>
              <a:rPr lang="ja-JP" altLang="en-US" b="1" dirty="0" smtClean="0">
                <a:latin typeface="Meiryo UI" panose="020B0604030504040204" pitchFamily="50" charset="-128"/>
                <a:ea typeface="Meiryo UI" panose="020B0604030504040204" pitchFamily="50" charset="-128"/>
              </a:rPr>
              <a:t>送金</a:t>
            </a:r>
            <a:r>
              <a:rPr lang="ja-JP" altLang="en-US" b="1" dirty="0">
                <a:latin typeface="Meiryo UI" panose="020B0604030504040204" pitchFamily="50" charset="-128"/>
                <a:ea typeface="Meiryo UI" panose="020B0604030504040204" pitchFamily="50" charset="-128"/>
              </a:rPr>
              <a:t>するときの</a:t>
            </a:r>
            <a:r>
              <a:rPr lang="ja-JP" altLang="en-US" b="1" dirty="0" smtClean="0">
                <a:latin typeface="Meiryo UI" panose="020B0604030504040204" pitchFamily="50" charset="-128"/>
                <a:ea typeface="Meiryo UI" panose="020B0604030504040204" pitchFamily="50" charset="-128"/>
              </a:rPr>
              <a:t>考え方</a:t>
            </a:r>
            <a:endParaRPr lang="en-US" altLang="ja-JP" b="1" dirty="0" smtClean="0">
              <a:latin typeface="Meiryo UI" panose="020B0604030504040204" pitchFamily="50" charset="-128"/>
              <a:ea typeface="Meiryo UI" panose="020B0604030504040204" pitchFamily="50" charset="-128"/>
            </a:endParaRPr>
          </a:p>
          <a:p>
            <a:pPr>
              <a:lnSpc>
                <a:spcPct val="150000"/>
              </a:lnSpc>
            </a:pPr>
            <a:r>
              <a:rPr lang="ja-JP" altLang="en-US" dirty="0" smtClean="0">
                <a:latin typeface="Times New Roman" panose="02020603050405020304" pitchFamily="18" charset="0"/>
                <a:ea typeface="Meiryo UI" panose="020B0604030504040204" pitchFamily="50" charset="-128"/>
                <a:cs typeface="Times New Roman" panose="02020603050405020304" pitchFamily="18" charset="0"/>
              </a:rPr>
              <a:t> 　 </a:t>
            </a:r>
            <a:r>
              <a:rPr lang="en-US" altLang="ja-JP" dirty="0"/>
              <a:t>Hal-</a:t>
            </a:r>
            <a:r>
              <a:rPr lang="en-US" altLang="ja-JP" dirty="0" err="1"/>
              <a:t>hal</a:t>
            </a:r>
            <a:r>
              <a:rPr lang="en-US" altLang="ja-JP" dirty="0"/>
              <a:t> yang </a:t>
            </a:r>
            <a:r>
              <a:rPr lang="en-US" altLang="ja-JP" dirty="0" err="1"/>
              <a:t>perlu</a:t>
            </a:r>
            <a:r>
              <a:rPr lang="en-US" altLang="ja-JP" dirty="0"/>
              <a:t> </a:t>
            </a:r>
            <a:r>
              <a:rPr lang="en-US" altLang="ja-JP" dirty="0" err="1"/>
              <a:t>dipertimbangkan</a:t>
            </a:r>
            <a:r>
              <a:rPr lang="en-US" altLang="ja-JP" dirty="0"/>
              <a:t> </a:t>
            </a:r>
            <a:r>
              <a:rPr lang="en-US" altLang="ja-JP" dirty="0" err="1"/>
              <a:t>saat</a:t>
            </a:r>
            <a:r>
              <a:rPr lang="en-US" altLang="ja-JP" dirty="0"/>
              <a:t> </a:t>
            </a:r>
            <a:r>
              <a:rPr lang="en-US" altLang="ja-JP" dirty="0" err="1"/>
              <a:t>mengirim</a:t>
            </a:r>
            <a:r>
              <a:rPr lang="en-US" altLang="ja-JP" dirty="0"/>
              <a:t> </a:t>
            </a:r>
            <a:r>
              <a:rPr lang="en-US" altLang="ja-JP" dirty="0" err="1"/>
              <a:t>uang</a:t>
            </a:r>
            <a:endParaRPr lang="ja-JP" altLang="en-US" b="1" dirty="0">
              <a:latin typeface="Meiryo UI" panose="020B0604030504040204" pitchFamily="50" charset="-128"/>
              <a:ea typeface="Meiryo UI" panose="020B0604030504040204" pitchFamily="50" charset="-128"/>
            </a:endParaRPr>
          </a:p>
          <a:p>
            <a:pPr>
              <a:lnSpc>
                <a:spcPct val="150000"/>
              </a:lnSpc>
            </a:pPr>
            <a:endParaRPr lang="en-US" altLang="ja-JP" dirty="0">
              <a:latin typeface="Times New Roman" panose="02020603050405020304" pitchFamily="18" charset="0"/>
              <a:ea typeface="Meiryo UI" panose="020B0604030504040204" pitchFamily="50" charset="-128"/>
              <a:cs typeface="Times New Roman" panose="02020603050405020304" pitchFamily="18" charset="0"/>
            </a:endParaRPr>
          </a:p>
          <a:p>
            <a:pPr>
              <a:lnSpc>
                <a:spcPct val="150000"/>
              </a:lnSpc>
            </a:pPr>
            <a:endParaRPr lang="en-US" altLang="ja-JP" sz="1600" b="1" dirty="0">
              <a:latin typeface="Times New Roman" panose="02020603050405020304" pitchFamily="18" charset="0"/>
              <a:ea typeface="Meiryo UI" panose="020B0604030504040204" pitchFamily="50" charset="-128"/>
              <a:cs typeface="Times New Roman" panose="02020603050405020304" pitchFamily="18" charset="0"/>
            </a:endParaRPr>
          </a:p>
          <a:p>
            <a:pPr>
              <a:lnSpc>
                <a:spcPct val="150000"/>
              </a:lnSpc>
            </a:pPr>
            <a:endParaRPr lang="ja-JP" altLang="en-US" dirty="0">
              <a:latin typeface="Meiryo UI" panose="020B0604030504040204" pitchFamily="50" charset="-128"/>
              <a:ea typeface="Meiryo UI" panose="020B0604030504040204" pitchFamily="50" charset="-128"/>
            </a:endParaRPr>
          </a:p>
        </p:txBody>
      </p:sp>
      <p:sp>
        <p:nvSpPr>
          <p:cNvPr id="18" name="正方形/長方形 17"/>
          <p:cNvSpPr/>
          <p:nvPr/>
        </p:nvSpPr>
        <p:spPr>
          <a:xfrm>
            <a:off x="7240171" y="684690"/>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配布資料</a:t>
            </a:r>
            <a:endParaRPr kumimoji="1" lang="ja-JP" altLang="en-US" dirty="0">
              <a:solidFill>
                <a:schemeClr val="tx1"/>
              </a:solidFill>
            </a:endParaRPr>
          </a:p>
        </p:txBody>
      </p:sp>
      <p:sp>
        <p:nvSpPr>
          <p:cNvPr id="5" name="テキスト ボックス 4"/>
          <p:cNvSpPr txBox="1"/>
          <p:nvPr/>
        </p:nvSpPr>
        <p:spPr>
          <a:xfrm>
            <a:off x="1442007" y="5820303"/>
            <a:ext cx="239836" cy="215444"/>
          </a:xfrm>
          <a:prstGeom prst="rect">
            <a:avLst/>
          </a:prstGeom>
          <a:solidFill>
            <a:schemeClr val="bg1"/>
          </a:solidFill>
        </p:spPr>
        <p:txBody>
          <a:bodyPr wrap="square" rtlCol="0">
            <a:spAutoFit/>
          </a:bodyPr>
          <a:lstStyle/>
          <a:p>
            <a:endParaRPr kumimoji="1" lang="ja-JP" altLang="en-US" sz="800" dirty="0"/>
          </a:p>
        </p:txBody>
      </p:sp>
      <p:sp>
        <p:nvSpPr>
          <p:cNvPr id="12" name="正方形/長方形 11"/>
          <p:cNvSpPr/>
          <p:nvPr/>
        </p:nvSpPr>
        <p:spPr>
          <a:xfrm>
            <a:off x="5210368" y="684690"/>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21855429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136412"/>
            <a:ext cx="9012766" cy="5407660"/>
          </a:xfrm>
          <a:prstGeom prst="rect">
            <a:avLst/>
          </a:prstGeom>
        </p:spPr>
      </p:pic>
      <p:sp>
        <p:nvSpPr>
          <p:cNvPr id="31" name="正方形/長方形 30"/>
          <p:cNvSpPr/>
          <p:nvPr/>
        </p:nvSpPr>
        <p:spPr>
          <a:xfrm>
            <a:off x="0" y="614372"/>
            <a:ext cx="9247517" cy="369332"/>
          </a:xfrm>
          <a:prstGeom prst="rect">
            <a:avLst/>
          </a:prstGeom>
        </p:spPr>
        <p:txBody>
          <a:bodyPr wrap="square">
            <a:spAutoFit/>
          </a:bodyPr>
          <a:lstStyle/>
          <a:p>
            <a:r>
              <a:rPr lang="en-US" altLang="ja-JP" dirty="0"/>
              <a:t>【</a:t>
            </a:r>
            <a:r>
              <a:rPr lang="en-US" altLang="ja-JP" dirty="0" err="1"/>
              <a:t>Peserta</a:t>
            </a:r>
            <a:r>
              <a:rPr lang="en-US" altLang="ja-JP" dirty="0"/>
              <a:t> </a:t>
            </a:r>
            <a:r>
              <a:rPr lang="en-US" altLang="ja-JP" dirty="0" err="1"/>
              <a:t>Magang</a:t>
            </a:r>
            <a:r>
              <a:rPr lang="en-US" altLang="ja-JP" dirty="0"/>
              <a:t> </a:t>
            </a:r>
            <a:r>
              <a:rPr lang="en-US" altLang="ja-JP" dirty="0" err="1"/>
              <a:t>Teknis】Penyuluhan</a:t>
            </a:r>
            <a:r>
              <a:rPr lang="en-US" altLang="ja-JP" dirty="0"/>
              <a:t> </a:t>
            </a:r>
            <a:r>
              <a:rPr lang="en-US" altLang="ja-JP" dirty="0" err="1"/>
              <a:t>Pencegahan</a:t>
            </a:r>
            <a:r>
              <a:rPr lang="en-US" altLang="ja-JP" dirty="0"/>
              <a:t> </a:t>
            </a:r>
            <a:r>
              <a:rPr lang="en-US" altLang="ja-JP" dirty="0" err="1"/>
              <a:t>Tindakan</a:t>
            </a:r>
            <a:r>
              <a:rPr lang="en-US" altLang="ja-JP" dirty="0"/>
              <a:t> </a:t>
            </a:r>
            <a:r>
              <a:rPr lang="en-US" altLang="ja-JP" dirty="0" err="1"/>
              <a:t>Meninggalkan</a:t>
            </a:r>
            <a:r>
              <a:rPr lang="en-US" altLang="ja-JP" dirty="0"/>
              <a:t> Program </a:t>
            </a:r>
            <a:r>
              <a:rPr lang="en-US" altLang="ja-JP" dirty="0" err="1"/>
              <a:t>tanpa</a:t>
            </a:r>
            <a:r>
              <a:rPr lang="en-US" altLang="ja-JP" dirty="0"/>
              <a:t> </a:t>
            </a:r>
            <a:r>
              <a:rPr lang="en-US" altLang="ja-JP" dirty="0" err="1"/>
              <a:t>Izin</a:t>
            </a:r>
            <a:endParaRPr lang="ja-JP" altLang="en-US" dirty="0"/>
          </a:p>
        </p:txBody>
      </p:sp>
      <p:sp>
        <p:nvSpPr>
          <p:cNvPr id="32" name="テキスト ボックス 31"/>
          <p:cNvSpPr txBox="1"/>
          <p:nvPr/>
        </p:nvSpPr>
        <p:spPr>
          <a:xfrm>
            <a:off x="2395008" y="0"/>
            <a:ext cx="4222749" cy="461665"/>
          </a:xfrm>
          <a:prstGeom prst="rect">
            <a:avLst/>
          </a:prstGeom>
          <a:noFill/>
        </p:spPr>
        <p:txBody>
          <a:bodyPr wrap="square" rtlCol="0">
            <a:spAutoFit/>
          </a:bodyPr>
          <a:lstStyle/>
          <a:p>
            <a:pPr algn="ctr"/>
            <a:r>
              <a:rPr lang="en-US" altLang="ja-JP" sz="2400" b="1" dirty="0">
                <a:latin typeface="Meiryo UI" panose="020B0604030504040204" pitchFamily="50" charset="-128"/>
                <a:ea typeface="Meiryo UI" panose="020B0604030504040204" pitchFamily="50" charset="-128"/>
              </a:rPr>
              <a:t>【</a:t>
            </a:r>
            <a:r>
              <a:rPr lang="ja-JP" altLang="en-US" sz="2400" b="1" dirty="0">
                <a:latin typeface="Meiryo UI" panose="020B0604030504040204" pitchFamily="50" charset="-128"/>
                <a:ea typeface="Meiryo UI" panose="020B0604030504040204" pitchFamily="50" charset="-128"/>
              </a:rPr>
              <a:t>技能実習生</a:t>
            </a:r>
            <a:r>
              <a:rPr lang="en-US" altLang="ja-JP" sz="2400" b="1" dirty="0" smtClean="0">
                <a:latin typeface="Meiryo UI" panose="020B0604030504040204" pitchFamily="50" charset="-128"/>
                <a:ea typeface="Meiryo UI" panose="020B0604030504040204" pitchFamily="50" charset="-128"/>
              </a:rPr>
              <a:t>】</a:t>
            </a:r>
            <a:r>
              <a:rPr lang="ja-JP" altLang="en-US" sz="2100" b="1" dirty="0" smtClean="0">
                <a:latin typeface="Meiryo UI" panose="020B0604030504040204" pitchFamily="50" charset="-128"/>
                <a:ea typeface="Meiryo UI" panose="020B0604030504040204" pitchFamily="50" charset="-128"/>
              </a:rPr>
              <a:t>失踪</a:t>
            </a:r>
            <a:r>
              <a:rPr lang="ja-JP" altLang="en-US" sz="2100" b="1" dirty="0">
                <a:latin typeface="Meiryo UI" panose="020B0604030504040204" pitchFamily="50" charset="-128"/>
                <a:ea typeface="Meiryo UI" panose="020B0604030504040204" pitchFamily="50" charset="-128"/>
              </a:rPr>
              <a:t>予防指導　</a:t>
            </a:r>
          </a:p>
        </p:txBody>
      </p:sp>
      <p:sp>
        <p:nvSpPr>
          <p:cNvPr id="5" name="正方形/長方形 4"/>
          <p:cNvSpPr/>
          <p:nvPr/>
        </p:nvSpPr>
        <p:spPr>
          <a:xfrm>
            <a:off x="7115368" y="41174"/>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26299276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282700" y="749300"/>
            <a:ext cx="6057900" cy="369332"/>
          </a:xfrm>
          <a:prstGeom prst="rect">
            <a:avLst/>
          </a:prstGeom>
          <a:noFill/>
        </p:spPr>
        <p:txBody>
          <a:bodyPr wrap="square" rtlCol="0">
            <a:spAutoFit/>
          </a:bodyPr>
          <a:lstStyle/>
          <a:p>
            <a:r>
              <a:rPr kumimoji="1" lang="ja-JP" altLang="en-US" dirty="0" smtClean="0"/>
              <a:t>オンラインカジノ２枚</a:t>
            </a:r>
            <a:r>
              <a:rPr lang="en-US" altLang="ja-JP" dirty="0"/>
              <a:t> </a:t>
            </a:r>
            <a:r>
              <a:rPr lang="en-US" altLang="ja-JP" dirty="0" smtClean="0"/>
              <a:t>TIC </a:t>
            </a:r>
            <a:r>
              <a:rPr lang="ja-JP" altLang="en-US" dirty="0" smtClean="0"/>
              <a:t>中村さん待ち</a:t>
            </a:r>
            <a:endParaRPr kumimoji="1" lang="ja-JP" altLang="en-US" dirty="0"/>
          </a:p>
        </p:txBody>
      </p:sp>
    </p:spTree>
    <p:extLst>
      <p:ext uri="{BB962C8B-B14F-4D97-AF65-F5344CB8AC3E}">
        <p14:creationId xmlns:p14="http://schemas.microsoft.com/office/powerpoint/2010/main" val="42530091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255297" y="816698"/>
            <a:ext cx="4478048" cy="4832092"/>
          </a:xfrm>
          <a:prstGeom prst="rect">
            <a:avLst/>
          </a:prstGeom>
        </p:spPr>
        <p:txBody>
          <a:bodyPr wrap="square">
            <a:spAutoFit/>
          </a:bodyPr>
          <a:lstStyle/>
          <a:p>
            <a:r>
              <a:rPr lang="ja-JP" altLang="en-US" sz="1100" dirty="0">
                <a:latin typeface="Meiryo UI" panose="020B0604030504040204" pitchFamily="50" charset="-128"/>
                <a:ea typeface="Meiryo UI" panose="020B0604030504040204" pitchFamily="50" charset="-128"/>
              </a:rPr>
              <a:t>失踪しないために</a:t>
            </a:r>
            <a:br>
              <a:rPr lang="ja-JP" altLang="en-US" sz="1100" dirty="0">
                <a:latin typeface="Meiryo UI" panose="020B0604030504040204" pitchFamily="50" charset="-128"/>
                <a:ea typeface="Meiryo UI" panose="020B0604030504040204" pitchFamily="50" charset="-128"/>
              </a:rPr>
            </a:br>
            <a:r>
              <a:rPr lang="en-US" altLang="ja-JP" sz="1100" dirty="0">
                <a:latin typeface="Meiryo UI" panose="020B0604030504040204" pitchFamily="50" charset="-128"/>
                <a:ea typeface="Meiryo UI" panose="020B0604030504040204" pitchFamily="50" charset="-128"/>
              </a:rPr>
              <a:t>Agar </a:t>
            </a:r>
            <a:r>
              <a:rPr lang="en-US" altLang="ja-JP" sz="1100" dirty="0" err="1">
                <a:latin typeface="Meiryo UI" panose="020B0604030504040204" pitchFamily="50" charset="-128"/>
                <a:ea typeface="Meiryo UI" panose="020B0604030504040204" pitchFamily="50" charset="-128"/>
              </a:rPr>
              <a:t>tidak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meninggalkan</a:t>
            </a:r>
            <a:r>
              <a:rPr lang="en-US" altLang="ja-JP" sz="1100" dirty="0">
                <a:latin typeface="Meiryo UI" panose="020B0604030504040204" pitchFamily="50" charset="-128"/>
                <a:ea typeface="Meiryo UI" panose="020B0604030504040204" pitchFamily="50" charset="-128"/>
              </a:rPr>
              <a:t> program </a:t>
            </a:r>
            <a:r>
              <a:rPr lang="en-US" altLang="ja-JP" sz="1100" dirty="0" err="1">
                <a:latin typeface="Meiryo UI" panose="020B0604030504040204" pitchFamily="50" charset="-128"/>
                <a:ea typeface="Meiryo UI" panose="020B0604030504040204" pitchFamily="50" charset="-128"/>
              </a:rPr>
              <a:t>tanpa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izin</a:t>
            </a:r>
            <a:endParaRPr lang="en-US" altLang="ja-JP"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悪いさそいはきけんです。</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Ajakan</a:t>
            </a:r>
            <a:r>
              <a:rPr lang="en-US" altLang="ja-JP" sz="1100" dirty="0">
                <a:latin typeface="Meiryo UI" panose="020B0604030504040204" pitchFamily="50" charset="-128"/>
                <a:ea typeface="Meiryo UI" panose="020B0604030504040204" pitchFamily="50" charset="-128"/>
              </a:rPr>
              <a:t> yang </a:t>
            </a:r>
            <a:r>
              <a:rPr lang="en-US" altLang="ja-JP" sz="1100" dirty="0" err="1">
                <a:latin typeface="Meiryo UI" panose="020B0604030504040204" pitchFamily="50" charset="-128"/>
                <a:ea typeface="Meiryo UI" panose="020B0604030504040204" pitchFamily="50" charset="-128"/>
              </a:rPr>
              <a:t>buruk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sangat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berbahaya</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「いっしょにアルバイトしよう！」</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"Ayo </a:t>
            </a:r>
            <a:r>
              <a:rPr lang="en-US" altLang="ja-JP" sz="1100" dirty="0" err="1">
                <a:latin typeface="Meiryo UI" panose="020B0604030504040204" pitchFamily="50" charset="-128"/>
                <a:ea typeface="Meiryo UI" panose="020B0604030504040204" pitchFamily="50" charset="-128"/>
              </a:rPr>
              <a:t>bekerja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paruh</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waktu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bersama</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「ギャンブルしよう！」</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"Ayo </a:t>
            </a:r>
            <a:r>
              <a:rPr lang="en-US" altLang="ja-JP" sz="1100" dirty="0" err="1">
                <a:latin typeface="Meiryo UI" panose="020B0604030504040204" pitchFamily="50" charset="-128"/>
                <a:ea typeface="Meiryo UI" panose="020B0604030504040204" pitchFamily="50" charset="-128"/>
              </a:rPr>
              <a:t>berjudi</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「税金を返してもらえるよ！」</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a:t>
            </a:r>
            <a:r>
              <a:rPr lang="en-US" altLang="ja-JP" sz="1100" dirty="0" err="1">
                <a:latin typeface="Meiryo UI" panose="020B0604030504040204" pitchFamily="50" charset="-128"/>
                <a:ea typeface="Meiryo UI" panose="020B0604030504040204" pitchFamily="50" charset="-128"/>
              </a:rPr>
              <a:t>Kamu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bisa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mendapatkan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pengembalian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pajak</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「別の会社で働けるよ！」</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a:t>
            </a:r>
            <a:r>
              <a:rPr lang="en-US" altLang="ja-JP" sz="1100" dirty="0" err="1">
                <a:latin typeface="Meiryo UI" panose="020B0604030504040204" pitchFamily="50" charset="-128"/>
                <a:ea typeface="Meiryo UI" panose="020B0604030504040204" pitchFamily="50" charset="-128"/>
              </a:rPr>
              <a:t>Kamu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bisa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bekerja</a:t>
            </a:r>
            <a:r>
              <a:rPr lang="en-US" altLang="ja-JP" sz="1100" dirty="0">
                <a:latin typeface="Meiryo UI" panose="020B0604030504040204" pitchFamily="50" charset="-128"/>
                <a:ea typeface="Meiryo UI" panose="020B0604030504040204" pitchFamily="50" charset="-128"/>
              </a:rPr>
              <a:t> di </a:t>
            </a:r>
            <a:r>
              <a:rPr lang="en-US" altLang="ja-JP" sz="1100" dirty="0" err="1">
                <a:latin typeface="Meiryo UI" panose="020B0604030504040204" pitchFamily="50" charset="-128"/>
                <a:ea typeface="Meiryo UI" panose="020B0604030504040204" pitchFamily="50" charset="-128"/>
              </a:rPr>
              <a:t>perusahaan</a:t>
            </a:r>
            <a:r>
              <a:rPr lang="en-US" altLang="ja-JP" sz="1100" dirty="0">
                <a:latin typeface="Meiryo UI" panose="020B0604030504040204" pitchFamily="50" charset="-128"/>
                <a:ea typeface="Meiryo UI" panose="020B0604030504040204" pitchFamily="50" charset="-128"/>
              </a:rPr>
              <a:t> lain!"</a:t>
            </a:r>
          </a:p>
          <a:p>
            <a:r>
              <a:rPr lang="ja-JP" altLang="en-US" sz="1100" dirty="0">
                <a:latin typeface="Meiryo UI" panose="020B0604030504040204" pitchFamily="50" charset="-128"/>
                <a:ea typeface="Meiryo UI" panose="020B0604030504040204" pitchFamily="50" charset="-128"/>
              </a:rPr>
              <a:t>もしあやしい話を聞いたら、すぐに会社や組合にそうだんしてください。</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Jika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Anda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mendengar</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tawaran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atau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informasi</a:t>
            </a:r>
            <a:r>
              <a:rPr lang="en-US" altLang="ja-JP" sz="1100" dirty="0">
                <a:latin typeface="Meiryo UI" panose="020B0604030504040204" pitchFamily="50" charset="-128"/>
                <a:ea typeface="Meiryo UI" panose="020B0604030504040204" pitchFamily="50" charset="-128"/>
              </a:rPr>
              <a:t> yang </a:t>
            </a:r>
            <a:r>
              <a:rPr lang="en-US" altLang="ja-JP" sz="1100" dirty="0" err="1">
                <a:latin typeface="Meiryo UI" panose="020B0604030504040204" pitchFamily="50" charset="-128"/>
                <a:ea typeface="Meiryo UI" panose="020B0604030504040204" pitchFamily="50" charset="-128"/>
              </a:rPr>
              <a:t>mencurigakan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segera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konsultasikan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dengan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perusahaan</a:t>
            </a:r>
            <a:r>
              <a:rPr lang="en-US" altLang="ja-JP" sz="1100" dirty="0">
                <a:latin typeface="Meiryo UI" panose="020B0604030504040204" pitchFamily="50" charset="-128"/>
                <a:ea typeface="Meiryo UI" panose="020B0604030504040204" pitchFamily="50" charset="-128"/>
              </a:rPr>
              <a:t> </a:t>
            </a:r>
            <a:endParaRPr lang="en-US" altLang="ja-JP" sz="1100" dirty="0" smtClean="0">
              <a:latin typeface="Meiryo UI" panose="020B0604030504040204" pitchFamily="50" charset="-128"/>
              <a:ea typeface="Meiryo UI" panose="020B0604030504040204" pitchFamily="50" charset="-128"/>
            </a:endParaRPr>
          </a:p>
          <a:p>
            <a:r>
              <a:rPr lang="en-US" altLang="ja-JP" sz="1100" dirty="0" err="1" smtClean="0">
                <a:latin typeface="Meiryo UI" panose="020B0604030504040204" pitchFamily="50" charset="-128"/>
                <a:ea typeface="Meiryo UI" panose="020B0604030504040204" pitchFamily="50" charset="-128"/>
              </a:rPr>
              <a:t>atau</a:t>
            </a:r>
            <a:r>
              <a:rPr lang="en-US" altLang="ja-JP" sz="1100" dirty="0" smtClean="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serikat</a:t>
            </a:r>
            <a:r>
              <a:rPr lang="en-US" altLang="ja-JP" sz="1100" dirty="0">
                <a:latin typeface="Meiryo UI" panose="020B0604030504040204" pitchFamily="50" charset="-128"/>
                <a:ea typeface="Meiryo UI" panose="020B0604030504040204" pitchFamily="50" charset="-128"/>
              </a:rPr>
              <a:t>/</a:t>
            </a:r>
            <a:r>
              <a:rPr lang="en-US" altLang="ja-JP" sz="1100" dirty="0" err="1">
                <a:latin typeface="Meiryo UI" panose="020B0604030504040204" pitchFamily="50" charset="-128"/>
                <a:ea typeface="Meiryo UI" panose="020B0604030504040204" pitchFamily="50" charset="-128"/>
              </a:rPr>
              <a:t>organisasi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pengawas</a:t>
            </a:r>
            <a:r>
              <a:rPr lang="en-US" altLang="ja-JP" sz="1100" dirty="0">
                <a:latin typeface="Meiryo UI" panose="020B0604030504040204" pitchFamily="50" charset="-128"/>
                <a:ea typeface="Meiryo UI" panose="020B0604030504040204" pitchFamily="50" charset="-128"/>
              </a:rPr>
              <a:t>.</a:t>
            </a:r>
          </a:p>
          <a:p>
            <a:r>
              <a:rPr lang="en-US" altLang="ja-JP" sz="1100" dirty="0">
                <a:latin typeface="Meiryo UI" panose="020B0604030504040204" pitchFamily="50" charset="-128"/>
                <a:ea typeface="Meiryo UI" panose="020B0604030504040204" pitchFamily="50" charset="-128"/>
              </a:rPr>
              <a:t>SNS</a:t>
            </a:r>
            <a:r>
              <a:rPr lang="ja-JP" altLang="en-US" sz="1100" dirty="0">
                <a:latin typeface="Meiryo UI" panose="020B0604030504040204" pitchFamily="50" charset="-128"/>
                <a:ea typeface="Meiryo UI" panose="020B0604030504040204" pitchFamily="50" charset="-128"/>
              </a:rPr>
              <a:t>やメールのメッセージに注意</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Berhati-hatilah</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terhadap</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pesan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melalui</a:t>
            </a:r>
            <a:r>
              <a:rPr lang="en-US" altLang="ja-JP" sz="1100" dirty="0">
                <a:latin typeface="Meiryo UI" panose="020B0604030504040204" pitchFamily="50" charset="-128"/>
                <a:ea typeface="Meiryo UI" panose="020B0604030504040204" pitchFamily="50" charset="-128"/>
              </a:rPr>
              <a:t> media </a:t>
            </a:r>
            <a:r>
              <a:rPr lang="en-US" altLang="ja-JP" sz="1100" dirty="0" err="1">
                <a:latin typeface="Meiryo UI" panose="020B0604030504040204" pitchFamily="50" charset="-128"/>
                <a:ea typeface="Meiryo UI" panose="020B0604030504040204" pitchFamily="50" charset="-128"/>
              </a:rPr>
              <a:t>sosial</a:t>
            </a:r>
            <a:r>
              <a:rPr lang="en-US" altLang="ja-JP" sz="1100" dirty="0">
                <a:latin typeface="Meiryo UI" panose="020B0604030504040204" pitchFamily="50" charset="-128"/>
                <a:ea typeface="Meiryo UI" panose="020B0604030504040204" pitchFamily="50" charset="-128"/>
              </a:rPr>
              <a:t> (SNS) </a:t>
            </a:r>
            <a:r>
              <a:rPr lang="en-US" altLang="ja-JP" sz="1100" dirty="0" err="1">
                <a:latin typeface="Meiryo UI" panose="020B0604030504040204" pitchFamily="50" charset="-128"/>
                <a:ea typeface="Meiryo UI" panose="020B0604030504040204" pitchFamily="50" charset="-128"/>
              </a:rPr>
              <a:t>atau</a:t>
            </a:r>
            <a:r>
              <a:rPr lang="en-US" altLang="ja-JP" sz="1100" dirty="0">
                <a:latin typeface="Meiryo UI" panose="020B0604030504040204" pitchFamily="50" charset="-128"/>
                <a:ea typeface="Meiryo UI" panose="020B0604030504040204" pitchFamily="50" charset="-128"/>
              </a:rPr>
              <a:t> email.</a:t>
            </a:r>
          </a:p>
          <a:p>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ATM</a:t>
            </a:r>
            <a:r>
              <a:rPr lang="ja-JP" altLang="en-US" sz="1100" dirty="0">
                <a:latin typeface="Meiryo UI" panose="020B0604030504040204" pitchFamily="50" charset="-128"/>
                <a:ea typeface="Meiryo UI" panose="020B0604030504040204" pitchFamily="50" charset="-128"/>
              </a:rPr>
              <a:t>からお金をおろして」</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"Tarik </a:t>
            </a:r>
            <a:r>
              <a:rPr lang="en-US" altLang="ja-JP" sz="1100" dirty="0" err="1">
                <a:latin typeface="Meiryo UI" panose="020B0604030504040204" pitchFamily="50" charset="-128"/>
                <a:ea typeface="Meiryo UI" panose="020B0604030504040204" pitchFamily="50" charset="-128"/>
              </a:rPr>
              <a:t>uang</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dari</a:t>
            </a:r>
            <a:r>
              <a:rPr lang="en-US" altLang="ja-JP" sz="1100" dirty="0">
                <a:latin typeface="Meiryo UI" panose="020B0604030504040204" pitchFamily="50" charset="-128"/>
                <a:ea typeface="Meiryo UI" panose="020B0604030504040204" pitchFamily="50" charset="-128"/>
              </a:rPr>
              <a:t> ATM."</a:t>
            </a:r>
          </a:p>
          <a:p>
            <a:r>
              <a:rPr lang="ja-JP" altLang="en-US" sz="1100" dirty="0">
                <a:latin typeface="Meiryo UI" panose="020B0604030504040204" pitchFamily="50" charset="-128"/>
                <a:ea typeface="Meiryo UI" panose="020B0604030504040204" pitchFamily="50" charset="-128"/>
              </a:rPr>
              <a:t>「口座を貸して」</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a:t>
            </a:r>
            <a:r>
              <a:rPr lang="en-US" altLang="ja-JP" sz="1100" dirty="0" err="1">
                <a:latin typeface="Meiryo UI" panose="020B0604030504040204" pitchFamily="50" charset="-128"/>
                <a:ea typeface="Meiryo UI" panose="020B0604030504040204" pitchFamily="50" charset="-128"/>
              </a:rPr>
              <a:t>Pinjamkan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rekening</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bankmu</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「携帯を売って」</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a:t>
            </a:r>
            <a:r>
              <a:rPr lang="en-US" altLang="ja-JP" sz="1100" dirty="0" err="1">
                <a:latin typeface="Meiryo UI" panose="020B0604030504040204" pitchFamily="50" charset="-128"/>
                <a:ea typeface="Meiryo UI" panose="020B0604030504040204" pitchFamily="50" charset="-128"/>
              </a:rPr>
              <a:t>Jual</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telepon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genggammu</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これらの行動は全部犯罪です。</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Semua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tindakan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tersebut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merupakan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tindak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pidana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kejahatan</a:t>
            </a:r>
            <a:r>
              <a:rPr lang="en-US" altLang="ja-JP" sz="1100" dirty="0">
                <a:latin typeface="Meiryo UI" panose="020B0604030504040204" pitchFamily="50" charset="-128"/>
                <a:ea typeface="Meiryo UI" panose="020B0604030504040204" pitchFamily="50" charset="-128"/>
              </a:rPr>
              <a:t>).</a:t>
            </a:r>
          </a:p>
        </p:txBody>
      </p:sp>
      <p:sp>
        <p:nvSpPr>
          <p:cNvPr id="3" name="正方形/長方形 2"/>
          <p:cNvSpPr/>
          <p:nvPr/>
        </p:nvSpPr>
        <p:spPr>
          <a:xfrm>
            <a:off x="4322949" y="850397"/>
            <a:ext cx="5016500" cy="4662815"/>
          </a:xfrm>
          <a:prstGeom prst="rect">
            <a:avLst/>
          </a:prstGeom>
        </p:spPr>
        <p:txBody>
          <a:bodyPr wrap="square">
            <a:spAutoFit/>
          </a:bodyPr>
          <a:lstStyle/>
          <a:p>
            <a:r>
              <a:rPr lang="ja-JP" altLang="en-US" sz="1100" dirty="0">
                <a:latin typeface="Meiryo UI" panose="020B0604030504040204" pitchFamily="50" charset="-128"/>
                <a:ea typeface="Meiryo UI" panose="020B0604030504040204" pitchFamily="50" charset="-128"/>
              </a:rPr>
              <a:t>失踪するとどうなる？</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Apa</a:t>
            </a:r>
            <a:r>
              <a:rPr lang="en-US" altLang="ja-JP" sz="1100" dirty="0">
                <a:latin typeface="Meiryo UI" panose="020B0604030504040204" pitchFamily="50" charset="-128"/>
                <a:ea typeface="Meiryo UI" panose="020B0604030504040204" pitchFamily="50" charset="-128"/>
              </a:rPr>
              <a:t> yang </a:t>
            </a:r>
            <a:r>
              <a:rPr lang="en-US" altLang="ja-JP" sz="1100" dirty="0" err="1">
                <a:latin typeface="Meiryo UI" panose="020B0604030504040204" pitchFamily="50" charset="-128"/>
                <a:ea typeface="Meiryo UI" panose="020B0604030504040204" pitchFamily="50" charset="-128"/>
              </a:rPr>
              <a:t>terjadi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jika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meninggalkan</a:t>
            </a:r>
            <a:r>
              <a:rPr lang="en-US" altLang="ja-JP" sz="1100" dirty="0">
                <a:latin typeface="Meiryo UI" panose="020B0604030504040204" pitchFamily="50" charset="-128"/>
                <a:ea typeface="Meiryo UI" panose="020B0604030504040204" pitchFamily="50" charset="-128"/>
              </a:rPr>
              <a:t> program </a:t>
            </a:r>
            <a:r>
              <a:rPr lang="en-US" altLang="ja-JP" sz="1100" dirty="0" err="1">
                <a:latin typeface="Meiryo UI" panose="020B0604030504040204" pitchFamily="50" charset="-128"/>
                <a:ea typeface="Meiryo UI" panose="020B0604030504040204" pitchFamily="50" charset="-128"/>
              </a:rPr>
              <a:t>tanpa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izin</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仕事を失って、お金もなくなります。</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Anda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kehilangan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pekerjaan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tidak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memiliki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penghasilan</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家族や友達がとても心配します。</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Keluarga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teman-teman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sangat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mengkhawatirkan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Anda</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悪い人にだまされたり、犯罪にまきこまれることもあります。</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Anda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dapat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ditipu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oleh</a:t>
            </a:r>
            <a:r>
              <a:rPr lang="en-US" altLang="ja-JP" sz="1100" dirty="0">
                <a:latin typeface="Meiryo UI" panose="020B0604030504040204" pitchFamily="50" charset="-128"/>
                <a:ea typeface="Meiryo UI" panose="020B0604030504040204" pitchFamily="50" charset="-128"/>
              </a:rPr>
              <a:t> orang yang </a:t>
            </a:r>
            <a:r>
              <a:rPr lang="en-US" altLang="ja-JP" sz="1100" dirty="0" err="1">
                <a:latin typeface="Meiryo UI" panose="020B0604030504040204" pitchFamily="50" charset="-128"/>
                <a:ea typeface="Meiryo UI" panose="020B0604030504040204" pitchFamily="50" charset="-128"/>
              </a:rPr>
              <a:t>berniat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buruk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atau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terlibat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dalam</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tindak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kejahatan</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けがや病気をしても保険が使えません。</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Jika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mengalami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cedera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atau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sakit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Anda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mungkin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tidak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dapat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menggunakan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asuransi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kesehatan</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違う会社で働くと</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Jika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bekerja</a:t>
            </a:r>
            <a:r>
              <a:rPr lang="en-US" altLang="ja-JP" sz="1100" dirty="0">
                <a:latin typeface="Meiryo UI" panose="020B0604030504040204" pitchFamily="50" charset="-128"/>
                <a:ea typeface="Meiryo UI" panose="020B0604030504040204" pitchFamily="50" charset="-128"/>
              </a:rPr>
              <a:t> di </a:t>
            </a:r>
            <a:r>
              <a:rPr lang="en-US" altLang="ja-JP" sz="1100" dirty="0" err="1">
                <a:latin typeface="Meiryo UI" panose="020B0604030504040204" pitchFamily="50" charset="-128"/>
                <a:ea typeface="Meiryo UI" panose="020B0604030504040204" pitchFamily="50" charset="-128"/>
              </a:rPr>
              <a:t>perusahaan</a:t>
            </a:r>
            <a:r>
              <a:rPr lang="en-US" altLang="ja-JP" sz="1100" dirty="0">
                <a:latin typeface="Meiryo UI" panose="020B0604030504040204" pitchFamily="50" charset="-128"/>
                <a:ea typeface="Meiryo UI" panose="020B0604030504040204" pitchFamily="50" charset="-128"/>
              </a:rPr>
              <a:t> lain </a:t>
            </a:r>
            <a:r>
              <a:rPr lang="en-US" altLang="ja-JP" sz="1100" dirty="0" err="1">
                <a:latin typeface="Meiryo UI" panose="020B0604030504040204" pitchFamily="50" charset="-128"/>
                <a:ea typeface="Meiryo UI" panose="020B0604030504040204" pitchFamily="50" charset="-128"/>
              </a:rPr>
              <a:t>tanpa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izin</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それは資格外活動になります。</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hal</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tersebut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termasuk</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kegiatan</a:t>
            </a:r>
            <a:r>
              <a:rPr lang="en-US" altLang="ja-JP" sz="1100" dirty="0">
                <a:latin typeface="Meiryo UI" panose="020B0604030504040204" pitchFamily="50" charset="-128"/>
                <a:ea typeface="Meiryo UI" panose="020B0604030504040204" pitchFamily="50" charset="-128"/>
              </a:rPr>
              <a:t> di </a:t>
            </a:r>
            <a:r>
              <a:rPr lang="en-US" altLang="ja-JP" sz="1100" dirty="0" err="1">
                <a:latin typeface="Meiryo UI" panose="020B0604030504040204" pitchFamily="50" charset="-128"/>
                <a:ea typeface="Meiryo UI" panose="020B0604030504040204" pitchFamily="50" charset="-128"/>
              </a:rPr>
              <a:t>luar</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izin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tinggal</a:t>
            </a:r>
            <a:r>
              <a:rPr lang="en-US" altLang="ja-JP" sz="1100" dirty="0">
                <a:latin typeface="Meiryo UI" panose="020B0604030504040204" pitchFamily="50" charset="-128"/>
                <a:ea typeface="Meiryo UI" panose="020B0604030504040204" pitchFamily="50" charset="-128"/>
              </a:rPr>
              <a:t> yang </a:t>
            </a:r>
            <a:r>
              <a:rPr lang="en-US" altLang="ja-JP" sz="1100" dirty="0" err="1">
                <a:latin typeface="Meiryo UI" panose="020B0604030504040204" pitchFamily="50" charset="-128"/>
                <a:ea typeface="Meiryo UI" panose="020B0604030504040204" pitchFamily="50" charset="-128"/>
              </a:rPr>
              <a:t>dimiliki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pelanggaran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izin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tinggal</a:t>
            </a:r>
            <a:r>
              <a:rPr lang="en-US" altLang="ja-JP" sz="1100" dirty="0">
                <a:latin typeface="Meiryo UI" panose="020B0604030504040204" pitchFamily="50" charset="-128"/>
                <a:ea typeface="Meiryo UI" panose="020B0604030504040204" pitchFamily="50" charset="-128"/>
              </a:rPr>
              <a:t>).</a:t>
            </a:r>
          </a:p>
          <a:p>
            <a:r>
              <a:rPr lang="en-US" altLang="ja-JP" sz="1100" dirty="0">
                <a:latin typeface="Meiryo UI" panose="020B0604030504040204" pitchFamily="50" charset="-128"/>
                <a:ea typeface="Meiryo UI" panose="020B0604030504040204" pitchFamily="50" charset="-128"/>
              </a:rPr>
              <a:t>3</a:t>
            </a:r>
            <a:r>
              <a:rPr lang="ja-JP" altLang="en-US" sz="1100" dirty="0">
                <a:latin typeface="Meiryo UI" panose="020B0604030504040204" pitchFamily="50" charset="-128"/>
                <a:ea typeface="Meiryo UI" panose="020B0604030504040204" pitchFamily="50" charset="-128"/>
              </a:rPr>
              <a:t>年以下の懲役や</a:t>
            </a:r>
            <a:r>
              <a:rPr lang="en-US" altLang="ja-JP" sz="1100" dirty="0">
                <a:latin typeface="Meiryo UI" panose="020B0604030504040204" pitchFamily="50" charset="-128"/>
                <a:ea typeface="Meiryo UI" panose="020B0604030504040204" pitchFamily="50" charset="-128"/>
              </a:rPr>
              <a:t>300</a:t>
            </a:r>
            <a:r>
              <a:rPr lang="ja-JP" altLang="en-US" sz="1100" dirty="0">
                <a:latin typeface="Meiryo UI" panose="020B0604030504040204" pitchFamily="50" charset="-128"/>
                <a:ea typeface="Meiryo UI" panose="020B0604030504040204" pitchFamily="50" charset="-128"/>
              </a:rPr>
              <a:t>万円以下の罰金になることもあります。</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Anda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dapat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dikenakan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hukuman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penjara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hingga</a:t>
            </a:r>
            <a:r>
              <a:rPr lang="en-US" altLang="ja-JP" sz="1100" dirty="0">
                <a:latin typeface="Meiryo UI" panose="020B0604030504040204" pitchFamily="50" charset="-128"/>
                <a:ea typeface="Meiryo UI" panose="020B0604030504040204" pitchFamily="50" charset="-128"/>
              </a:rPr>
              <a:t> 3 </a:t>
            </a:r>
            <a:r>
              <a:rPr lang="en-US" altLang="ja-JP" sz="1100" dirty="0" err="1">
                <a:latin typeface="Meiryo UI" panose="020B0604030504040204" pitchFamily="50" charset="-128"/>
                <a:ea typeface="Meiryo UI" panose="020B0604030504040204" pitchFamily="50" charset="-128"/>
              </a:rPr>
              <a:t>tahun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atau</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denda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hingga</a:t>
            </a:r>
            <a:r>
              <a:rPr lang="en-US" altLang="ja-JP" sz="1100" dirty="0">
                <a:latin typeface="Meiryo UI" panose="020B0604030504040204" pitchFamily="50" charset="-128"/>
                <a:ea typeface="Meiryo UI" panose="020B0604030504040204" pitchFamily="50" charset="-128"/>
              </a:rPr>
              <a:t> 3 </a:t>
            </a:r>
            <a:r>
              <a:rPr lang="en-US" altLang="ja-JP" sz="1100" dirty="0" err="1">
                <a:latin typeface="Meiryo UI" panose="020B0604030504040204" pitchFamily="50" charset="-128"/>
                <a:ea typeface="Meiryo UI" panose="020B0604030504040204" pitchFamily="50" charset="-128"/>
              </a:rPr>
              <a:t>juta</a:t>
            </a:r>
            <a:r>
              <a:rPr lang="en-US" altLang="ja-JP" sz="1100" dirty="0">
                <a:latin typeface="Meiryo UI" panose="020B0604030504040204" pitchFamily="50" charset="-128"/>
                <a:ea typeface="Meiryo UI" panose="020B0604030504040204" pitchFamily="50" charset="-128"/>
              </a:rPr>
              <a:t> yen.</a:t>
            </a:r>
          </a:p>
          <a:p>
            <a:r>
              <a:rPr lang="ja-JP" altLang="en-US" sz="1100" dirty="0">
                <a:latin typeface="Meiryo UI" panose="020B0604030504040204" pitchFamily="50" charset="-128"/>
                <a:ea typeface="Meiryo UI" panose="020B0604030504040204" pitchFamily="50" charset="-128"/>
              </a:rPr>
              <a:t>困ったときは、一人で悩まないで、すぐに相談してください。</a:t>
            </a:r>
            <a:br>
              <a:rPr lang="ja-JP" altLang="en-US" sz="1100" dirty="0">
                <a:latin typeface="Meiryo UI" panose="020B0604030504040204" pitchFamily="50" charset="-128"/>
                <a:ea typeface="Meiryo UI" panose="020B0604030504040204" pitchFamily="50" charset="-128"/>
              </a:rPr>
            </a:br>
            <a:r>
              <a:rPr lang="en-US" altLang="ja-JP" sz="1100" dirty="0" err="1">
                <a:latin typeface="Meiryo UI" panose="020B0604030504040204" pitchFamily="50" charset="-128"/>
                <a:ea typeface="Meiryo UI" panose="020B0604030504040204" pitchFamily="50" charset="-128"/>
              </a:rPr>
              <a:t>Jika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mengalami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kesulitan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jangan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memendam</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masalah</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sendirian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Segera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konsultasikan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dengan</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pihak</a:t>
            </a:r>
            <a:r>
              <a:rPr lang="en-US" altLang="ja-JP" sz="1100" dirty="0">
                <a:latin typeface="Meiryo UI" panose="020B0604030504040204" pitchFamily="50" charset="-128"/>
                <a:ea typeface="Meiryo UI" panose="020B0604030504040204" pitchFamily="50" charset="-128"/>
              </a:rPr>
              <a:t> yang </a:t>
            </a:r>
            <a:r>
              <a:rPr lang="en-US" altLang="ja-JP" sz="1100" dirty="0" err="1">
                <a:latin typeface="Meiryo UI" panose="020B0604030504040204" pitchFamily="50" charset="-128"/>
                <a:ea typeface="Meiryo UI" panose="020B0604030504040204" pitchFamily="50" charset="-128"/>
              </a:rPr>
              <a:t>dapat</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membantu</a:t>
            </a:r>
            <a:r>
              <a:rPr lang="en-US" altLang="ja-JP" sz="1100" dirty="0">
                <a:latin typeface="Meiryo UI" panose="020B0604030504040204" pitchFamily="50" charset="-128"/>
                <a:ea typeface="Meiryo UI" panose="020B0604030504040204" pitchFamily="50" charset="-128"/>
              </a:rPr>
              <a:t>.</a:t>
            </a:r>
          </a:p>
          <a:p>
            <a:r>
              <a:rPr lang="ja-JP" altLang="en-US" sz="1100" dirty="0">
                <a:latin typeface="Meiryo UI" panose="020B0604030504040204" pitchFamily="50" charset="-128"/>
                <a:ea typeface="Meiryo UI" panose="020B0604030504040204" pitchFamily="50" charset="-128"/>
              </a:rPr>
              <a:t>会社</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a:latin typeface="Meiryo UI" panose="020B0604030504040204" pitchFamily="50" charset="-128"/>
                <a:ea typeface="Meiryo UI" panose="020B0604030504040204" pitchFamily="50" charset="-128"/>
              </a:rPr>
              <a:t>Perusahaan</a:t>
            </a:r>
          </a:p>
          <a:p>
            <a:r>
              <a:rPr lang="ja-JP" altLang="en-US" sz="1100" dirty="0">
                <a:latin typeface="Meiryo UI" panose="020B0604030504040204" pitchFamily="50" charset="-128"/>
                <a:ea typeface="Meiryo UI" panose="020B0604030504040204" pitchFamily="50" charset="-128"/>
              </a:rPr>
              <a:t>監理団体</a:t>
            </a:r>
            <a:br>
              <a:rPr lang="ja-JP" altLang="en-US"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Lembaga</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pengawas</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Organisasi</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pengawas</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magang</a:t>
            </a:r>
            <a:r>
              <a:rPr lang="en-US" altLang="ja-JP" sz="1100" dirty="0">
                <a:latin typeface="Meiryo UI" panose="020B0604030504040204" pitchFamily="50" charset="-128"/>
                <a:ea typeface="Meiryo UI" panose="020B0604030504040204" pitchFamily="50" charset="-128"/>
              </a:rPr>
              <a:t> </a:t>
            </a:r>
            <a:r>
              <a:rPr lang="en-US" altLang="ja-JP" sz="1100" dirty="0" err="1">
                <a:latin typeface="Meiryo UI" panose="020B0604030504040204" pitchFamily="50" charset="-128"/>
                <a:ea typeface="Meiryo UI" panose="020B0604030504040204" pitchFamily="50" charset="-128"/>
              </a:rPr>
              <a:t>teknis</a:t>
            </a:r>
            <a:r>
              <a:rPr lang="en-US" altLang="ja-JP" sz="1100" dirty="0">
                <a:latin typeface="Meiryo UI" panose="020B0604030504040204" pitchFamily="50" charset="-128"/>
                <a:ea typeface="Meiryo UI" panose="020B0604030504040204" pitchFamily="50" charset="-128"/>
              </a:rPr>
              <a:t>)</a:t>
            </a:r>
          </a:p>
        </p:txBody>
      </p:sp>
      <p:sp>
        <p:nvSpPr>
          <p:cNvPr id="4" name="テキスト ボックス 3"/>
          <p:cNvSpPr txBox="1"/>
          <p:nvPr/>
        </p:nvSpPr>
        <p:spPr>
          <a:xfrm>
            <a:off x="2844800" y="0"/>
            <a:ext cx="4222749" cy="461665"/>
          </a:xfrm>
          <a:prstGeom prst="rect">
            <a:avLst/>
          </a:prstGeom>
          <a:noFill/>
        </p:spPr>
        <p:txBody>
          <a:bodyPr wrap="square" rtlCol="0">
            <a:spAutoFit/>
          </a:bodyPr>
          <a:lstStyle/>
          <a:p>
            <a:pPr algn="ctr"/>
            <a:r>
              <a:rPr lang="en-US" altLang="ja-JP" sz="2400" b="1" dirty="0">
                <a:latin typeface="Arial" pitchFamily="34" charset="0"/>
                <a:ea typeface="Meiryo UI" panose="020B0604030504040204" pitchFamily="50" charset="-128"/>
                <a:cs typeface="Arial" pitchFamily="34" charset="0"/>
              </a:rPr>
              <a:t>【</a:t>
            </a:r>
            <a:r>
              <a:rPr lang="ja-JP" altLang="en-US" sz="2400" b="1" dirty="0">
                <a:latin typeface="Arial" pitchFamily="34" charset="0"/>
                <a:ea typeface="Meiryo UI" panose="020B0604030504040204" pitchFamily="50" charset="-128"/>
                <a:cs typeface="Arial" pitchFamily="34" charset="0"/>
              </a:rPr>
              <a:t>技能実習生</a:t>
            </a:r>
            <a:r>
              <a:rPr lang="en-US" altLang="ja-JP" sz="2400" b="1" dirty="0" smtClean="0">
                <a:latin typeface="Arial" pitchFamily="34" charset="0"/>
                <a:ea typeface="Meiryo UI" panose="020B0604030504040204" pitchFamily="50" charset="-128"/>
                <a:cs typeface="Arial" pitchFamily="34" charset="0"/>
              </a:rPr>
              <a:t>】</a:t>
            </a:r>
            <a:r>
              <a:rPr lang="ja-JP" altLang="en-US" sz="2100" b="1" dirty="0" smtClean="0">
                <a:latin typeface="Arial" pitchFamily="34" charset="0"/>
                <a:ea typeface="Meiryo UI" panose="020B0604030504040204" pitchFamily="50" charset="-128"/>
                <a:cs typeface="Arial" pitchFamily="34" charset="0"/>
              </a:rPr>
              <a:t>失踪</a:t>
            </a:r>
            <a:r>
              <a:rPr lang="ja-JP" altLang="en-US" sz="2100" b="1" dirty="0">
                <a:latin typeface="Arial" pitchFamily="34" charset="0"/>
                <a:ea typeface="Meiryo UI" panose="020B0604030504040204" pitchFamily="50" charset="-128"/>
                <a:cs typeface="Arial" pitchFamily="34" charset="0"/>
              </a:rPr>
              <a:t>予防指導　</a:t>
            </a:r>
          </a:p>
        </p:txBody>
      </p:sp>
      <p:sp>
        <p:nvSpPr>
          <p:cNvPr id="5" name="正方形/長方形 4"/>
          <p:cNvSpPr/>
          <p:nvPr/>
        </p:nvSpPr>
        <p:spPr>
          <a:xfrm>
            <a:off x="1581021" y="556800"/>
            <a:ext cx="6229479" cy="276999"/>
          </a:xfrm>
          <a:prstGeom prst="rect">
            <a:avLst/>
          </a:prstGeom>
        </p:spPr>
        <p:txBody>
          <a:bodyPr wrap="square">
            <a:spAutoFit/>
          </a:bodyPr>
          <a:lstStyle/>
          <a:p>
            <a:r>
              <a:rPr lang="en-US" altLang="ja-JP" sz="1200" dirty="0"/>
              <a:t>【</a:t>
            </a:r>
            <a:r>
              <a:rPr lang="en-US" altLang="ja-JP" sz="1200" dirty="0" err="1"/>
              <a:t>Peserta</a:t>
            </a:r>
            <a:r>
              <a:rPr lang="en-US" altLang="ja-JP" sz="1200" dirty="0"/>
              <a:t> </a:t>
            </a:r>
            <a:r>
              <a:rPr lang="en-US" altLang="ja-JP" sz="1200" dirty="0" err="1"/>
              <a:t>Magang</a:t>
            </a:r>
            <a:r>
              <a:rPr lang="en-US" altLang="ja-JP" sz="1200" dirty="0"/>
              <a:t> </a:t>
            </a:r>
            <a:r>
              <a:rPr lang="en-US" altLang="ja-JP" sz="1200" dirty="0" err="1"/>
              <a:t>Teknis】Penyuluhan</a:t>
            </a:r>
            <a:r>
              <a:rPr lang="en-US" altLang="ja-JP" sz="1200" dirty="0"/>
              <a:t> </a:t>
            </a:r>
            <a:r>
              <a:rPr lang="en-US" altLang="ja-JP" sz="1200" dirty="0" err="1"/>
              <a:t>Pencegahan</a:t>
            </a:r>
            <a:r>
              <a:rPr lang="en-US" altLang="ja-JP" sz="1200" dirty="0"/>
              <a:t> </a:t>
            </a:r>
            <a:r>
              <a:rPr lang="en-US" altLang="ja-JP" sz="1200" dirty="0" err="1"/>
              <a:t>Tindakan</a:t>
            </a:r>
            <a:r>
              <a:rPr lang="en-US" altLang="ja-JP" sz="1200" dirty="0"/>
              <a:t> </a:t>
            </a:r>
            <a:r>
              <a:rPr lang="en-US" altLang="ja-JP" sz="1200" dirty="0" err="1"/>
              <a:t>Meninggalkan</a:t>
            </a:r>
            <a:r>
              <a:rPr lang="en-US" altLang="ja-JP" sz="1200" dirty="0"/>
              <a:t> Program </a:t>
            </a:r>
            <a:r>
              <a:rPr lang="en-US" altLang="ja-JP" sz="1200" dirty="0" err="1"/>
              <a:t>tanpa</a:t>
            </a:r>
            <a:r>
              <a:rPr lang="en-US" altLang="ja-JP" sz="1200" dirty="0"/>
              <a:t> </a:t>
            </a:r>
            <a:r>
              <a:rPr lang="en-US" altLang="ja-JP" sz="1200" dirty="0" err="1"/>
              <a:t>Izin</a:t>
            </a:r>
            <a:endParaRPr lang="ja-JP" altLang="en-US" sz="1200" b="1" dirty="0">
              <a:latin typeface="Arial" pitchFamily="34" charset="0"/>
              <a:cs typeface="Arial" pitchFamily="34" charset="0"/>
            </a:endParaRPr>
          </a:p>
        </p:txBody>
      </p:sp>
      <p:sp>
        <p:nvSpPr>
          <p:cNvPr id="6" name="正方形/長方形 5"/>
          <p:cNvSpPr/>
          <p:nvPr/>
        </p:nvSpPr>
        <p:spPr>
          <a:xfrm>
            <a:off x="0" y="5567200"/>
            <a:ext cx="8950698" cy="307777"/>
          </a:xfrm>
          <a:prstGeom prst="rect">
            <a:avLst/>
          </a:prstGeom>
        </p:spPr>
        <p:txBody>
          <a:bodyPr wrap="square">
            <a:spAutoFit/>
          </a:bodyPr>
          <a:lstStyle/>
          <a:p>
            <a:r>
              <a:rPr lang="ja-JP" altLang="en-US" sz="1400" b="1" dirty="0" smtClean="0">
                <a:latin typeface="Arial" pitchFamily="34" charset="0"/>
                <a:ea typeface="Meiryo UI" panose="020B0604030504040204" pitchFamily="50" charset="-128"/>
                <a:cs typeface="Arial" pitchFamily="34" charset="0"/>
              </a:rPr>
              <a:t>■最後に</a:t>
            </a:r>
            <a:r>
              <a:rPr lang="en-US" altLang="ja-JP" sz="1400" b="1" dirty="0" smtClean="0">
                <a:latin typeface="Arial" pitchFamily="34" charset="0"/>
                <a:ea typeface="Meiryo UI" panose="020B0604030504040204" pitchFamily="50" charset="-128"/>
                <a:cs typeface="Arial" pitchFamily="34" charset="0"/>
              </a:rPr>
              <a:t>:</a:t>
            </a:r>
            <a:r>
              <a:rPr lang="ja-JP" altLang="en-US" sz="1400" b="1" dirty="0" smtClean="0">
                <a:latin typeface="Arial" pitchFamily="34" charset="0"/>
                <a:ea typeface="Meiryo UI" panose="020B0604030504040204" pitchFamily="50" charset="-128"/>
                <a:cs typeface="Arial" pitchFamily="34" charset="0"/>
              </a:rPr>
              <a:t> 日本</a:t>
            </a:r>
            <a:r>
              <a:rPr lang="ja-JP" altLang="en-US" sz="1400" b="1" dirty="0">
                <a:latin typeface="Arial" pitchFamily="34" charset="0"/>
                <a:ea typeface="Meiryo UI" panose="020B0604030504040204" pitchFamily="50" charset="-128"/>
                <a:cs typeface="Arial" pitchFamily="34" charset="0"/>
              </a:rPr>
              <a:t>での生活や仕事では</a:t>
            </a:r>
            <a:r>
              <a:rPr lang="ja-JP" altLang="en-US" sz="1400" b="1" dirty="0" smtClean="0">
                <a:latin typeface="Arial" pitchFamily="34" charset="0"/>
                <a:ea typeface="Meiryo UI" panose="020B0604030504040204" pitchFamily="50" charset="-128"/>
                <a:cs typeface="Arial" pitchFamily="34" charset="0"/>
              </a:rPr>
              <a:t>、ルール</a:t>
            </a:r>
            <a:r>
              <a:rPr lang="ja-JP" altLang="en-US" sz="1400" b="1" dirty="0">
                <a:latin typeface="Arial" pitchFamily="34" charset="0"/>
                <a:ea typeface="Meiryo UI" panose="020B0604030504040204" pitchFamily="50" charset="-128"/>
                <a:cs typeface="Arial" pitchFamily="34" charset="0"/>
              </a:rPr>
              <a:t>を守り、困ったら相談することが大切です</a:t>
            </a:r>
            <a:r>
              <a:rPr lang="ja-JP" altLang="en-US" sz="1400" b="1" dirty="0" smtClean="0">
                <a:latin typeface="Arial" pitchFamily="34" charset="0"/>
                <a:ea typeface="Meiryo UI" panose="020B0604030504040204" pitchFamily="50" charset="-128"/>
                <a:cs typeface="Arial" pitchFamily="34" charset="0"/>
              </a:rPr>
              <a:t>。</a:t>
            </a:r>
            <a:endParaRPr lang="ja-JP" altLang="en-US" sz="1400" b="1" dirty="0">
              <a:latin typeface="Arial" pitchFamily="34" charset="0"/>
              <a:ea typeface="Meiryo UI" panose="020B0604030504040204" pitchFamily="50" charset="-128"/>
              <a:cs typeface="Arial" pitchFamily="34" charset="0"/>
            </a:endParaRPr>
          </a:p>
        </p:txBody>
      </p:sp>
      <p:sp>
        <p:nvSpPr>
          <p:cNvPr id="9" name="正方形/長方形 8"/>
          <p:cNvSpPr/>
          <p:nvPr/>
        </p:nvSpPr>
        <p:spPr>
          <a:xfrm>
            <a:off x="242597" y="5850055"/>
            <a:ext cx="8143940" cy="261610"/>
          </a:xfrm>
          <a:prstGeom prst="rect">
            <a:avLst/>
          </a:prstGeom>
        </p:spPr>
        <p:txBody>
          <a:bodyPr wrap="square">
            <a:spAutoFit/>
          </a:bodyPr>
          <a:lstStyle/>
          <a:p>
            <a:r>
              <a:rPr lang="sv-SE" altLang="ja-JP" sz="1100" dirty="0"/>
              <a:t>Dalam kehidupan dan pekerjaan di Jepang, sangat penting untuk mematuhi peraturan dan segera berkonsultasi jika menghadapi kesulitan.</a:t>
            </a:r>
            <a:endParaRPr lang="ja-JP" altLang="en-US" sz="1100" dirty="0"/>
          </a:p>
        </p:txBody>
      </p:sp>
      <p:grpSp>
        <p:nvGrpSpPr>
          <p:cNvPr id="11" name="グループ化 10"/>
          <p:cNvGrpSpPr/>
          <p:nvPr/>
        </p:nvGrpSpPr>
        <p:grpSpPr>
          <a:xfrm>
            <a:off x="255297" y="6143464"/>
            <a:ext cx="8005537" cy="481888"/>
            <a:chOff x="255297" y="6143464"/>
            <a:chExt cx="8005537" cy="481888"/>
          </a:xfrm>
        </p:grpSpPr>
        <p:sp>
          <p:nvSpPr>
            <p:cNvPr id="7" name="正方形/長方形 6"/>
            <p:cNvSpPr/>
            <p:nvPr/>
          </p:nvSpPr>
          <p:spPr>
            <a:xfrm>
              <a:off x="255297" y="6163687"/>
              <a:ext cx="6812252" cy="461665"/>
            </a:xfrm>
            <a:prstGeom prst="rect">
              <a:avLst/>
            </a:prstGeom>
            <a:ln>
              <a:solidFill>
                <a:schemeClr val="tx2"/>
              </a:solidFill>
            </a:ln>
          </p:spPr>
          <p:txBody>
            <a:bodyPr wrap="square">
              <a:spAutoFit/>
            </a:bodyPr>
            <a:lstStyle/>
            <a:p>
              <a:r>
                <a:rPr lang="ja-JP" altLang="en-US" sz="1200" b="1" dirty="0">
                  <a:latin typeface="Arial" pitchFamily="34" charset="0"/>
                  <a:ea typeface="Meiryo UI" panose="020B0604030504040204" pitchFamily="50" charset="-128"/>
                  <a:cs typeface="Arial" pitchFamily="34" charset="0"/>
                </a:rPr>
                <a:t>外国人技能実習生専用ホットライン</a:t>
              </a:r>
            </a:p>
            <a:p>
              <a:r>
                <a:rPr lang="en-US" altLang="ja-JP" sz="1200" dirty="0" smtClean="0">
                  <a:latin typeface="Arial" pitchFamily="34" charset="0"/>
                  <a:ea typeface="Meiryo UI" panose="020B0604030504040204" pitchFamily="50" charset="-128"/>
                  <a:cs typeface="Arial" pitchFamily="34" charset="0"/>
                </a:rPr>
                <a:t>0120-181-464</a:t>
              </a:r>
              <a:endParaRPr lang="ja-JP" altLang="en-US" sz="1200" dirty="0">
                <a:latin typeface="Arial" pitchFamily="34" charset="0"/>
                <a:ea typeface="Meiryo UI" panose="020B0604030504040204" pitchFamily="50" charset="-128"/>
                <a:cs typeface="Arial" pitchFamily="34" charset="0"/>
              </a:endParaRPr>
            </a:p>
          </p:txBody>
        </p:sp>
        <p:sp>
          <p:nvSpPr>
            <p:cNvPr id="10" name="正方形/長方形 9"/>
            <p:cNvSpPr/>
            <p:nvPr/>
          </p:nvSpPr>
          <p:spPr>
            <a:xfrm>
              <a:off x="2692400" y="6143464"/>
              <a:ext cx="5568434" cy="307777"/>
            </a:xfrm>
            <a:prstGeom prst="rect">
              <a:avLst/>
            </a:prstGeom>
          </p:spPr>
          <p:txBody>
            <a:bodyPr wrap="square">
              <a:spAutoFit/>
            </a:bodyPr>
            <a:lstStyle/>
            <a:p>
              <a:r>
                <a:rPr lang="en-US" altLang="ja-JP" sz="1400" dirty="0"/>
                <a:t>Hotline </a:t>
              </a:r>
              <a:r>
                <a:rPr lang="en-US" altLang="ja-JP" sz="1400" dirty="0" err="1"/>
                <a:t>Khusus</a:t>
              </a:r>
              <a:r>
                <a:rPr lang="en-US" altLang="ja-JP" sz="1400" dirty="0"/>
                <a:t> </a:t>
              </a:r>
              <a:r>
                <a:rPr lang="en-US" altLang="ja-JP" sz="1400" dirty="0" err="1"/>
                <a:t>untuk</a:t>
              </a:r>
              <a:r>
                <a:rPr lang="en-US" altLang="ja-JP" sz="1400" dirty="0"/>
                <a:t> </a:t>
              </a:r>
              <a:r>
                <a:rPr lang="en-US" altLang="ja-JP" sz="1400" dirty="0" err="1"/>
                <a:t>Peserta</a:t>
              </a:r>
              <a:r>
                <a:rPr lang="en-US" altLang="ja-JP" sz="1400" dirty="0"/>
                <a:t> </a:t>
              </a:r>
              <a:r>
                <a:rPr lang="en-US" altLang="ja-JP" sz="1400" dirty="0" err="1"/>
                <a:t>Magang</a:t>
              </a:r>
              <a:r>
                <a:rPr lang="en-US" altLang="ja-JP" sz="1400" dirty="0"/>
                <a:t> </a:t>
              </a:r>
              <a:r>
                <a:rPr lang="en-US" altLang="ja-JP" sz="1400" dirty="0" err="1"/>
                <a:t>Teknis</a:t>
              </a:r>
              <a:r>
                <a:rPr lang="en-US" altLang="ja-JP" sz="1400" dirty="0"/>
                <a:t> </a:t>
              </a:r>
              <a:r>
                <a:rPr lang="en-US" altLang="ja-JP" sz="1400" dirty="0" err="1"/>
                <a:t>Asing</a:t>
              </a:r>
              <a:endParaRPr lang="ja-JP" altLang="en-US" sz="1400" dirty="0"/>
            </a:p>
          </p:txBody>
        </p:sp>
      </p:grpSp>
      <p:sp>
        <p:nvSpPr>
          <p:cNvPr id="12" name="正方形/長方形 11"/>
          <p:cNvSpPr/>
          <p:nvPr/>
        </p:nvSpPr>
        <p:spPr>
          <a:xfrm>
            <a:off x="7212355" y="78235"/>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4748379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3682206" y="47974"/>
            <a:ext cx="4713287" cy="369332"/>
          </a:xfrm>
          <a:prstGeom prst="rect">
            <a:avLst/>
          </a:prstGeom>
        </p:spPr>
        <p:txBody>
          <a:bodyPr wrap="square">
            <a:spAutoFit/>
          </a:bodyPr>
          <a:lstStyle/>
          <a:p>
            <a:r>
              <a:rPr lang="fi-FI" altLang="ja-JP" dirty="0"/>
              <a:t>Tindakan dan Prosedur Pelaporan Saat Sakit</a:t>
            </a:r>
            <a:endParaRPr lang="en-US" altLang="ja-JP" b="1" dirty="0">
              <a:latin typeface="Arial" pitchFamily="34" charset="0"/>
              <a:cs typeface="Arial" pitchFamily="34" charset="0"/>
            </a:endParaRPr>
          </a:p>
        </p:txBody>
      </p:sp>
      <p:sp>
        <p:nvSpPr>
          <p:cNvPr id="3" name="正方形/長方形 2"/>
          <p:cNvSpPr/>
          <p:nvPr/>
        </p:nvSpPr>
        <p:spPr>
          <a:xfrm>
            <a:off x="438450" y="17196"/>
            <a:ext cx="3352200" cy="400110"/>
          </a:xfrm>
          <a:prstGeom prst="rect">
            <a:avLst/>
          </a:prstGeom>
        </p:spPr>
        <p:txBody>
          <a:bodyPr wrap="none">
            <a:spAutoFit/>
          </a:bodyPr>
          <a:lstStyle/>
          <a:p>
            <a:r>
              <a:rPr lang="ja-JP" altLang="en-US" sz="2000" b="1" dirty="0">
                <a:latin typeface="Arial" pitchFamily="34" charset="0"/>
                <a:ea typeface="Meiryo UI" panose="020B0604030504040204" pitchFamily="50" charset="-128"/>
                <a:cs typeface="Arial" pitchFamily="34" charset="0"/>
              </a:rPr>
              <a:t>病気になったときの連絡と対応</a:t>
            </a:r>
            <a:endParaRPr lang="en-US" altLang="ja-JP" sz="2000" b="1" dirty="0">
              <a:latin typeface="Arial" pitchFamily="34" charset="0"/>
              <a:ea typeface="Meiryo UI" panose="020B0604030504040204" pitchFamily="50" charset="-128"/>
              <a:cs typeface="Arial" pitchFamily="34" charset="0"/>
            </a:endParaRPr>
          </a:p>
        </p:txBody>
      </p:sp>
      <p:sp>
        <p:nvSpPr>
          <p:cNvPr id="5" name="正方形/長方形 4"/>
          <p:cNvSpPr/>
          <p:nvPr/>
        </p:nvSpPr>
        <p:spPr>
          <a:xfrm>
            <a:off x="76199" y="520788"/>
            <a:ext cx="9067801" cy="6558206"/>
          </a:xfrm>
          <a:prstGeom prst="rect">
            <a:avLst/>
          </a:prstGeom>
        </p:spPr>
        <p:txBody>
          <a:bodyPr wrap="square">
            <a:spAutoFit/>
          </a:bodyPr>
          <a:lstStyle/>
          <a:p>
            <a:pPr>
              <a:lnSpc>
                <a:spcPts val="1300"/>
              </a:lnSpc>
            </a:pPr>
            <a:r>
              <a:rPr lang="ja-JP" altLang="en-US" sz="900" b="1" dirty="0" smtClean="0">
                <a:latin typeface="Arial" pitchFamily="34" charset="0"/>
                <a:ea typeface="Meiryo UI" panose="020B0604030504040204" pitchFamily="50" charset="-128"/>
                <a:cs typeface="Arial" pitchFamily="34" charset="0"/>
              </a:rPr>
              <a:t>① 体の調子が悪いとき </a:t>
            </a:r>
            <a:r>
              <a:rPr lang="en-US" altLang="ja-JP" sz="900" dirty="0" err="1"/>
              <a:t>Saat</a:t>
            </a:r>
            <a:r>
              <a:rPr lang="en-US" altLang="ja-JP" sz="900" dirty="0"/>
              <a:t> </a:t>
            </a:r>
            <a:r>
              <a:rPr lang="en-US" altLang="ja-JP" sz="900" dirty="0" err="1"/>
              <a:t>merasa</a:t>
            </a:r>
            <a:r>
              <a:rPr lang="en-US" altLang="ja-JP" sz="900" dirty="0"/>
              <a:t> </a:t>
            </a:r>
            <a:r>
              <a:rPr lang="en-US" altLang="ja-JP" sz="900" dirty="0" err="1"/>
              <a:t>tidak</a:t>
            </a:r>
            <a:r>
              <a:rPr lang="en-US" altLang="ja-JP" sz="900" dirty="0"/>
              <a:t> </a:t>
            </a:r>
            <a:r>
              <a:rPr lang="en-US" altLang="ja-JP" sz="900" dirty="0" err="1"/>
              <a:t>sehat</a:t>
            </a:r>
            <a:endParaRPr lang="en-US" altLang="ja-JP" sz="900" b="1" dirty="0" smtClean="0">
              <a:latin typeface="Arial" pitchFamily="34" charset="0"/>
              <a:ea typeface="Meiryo UI" panose="020B0604030504040204" pitchFamily="50" charset="-128"/>
              <a:cs typeface="Arial" pitchFamily="34" charset="0"/>
            </a:endParaRPr>
          </a:p>
          <a:p>
            <a:pPr>
              <a:lnSpc>
                <a:spcPts val="1300"/>
              </a:lnSpc>
            </a:pPr>
            <a:r>
              <a:rPr lang="ja-JP" altLang="en-US" sz="900" dirty="0">
                <a:latin typeface="Arial" pitchFamily="34" charset="0"/>
                <a:ea typeface="Meiryo UI" panose="020B0604030504040204" pitchFamily="50" charset="-128"/>
                <a:cs typeface="Arial" pitchFamily="34" charset="0"/>
              </a:rPr>
              <a:t>熱がある、頭が痛い、おなかが痛い、のどが痛い、けがをしたときは、すぐに生活指導員に連絡してください。</a:t>
            </a:r>
          </a:p>
          <a:p>
            <a:pPr>
              <a:lnSpc>
                <a:spcPts val="1300"/>
              </a:lnSpc>
            </a:pPr>
            <a:r>
              <a:rPr lang="en-US" altLang="ja-JP" sz="900" dirty="0" err="1">
                <a:latin typeface="Arial" pitchFamily="34" charset="0"/>
                <a:ea typeface="Meiryo UI" panose="020B0604030504040204" pitchFamily="50" charset="-128"/>
                <a:cs typeface="Arial" pitchFamily="34" charset="0"/>
              </a:rPr>
              <a:t>Jika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mengalami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demam</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kepala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perut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tenggorokan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mengalami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cedera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segera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hubungi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pembimbing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kehidupan</a:t>
            </a:r>
            <a:r>
              <a:rPr lang="en-US" altLang="ja-JP" sz="900" dirty="0">
                <a:latin typeface="Arial" pitchFamily="34" charset="0"/>
                <a:ea typeface="Meiryo UI" panose="020B0604030504040204" pitchFamily="50" charset="-128"/>
                <a:cs typeface="Arial" pitchFamily="34" charset="0"/>
              </a:rPr>
              <a:t> (</a:t>
            </a:r>
            <a:r>
              <a:rPr lang="ja-JP" altLang="en-US" sz="900" dirty="0">
                <a:latin typeface="Arial" pitchFamily="34" charset="0"/>
                <a:ea typeface="Meiryo UI" panose="020B0604030504040204" pitchFamily="50" charset="-128"/>
                <a:cs typeface="Arial" pitchFamily="34" charset="0"/>
              </a:rPr>
              <a:t>生活指導員</a:t>
            </a:r>
            <a:r>
              <a:rPr lang="en-US" altLang="ja-JP" sz="900" dirty="0">
                <a:latin typeface="Arial" pitchFamily="34" charset="0"/>
                <a:ea typeface="Meiryo UI" panose="020B0604030504040204" pitchFamily="50" charset="-128"/>
                <a:cs typeface="Arial" pitchFamily="34" charset="0"/>
              </a:rPr>
              <a:t>).</a:t>
            </a:r>
          </a:p>
          <a:p>
            <a:pPr>
              <a:lnSpc>
                <a:spcPts val="1300"/>
              </a:lnSpc>
            </a:pPr>
            <a:r>
              <a:rPr lang="ja-JP" altLang="en-US" sz="900" dirty="0">
                <a:latin typeface="Arial" pitchFamily="34" charset="0"/>
                <a:ea typeface="Meiryo UI" panose="020B0604030504040204" pitchFamily="50" charset="-128"/>
                <a:cs typeface="Arial" pitchFamily="34" charset="0"/>
              </a:rPr>
              <a:t>自分で薬を買って飲まないでください。</a:t>
            </a:r>
          </a:p>
          <a:p>
            <a:pPr>
              <a:lnSpc>
                <a:spcPts val="1300"/>
              </a:lnSpc>
            </a:pPr>
            <a:r>
              <a:rPr lang="en-US" altLang="ja-JP" sz="900" dirty="0" err="1">
                <a:latin typeface="Arial" pitchFamily="34" charset="0"/>
                <a:ea typeface="Meiryo UI" panose="020B0604030504040204" pitchFamily="50" charset="-128"/>
                <a:cs typeface="Arial" pitchFamily="34" charset="0"/>
              </a:rPr>
              <a:t>Jangan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membeli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mengonsumsi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obat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sendiri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tanpa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berkonsultasi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terlebih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dahulu</a:t>
            </a:r>
            <a:r>
              <a:rPr lang="en-US" altLang="ja-JP" sz="900" dirty="0">
                <a:latin typeface="Arial" pitchFamily="34" charset="0"/>
                <a:ea typeface="Meiryo UI" panose="020B0604030504040204" pitchFamily="50" charset="-128"/>
                <a:cs typeface="Arial" pitchFamily="34" charset="0"/>
              </a:rPr>
              <a:t>.</a:t>
            </a:r>
          </a:p>
          <a:p>
            <a:pPr>
              <a:lnSpc>
                <a:spcPts val="1300"/>
              </a:lnSpc>
            </a:pPr>
            <a:r>
              <a:rPr lang="ja-JP" altLang="en-US" sz="900" dirty="0">
                <a:latin typeface="Arial" pitchFamily="34" charset="0"/>
                <a:ea typeface="Meiryo UI" panose="020B0604030504040204" pitchFamily="50" charset="-128"/>
                <a:cs typeface="Arial" pitchFamily="34" charset="0"/>
              </a:rPr>
              <a:t>日本では早めに病院へ行くことが大切です。</a:t>
            </a:r>
          </a:p>
          <a:p>
            <a:pPr>
              <a:lnSpc>
                <a:spcPts val="1300"/>
              </a:lnSpc>
            </a:pPr>
            <a:r>
              <a:rPr lang="en-US" altLang="ja-JP" sz="900" dirty="0">
                <a:latin typeface="Arial" pitchFamily="34" charset="0"/>
                <a:ea typeface="Meiryo UI" panose="020B0604030504040204" pitchFamily="50" charset="-128"/>
                <a:cs typeface="Arial" pitchFamily="34" charset="0"/>
              </a:rPr>
              <a:t>Di </a:t>
            </a:r>
            <a:r>
              <a:rPr lang="en-US" altLang="ja-JP" sz="900" dirty="0" err="1">
                <a:latin typeface="Arial" pitchFamily="34" charset="0"/>
                <a:ea typeface="Meiryo UI" panose="020B0604030504040204" pitchFamily="50" charset="-128"/>
                <a:cs typeface="Arial" pitchFamily="34" charset="0"/>
              </a:rPr>
              <a:t>Jepang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sangat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penting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untuk</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segera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pergi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rumah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klinik</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sejak</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gejala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awal</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muncul</a:t>
            </a:r>
            <a:r>
              <a:rPr lang="en-US" altLang="ja-JP" sz="900" dirty="0" smtClean="0">
                <a:latin typeface="Arial" pitchFamily="34" charset="0"/>
                <a:ea typeface="Meiryo UI" panose="020B0604030504040204" pitchFamily="50" charset="-128"/>
                <a:cs typeface="Arial" pitchFamily="34" charset="0"/>
              </a:rPr>
              <a:t>.</a:t>
            </a:r>
          </a:p>
          <a:p>
            <a:pPr>
              <a:lnSpc>
                <a:spcPts val="1300"/>
              </a:lnSpc>
            </a:pPr>
            <a:r>
              <a:rPr lang="ja-JP" altLang="en-US" sz="900" b="1" dirty="0">
                <a:latin typeface="Arial" pitchFamily="34" charset="0"/>
                <a:ea typeface="Meiryo UI" panose="020B0604030504040204" pitchFamily="50" charset="-128"/>
                <a:cs typeface="Arial" pitchFamily="34" charset="0"/>
              </a:rPr>
              <a:t>② 連絡の</a:t>
            </a:r>
            <a:r>
              <a:rPr lang="ja-JP" altLang="en-US" sz="900" b="1" dirty="0" smtClean="0">
                <a:latin typeface="Arial" pitchFamily="34" charset="0"/>
                <a:ea typeface="Meiryo UI" panose="020B0604030504040204" pitchFamily="50" charset="-128"/>
                <a:cs typeface="Arial" pitchFamily="34" charset="0"/>
              </a:rPr>
              <a:t>順番　</a:t>
            </a:r>
            <a:r>
              <a:rPr lang="en-US" altLang="ja-JP" sz="900" dirty="0" err="1" smtClean="0">
                <a:latin typeface="Arial" pitchFamily="34" charset="0"/>
                <a:ea typeface="Meiryo UI" panose="020B0604030504040204" pitchFamily="50" charset="-128"/>
                <a:cs typeface="Arial" pitchFamily="34" charset="0"/>
              </a:rPr>
              <a:t>Urutan</a:t>
            </a:r>
            <a:r>
              <a:rPr lang="en-US" altLang="ja-JP" sz="900" dirty="0" smtClean="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menghubungi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pihak</a:t>
            </a:r>
            <a:r>
              <a:rPr lang="en-US" altLang="ja-JP" sz="900" dirty="0">
                <a:latin typeface="Arial" pitchFamily="34" charset="0"/>
                <a:ea typeface="Meiryo UI" panose="020B0604030504040204" pitchFamily="50" charset="-128"/>
                <a:cs typeface="Arial" pitchFamily="34" charset="0"/>
              </a:rPr>
              <a:t> </a:t>
            </a:r>
            <a:r>
              <a:rPr lang="en-US" altLang="ja-JP" sz="900" dirty="0" err="1" smtClean="0">
                <a:latin typeface="Arial" pitchFamily="34" charset="0"/>
                <a:ea typeface="Meiryo UI" panose="020B0604030504040204" pitchFamily="50" charset="-128"/>
                <a:cs typeface="Arial" pitchFamily="34" charset="0"/>
              </a:rPr>
              <a:t>terkait</a:t>
            </a:r>
            <a:endParaRPr lang="en-US" altLang="ja-JP" sz="900" dirty="0">
              <a:latin typeface="Arial" pitchFamily="34" charset="0"/>
              <a:ea typeface="Meiryo UI" panose="020B0604030504040204" pitchFamily="50" charset="-128"/>
              <a:cs typeface="Arial" pitchFamily="34" charset="0"/>
            </a:endParaRPr>
          </a:p>
          <a:p>
            <a:pPr>
              <a:lnSpc>
                <a:spcPts val="1300"/>
              </a:lnSpc>
            </a:pPr>
            <a:r>
              <a:rPr lang="en-US" altLang="ja-JP" sz="900" dirty="0">
                <a:latin typeface="Arial" pitchFamily="34" charset="0"/>
                <a:ea typeface="Meiryo UI" panose="020B0604030504040204" pitchFamily="50" charset="-128"/>
                <a:cs typeface="Arial" pitchFamily="34" charset="0"/>
              </a:rPr>
              <a:t>1. </a:t>
            </a:r>
            <a:r>
              <a:rPr lang="ja-JP" altLang="en-US" sz="900" dirty="0">
                <a:latin typeface="Arial" pitchFamily="34" charset="0"/>
                <a:ea typeface="Meiryo UI" panose="020B0604030504040204" pitchFamily="50" charset="-128"/>
                <a:cs typeface="Arial" pitchFamily="34" charset="0"/>
              </a:rPr>
              <a:t>店長・工場長・生活指導員</a:t>
            </a:r>
          </a:p>
          <a:p>
            <a:pPr>
              <a:lnSpc>
                <a:spcPts val="1300"/>
              </a:lnSpc>
            </a:pPr>
            <a:r>
              <a:rPr lang="en-US" altLang="ja-JP" sz="900" dirty="0" err="1">
                <a:latin typeface="Arial" pitchFamily="34" charset="0"/>
                <a:ea typeface="Meiryo UI" panose="020B0604030504040204" pitchFamily="50" charset="-128"/>
                <a:cs typeface="Arial" pitchFamily="34" charset="0"/>
              </a:rPr>
              <a:t>Manajer</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toko</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kepala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bengkel</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pembimbing</a:t>
            </a:r>
            <a:r>
              <a:rPr lang="en-US" altLang="ja-JP" sz="900" dirty="0">
                <a:latin typeface="Arial" pitchFamily="34" charset="0"/>
                <a:ea typeface="Meiryo UI" panose="020B0604030504040204" pitchFamily="50" charset="-128"/>
                <a:cs typeface="Arial" pitchFamily="34" charset="0"/>
              </a:rPr>
              <a:t> </a:t>
            </a:r>
            <a:r>
              <a:rPr lang="en-US" altLang="ja-JP" sz="900" dirty="0" err="1" smtClean="0">
                <a:latin typeface="Arial" pitchFamily="34" charset="0"/>
                <a:ea typeface="Meiryo UI" panose="020B0604030504040204" pitchFamily="50" charset="-128"/>
                <a:cs typeface="Arial" pitchFamily="34" charset="0"/>
              </a:rPr>
              <a:t>kehidupan</a:t>
            </a:r>
            <a:endParaRPr lang="en-US" altLang="ja-JP" sz="900" dirty="0">
              <a:latin typeface="Arial" pitchFamily="34" charset="0"/>
              <a:ea typeface="Meiryo UI" panose="020B0604030504040204" pitchFamily="50" charset="-128"/>
              <a:cs typeface="Arial" pitchFamily="34" charset="0"/>
            </a:endParaRPr>
          </a:p>
          <a:p>
            <a:pPr>
              <a:lnSpc>
                <a:spcPts val="1300"/>
              </a:lnSpc>
            </a:pPr>
            <a:r>
              <a:rPr lang="ja-JP" altLang="en-US" sz="900" dirty="0">
                <a:latin typeface="Arial" pitchFamily="34" charset="0"/>
                <a:ea typeface="Meiryo UI" panose="020B0604030504040204" pitchFamily="50" charset="-128"/>
                <a:cs typeface="Arial" pitchFamily="34" charset="0"/>
              </a:rPr>
              <a:t>店や寮の生活をサポートする人に連絡してください。あなたの体の様子を聞いて、病院へ行くかどうかを決めます。</a:t>
            </a:r>
          </a:p>
          <a:p>
            <a:pPr>
              <a:lnSpc>
                <a:spcPts val="1300"/>
              </a:lnSpc>
            </a:pPr>
            <a:r>
              <a:rPr lang="en-US" altLang="ja-JP" sz="900" dirty="0" err="1">
                <a:latin typeface="Arial" pitchFamily="34" charset="0"/>
                <a:ea typeface="Meiryo UI" panose="020B0604030504040204" pitchFamily="50" charset="-128"/>
                <a:cs typeface="Arial" pitchFamily="34" charset="0"/>
              </a:rPr>
              <a:t>Silakan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hubungi</a:t>
            </a:r>
            <a:r>
              <a:rPr lang="en-US" altLang="ja-JP" sz="900" dirty="0">
                <a:latin typeface="Arial" pitchFamily="34" charset="0"/>
                <a:ea typeface="Meiryo UI" panose="020B0604030504040204" pitchFamily="50" charset="-128"/>
                <a:cs typeface="Arial" pitchFamily="34" charset="0"/>
              </a:rPr>
              <a:t> orang yang </a:t>
            </a:r>
            <a:r>
              <a:rPr lang="en-US" altLang="ja-JP" sz="900" dirty="0" err="1">
                <a:latin typeface="Arial" pitchFamily="34" charset="0"/>
                <a:ea typeface="Meiryo UI" panose="020B0604030504040204" pitchFamily="50" charset="-128"/>
                <a:cs typeface="Arial" pitchFamily="34" charset="0"/>
              </a:rPr>
              <a:t>bertanggung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jawab</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mendukung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kehidupan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di </a:t>
            </a:r>
            <a:r>
              <a:rPr lang="en-US" altLang="ja-JP" sz="900" dirty="0" err="1">
                <a:latin typeface="Arial" pitchFamily="34" charset="0"/>
                <a:ea typeface="Meiryo UI" panose="020B0604030504040204" pitchFamily="50" charset="-128"/>
                <a:cs typeface="Arial" pitchFamily="34" charset="0"/>
              </a:rPr>
              <a:t>tempat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kerja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asrama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Mereka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menanyakan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kondisi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kesehatan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memutuskan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apakah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perlu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pergi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rumah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tidak</a:t>
            </a:r>
            <a:r>
              <a:rPr lang="en-US" altLang="ja-JP" sz="900" dirty="0" smtClean="0">
                <a:latin typeface="Arial" pitchFamily="34" charset="0"/>
                <a:ea typeface="Meiryo UI" panose="020B0604030504040204" pitchFamily="50" charset="-128"/>
                <a:cs typeface="Arial" pitchFamily="34" charset="0"/>
              </a:rPr>
              <a:t>.</a:t>
            </a:r>
            <a:endParaRPr lang="en-US" altLang="ja-JP" sz="900" dirty="0">
              <a:latin typeface="Arial" pitchFamily="34" charset="0"/>
              <a:ea typeface="Meiryo UI" panose="020B0604030504040204" pitchFamily="50" charset="-128"/>
              <a:cs typeface="Arial" pitchFamily="34" charset="0"/>
            </a:endParaRPr>
          </a:p>
          <a:p>
            <a:pPr>
              <a:lnSpc>
                <a:spcPts val="1300"/>
              </a:lnSpc>
            </a:pPr>
            <a:r>
              <a:rPr lang="en-US" altLang="ja-JP" sz="900" dirty="0">
                <a:latin typeface="Arial" pitchFamily="34" charset="0"/>
                <a:ea typeface="Meiryo UI" panose="020B0604030504040204" pitchFamily="50" charset="-128"/>
                <a:cs typeface="Arial" pitchFamily="34" charset="0"/>
              </a:rPr>
              <a:t>2. </a:t>
            </a:r>
            <a:r>
              <a:rPr lang="ja-JP" altLang="en-US" sz="900" dirty="0">
                <a:latin typeface="Arial" pitchFamily="34" charset="0"/>
                <a:ea typeface="Meiryo UI" panose="020B0604030504040204" pitchFamily="50" charset="-128"/>
                <a:cs typeface="Arial" pitchFamily="34" charset="0"/>
              </a:rPr>
              <a:t>会社のベトナム語サポートの人</a:t>
            </a:r>
          </a:p>
          <a:p>
            <a:pPr>
              <a:lnSpc>
                <a:spcPts val="1300"/>
              </a:lnSpc>
            </a:pPr>
            <a:r>
              <a:rPr lang="en-US" altLang="ja-JP" sz="900" dirty="0" err="1">
                <a:latin typeface="Arial" pitchFamily="34" charset="0"/>
                <a:ea typeface="Meiryo UI" panose="020B0604030504040204" pitchFamily="50" charset="-128"/>
                <a:cs typeface="Arial" pitchFamily="34" charset="0"/>
              </a:rPr>
              <a:t>Petugas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pendamping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berbahasa</a:t>
            </a:r>
            <a:r>
              <a:rPr lang="en-US" altLang="ja-JP" sz="900" dirty="0">
                <a:latin typeface="Arial" pitchFamily="34" charset="0"/>
                <a:ea typeface="Meiryo UI" panose="020B0604030504040204" pitchFamily="50" charset="-128"/>
                <a:cs typeface="Arial" pitchFamily="34" charset="0"/>
              </a:rPr>
              <a:t> Vietnam </a:t>
            </a:r>
            <a:r>
              <a:rPr lang="en-US" altLang="ja-JP" sz="900" dirty="0" err="1">
                <a:latin typeface="Arial" pitchFamily="34" charset="0"/>
                <a:ea typeface="Meiryo UI" panose="020B0604030504040204" pitchFamily="50" charset="-128"/>
                <a:cs typeface="Arial" pitchFamily="34" charset="0"/>
              </a:rPr>
              <a:t>dari</a:t>
            </a:r>
            <a:r>
              <a:rPr lang="en-US" altLang="ja-JP" sz="900" dirty="0">
                <a:latin typeface="Arial" pitchFamily="34" charset="0"/>
                <a:ea typeface="Meiryo UI" panose="020B0604030504040204" pitchFamily="50" charset="-128"/>
                <a:cs typeface="Arial" pitchFamily="34" charset="0"/>
              </a:rPr>
              <a:t> </a:t>
            </a:r>
            <a:r>
              <a:rPr lang="en-US" altLang="ja-JP" sz="900" dirty="0" err="1" smtClean="0">
                <a:latin typeface="Arial" pitchFamily="34" charset="0"/>
                <a:ea typeface="Meiryo UI" panose="020B0604030504040204" pitchFamily="50" charset="-128"/>
                <a:cs typeface="Arial" pitchFamily="34" charset="0"/>
              </a:rPr>
              <a:t>perusahaan</a:t>
            </a:r>
            <a:endParaRPr lang="en-US" altLang="ja-JP" sz="900" dirty="0">
              <a:latin typeface="Arial" pitchFamily="34" charset="0"/>
              <a:ea typeface="Meiryo UI" panose="020B0604030504040204" pitchFamily="50" charset="-128"/>
              <a:cs typeface="Arial" pitchFamily="34" charset="0"/>
            </a:endParaRPr>
          </a:p>
          <a:p>
            <a:pPr>
              <a:lnSpc>
                <a:spcPts val="1300"/>
              </a:lnSpc>
            </a:pPr>
            <a:r>
              <a:rPr lang="ja-JP" altLang="en-US" sz="900" dirty="0">
                <a:latin typeface="Arial" pitchFamily="34" charset="0"/>
                <a:ea typeface="Meiryo UI" panose="020B0604030504040204" pitchFamily="50" charset="-128"/>
                <a:cs typeface="Arial" pitchFamily="34" charset="0"/>
              </a:rPr>
              <a:t>日本語がむずかしいとき、病院で話すことを手伝ってくれます。保険の使い方やお金のことも教えてくれます。</a:t>
            </a:r>
          </a:p>
          <a:p>
            <a:pPr>
              <a:lnSpc>
                <a:spcPts val="1300"/>
              </a:lnSpc>
            </a:pPr>
            <a:r>
              <a:rPr lang="en-US" altLang="ja-JP" sz="900" dirty="0" err="1">
                <a:latin typeface="Arial" pitchFamily="34" charset="0"/>
                <a:ea typeface="Meiryo UI" panose="020B0604030504040204" pitchFamily="50" charset="-128"/>
                <a:cs typeface="Arial" pitchFamily="34" charset="0"/>
              </a:rPr>
              <a:t>Jika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mengalami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kesulitan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berbahasa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Jepang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mereka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membantu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berkomunikasi</a:t>
            </a:r>
            <a:r>
              <a:rPr lang="en-US" altLang="ja-JP" sz="900" dirty="0">
                <a:latin typeface="Arial" pitchFamily="34" charset="0"/>
                <a:ea typeface="Meiryo UI" panose="020B0604030504040204" pitchFamily="50" charset="-128"/>
                <a:cs typeface="Arial" pitchFamily="34" charset="0"/>
              </a:rPr>
              <a:t> di </a:t>
            </a:r>
            <a:r>
              <a:rPr lang="en-US" altLang="ja-JP" sz="900" dirty="0" err="1">
                <a:latin typeface="Arial" pitchFamily="34" charset="0"/>
                <a:ea typeface="Meiryo UI" panose="020B0604030504040204" pitchFamily="50" charset="-128"/>
                <a:cs typeface="Arial" pitchFamily="34" charset="0"/>
              </a:rPr>
              <a:t>rumah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Mereka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juga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menjelaskan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cara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menggunakan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asuransi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hal-hal</a:t>
            </a:r>
            <a:r>
              <a:rPr lang="en-US" altLang="ja-JP" sz="900" dirty="0">
                <a:latin typeface="Arial" pitchFamily="34" charset="0"/>
                <a:ea typeface="Meiryo UI" panose="020B0604030504040204" pitchFamily="50" charset="-128"/>
                <a:cs typeface="Arial" pitchFamily="34" charset="0"/>
              </a:rPr>
              <a:t> yang </a:t>
            </a:r>
            <a:r>
              <a:rPr lang="en-US" altLang="ja-JP" sz="900" dirty="0" err="1">
                <a:latin typeface="Arial" pitchFamily="34" charset="0"/>
                <a:ea typeface="Meiryo UI" panose="020B0604030504040204" pitchFamily="50" charset="-128"/>
                <a:cs typeface="Arial" pitchFamily="34" charset="0"/>
              </a:rPr>
              <a:t>berkaitan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dengan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biaya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pengobatan</a:t>
            </a:r>
            <a:r>
              <a:rPr lang="en-US" altLang="ja-JP" sz="900" dirty="0" smtClean="0">
                <a:latin typeface="Arial" pitchFamily="34" charset="0"/>
                <a:ea typeface="Meiryo UI" panose="020B0604030504040204" pitchFamily="50" charset="-128"/>
                <a:cs typeface="Arial" pitchFamily="34" charset="0"/>
              </a:rPr>
              <a:t>.</a:t>
            </a:r>
            <a:endParaRPr lang="en-US" altLang="ja-JP" sz="900" dirty="0">
              <a:latin typeface="Arial" pitchFamily="34" charset="0"/>
              <a:ea typeface="Meiryo UI" panose="020B0604030504040204" pitchFamily="50" charset="-128"/>
              <a:cs typeface="Arial" pitchFamily="34" charset="0"/>
            </a:endParaRPr>
          </a:p>
          <a:p>
            <a:pPr>
              <a:lnSpc>
                <a:spcPts val="1300"/>
              </a:lnSpc>
            </a:pPr>
            <a:r>
              <a:rPr lang="en-US" altLang="ja-JP" sz="900" dirty="0">
                <a:latin typeface="Arial" pitchFamily="34" charset="0"/>
                <a:ea typeface="Meiryo UI" panose="020B0604030504040204" pitchFamily="50" charset="-128"/>
                <a:cs typeface="Arial" pitchFamily="34" charset="0"/>
              </a:rPr>
              <a:t>3. </a:t>
            </a:r>
            <a:r>
              <a:rPr lang="ja-JP" altLang="en-US" sz="900" dirty="0">
                <a:latin typeface="Arial" pitchFamily="34" charset="0"/>
                <a:ea typeface="Meiryo UI" panose="020B0604030504040204" pitchFamily="50" charset="-128"/>
                <a:cs typeface="Arial" pitchFamily="34" charset="0"/>
              </a:rPr>
              <a:t>監理団体</a:t>
            </a:r>
          </a:p>
          <a:p>
            <a:pPr>
              <a:lnSpc>
                <a:spcPts val="1300"/>
              </a:lnSpc>
            </a:pPr>
            <a:r>
              <a:rPr lang="en-US" altLang="ja-JP" sz="900" dirty="0" err="1">
                <a:latin typeface="Arial" pitchFamily="34" charset="0"/>
                <a:ea typeface="Meiryo UI" panose="020B0604030504040204" pitchFamily="50" charset="-128"/>
                <a:cs typeface="Arial" pitchFamily="34" charset="0"/>
              </a:rPr>
              <a:t>Lembaga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pengawas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organisasi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pengawas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peserta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magang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teknis</a:t>
            </a:r>
            <a:r>
              <a:rPr lang="en-US" altLang="ja-JP" sz="900" dirty="0" smtClean="0">
                <a:latin typeface="Arial" pitchFamily="34" charset="0"/>
                <a:ea typeface="Meiryo UI" panose="020B0604030504040204" pitchFamily="50" charset="-128"/>
                <a:cs typeface="Arial" pitchFamily="34" charset="0"/>
              </a:rPr>
              <a:t>)</a:t>
            </a:r>
            <a:endParaRPr lang="en-US" altLang="ja-JP" sz="900" dirty="0">
              <a:latin typeface="Arial" pitchFamily="34" charset="0"/>
              <a:ea typeface="Meiryo UI" panose="020B0604030504040204" pitchFamily="50" charset="-128"/>
              <a:cs typeface="Arial" pitchFamily="34" charset="0"/>
            </a:endParaRPr>
          </a:p>
          <a:p>
            <a:pPr>
              <a:lnSpc>
                <a:spcPts val="1300"/>
              </a:lnSpc>
            </a:pPr>
            <a:r>
              <a:rPr lang="ja-JP" altLang="en-US" sz="900" dirty="0">
                <a:latin typeface="Arial" pitchFamily="34" charset="0"/>
                <a:ea typeface="Meiryo UI" panose="020B0604030504040204" pitchFamily="50" charset="-128"/>
                <a:cs typeface="Arial" pitchFamily="34" charset="0"/>
              </a:rPr>
              <a:t>実習生をサポートする外の団体です。けがや病気がひどいとき、会社といっしょに対応します。</a:t>
            </a:r>
          </a:p>
          <a:p>
            <a:pPr>
              <a:lnSpc>
                <a:spcPts val="1300"/>
              </a:lnSpc>
            </a:pPr>
            <a:r>
              <a:rPr lang="en-US" altLang="ja-JP" sz="900" dirty="0" err="1">
                <a:latin typeface="Arial" pitchFamily="34" charset="0"/>
                <a:ea typeface="Meiryo UI" panose="020B0604030504040204" pitchFamily="50" charset="-128"/>
                <a:cs typeface="Arial" pitchFamily="34" charset="0"/>
              </a:rPr>
              <a:t>Lembaga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ini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merupakan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organisasi</a:t>
            </a:r>
            <a:r>
              <a:rPr lang="en-US" altLang="ja-JP" sz="900" dirty="0">
                <a:latin typeface="Arial" pitchFamily="34" charset="0"/>
                <a:ea typeface="Meiryo UI" panose="020B0604030504040204" pitchFamily="50" charset="-128"/>
                <a:cs typeface="Arial" pitchFamily="34" charset="0"/>
              </a:rPr>
              <a:t> di </a:t>
            </a:r>
            <a:r>
              <a:rPr lang="en-US" altLang="ja-JP" sz="900" dirty="0" err="1">
                <a:latin typeface="Arial" pitchFamily="34" charset="0"/>
                <a:ea typeface="Meiryo UI" panose="020B0604030504040204" pitchFamily="50" charset="-128"/>
                <a:cs typeface="Arial" pitchFamily="34" charset="0"/>
              </a:rPr>
              <a:t>luar</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perusahaan</a:t>
            </a:r>
            <a:r>
              <a:rPr lang="en-US" altLang="ja-JP" sz="900" dirty="0">
                <a:latin typeface="Arial" pitchFamily="34" charset="0"/>
                <a:ea typeface="Meiryo UI" panose="020B0604030504040204" pitchFamily="50" charset="-128"/>
                <a:cs typeface="Arial" pitchFamily="34" charset="0"/>
              </a:rPr>
              <a:t> yang </a:t>
            </a:r>
            <a:r>
              <a:rPr lang="en-US" altLang="ja-JP" sz="900" dirty="0" err="1">
                <a:latin typeface="Arial" pitchFamily="34" charset="0"/>
                <a:ea typeface="Meiryo UI" panose="020B0604030504040204" pitchFamily="50" charset="-128"/>
                <a:cs typeface="Arial" pitchFamily="34" charset="0"/>
              </a:rPr>
              <a:t>mendukung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peserta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magang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teknis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Jika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cedera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penyakit</a:t>
            </a:r>
            <a:r>
              <a:rPr lang="en-US" altLang="ja-JP" sz="900" dirty="0">
                <a:latin typeface="Arial" pitchFamily="34" charset="0"/>
                <a:ea typeface="Meiryo UI" panose="020B0604030504040204" pitchFamily="50" charset="-128"/>
                <a:cs typeface="Arial" pitchFamily="34" charset="0"/>
              </a:rPr>
              <a:t> yang </a:t>
            </a:r>
            <a:r>
              <a:rPr lang="en-US" altLang="ja-JP" sz="900" dirty="0" err="1">
                <a:latin typeface="Arial" pitchFamily="34" charset="0"/>
                <a:ea typeface="Meiryo UI" panose="020B0604030504040204" pitchFamily="50" charset="-128"/>
                <a:cs typeface="Arial" pitchFamily="34" charset="0"/>
              </a:rPr>
              <a:t>dialami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cukup</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serius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mereka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bekerja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sama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dengan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perusahaan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untuk</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memberikan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bantuan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penanganan</a:t>
            </a:r>
            <a:r>
              <a:rPr lang="en-US" altLang="ja-JP" sz="900" dirty="0">
                <a:latin typeface="Arial" pitchFamily="34" charset="0"/>
                <a:ea typeface="Meiryo UI" panose="020B0604030504040204" pitchFamily="50" charset="-128"/>
                <a:cs typeface="Arial" pitchFamily="34" charset="0"/>
              </a:rPr>
              <a:t> yang </a:t>
            </a:r>
            <a:r>
              <a:rPr lang="en-US" altLang="ja-JP" sz="900" dirty="0" err="1">
                <a:latin typeface="Arial" pitchFamily="34" charset="0"/>
                <a:ea typeface="Meiryo UI" panose="020B0604030504040204" pitchFamily="50" charset="-128"/>
                <a:cs typeface="Arial" pitchFamily="34" charset="0"/>
              </a:rPr>
              <a:t>diperlukan</a:t>
            </a:r>
            <a:r>
              <a:rPr lang="en-US" altLang="ja-JP" sz="900" dirty="0">
                <a:latin typeface="Arial" pitchFamily="34" charset="0"/>
                <a:ea typeface="Meiryo UI" panose="020B0604030504040204" pitchFamily="50" charset="-128"/>
                <a:cs typeface="Arial" pitchFamily="34" charset="0"/>
              </a:rPr>
              <a:t>. </a:t>
            </a:r>
            <a:r>
              <a:rPr lang="ja-JP" altLang="en-US" sz="900" dirty="0" smtClean="0">
                <a:latin typeface="Arial" pitchFamily="34" charset="0"/>
                <a:ea typeface="Meiryo UI" panose="020B0604030504040204" pitchFamily="50" charset="-128"/>
                <a:cs typeface="Arial" pitchFamily="34" charset="0"/>
              </a:rPr>
              <a:t>　</a:t>
            </a:r>
            <a:endParaRPr lang="en-US" altLang="ja-JP" sz="900" dirty="0">
              <a:latin typeface="Arial" pitchFamily="34" charset="0"/>
              <a:ea typeface="Meiryo UI" panose="020B0604030504040204" pitchFamily="50" charset="-128"/>
              <a:cs typeface="Arial" pitchFamily="34" charset="0"/>
            </a:endParaRPr>
          </a:p>
          <a:p>
            <a:r>
              <a:rPr lang="ja-JP" altLang="en-US" sz="900" b="1" dirty="0" smtClean="0">
                <a:latin typeface="Arial" pitchFamily="34" charset="0"/>
                <a:ea typeface="Meiryo UI" panose="020B0604030504040204" pitchFamily="50" charset="-128"/>
                <a:cs typeface="Arial" pitchFamily="34" charset="0"/>
              </a:rPr>
              <a:t>③病院</a:t>
            </a:r>
            <a:r>
              <a:rPr lang="ja-JP" altLang="en-US" sz="900" b="1" dirty="0">
                <a:latin typeface="Arial" pitchFamily="34" charset="0"/>
                <a:ea typeface="Meiryo UI" panose="020B0604030504040204" pitchFamily="50" charset="-128"/>
                <a:cs typeface="Arial" pitchFamily="34" charset="0"/>
              </a:rPr>
              <a:t>に行く</a:t>
            </a:r>
            <a:r>
              <a:rPr lang="ja-JP" altLang="en-US" sz="900" b="1" dirty="0" smtClean="0">
                <a:latin typeface="Arial" pitchFamily="34" charset="0"/>
                <a:ea typeface="Meiryo UI" panose="020B0604030504040204" pitchFamily="50" charset="-128"/>
                <a:cs typeface="Arial" pitchFamily="34" charset="0"/>
              </a:rPr>
              <a:t>とき　</a:t>
            </a:r>
            <a:r>
              <a:rPr lang="en-US" altLang="ja-JP" sz="900" b="1" dirty="0" err="1" smtClean="0">
                <a:latin typeface="Arial" pitchFamily="34" charset="0"/>
                <a:ea typeface="Meiryo UI" panose="020B0604030504040204" pitchFamily="50" charset="-128"/>
                <a:cs typeface="Arial" pitchFamily="34" charset="0"/>
              </a:rPr>
              <a:t>Saat</a:t>
            </a:r>
            <a:r>
              <a:rPr lang="en-US" altLang="ja-JP" sz="900" b="1" dirty="0" smtClean="0">
                <a:latin typeface="Arial" pitchFamily="34" charset="0"/>
                <a:ea typeface="Meiryo UI" panose="020B0604030504040204" pitchFamily="50" charset="-128"/>
                <a:cs typeface="Arial" pitchFamily="34" charset="0"/>
              </a:rPr>
              <a:t> </a:t>
            </a:r>
            <a:r>
              <a:rPr lang="en-US" altLang="ja-JP" sz="900" b="1" dirty="0" err="1">
                <a:latin typeface="Arial" pitchFamily="34" charset="0"/>
                <a:ea typeface="Meiryo UI" panose="020B0604030504040204" pitchFamily="50" charset="-128"/>
                <a:cs typeface="Arial" pitchFamily="34" charset="0"/>
              </a:rPr>
              <a:t>pergi</a:t>
            </a:r>
            <a:r>
              <a:rPr lang="en-US" altLang="ja-JP" sz="900" b="1" dirty="0">
                <a:latin typeface="Arial" pitchFamily="34" charset="0"/>
                <a:ea typeface="Meiryo UI" panose="020B0604030504040204" pitchFamily="50" charset="-128"/>
                <a:cs typeface="Arial" pitchFamily="34" charset="0"/>
              </a:rPr>
              <a:t> </a:t>
            </a:r>
            <a:r>
              <a:rPr lang="en-US" altLang="ja-JP" sz="900" b="1" dirty="0" err="1">
                <a:latin typeface="Arial" pitchFamily="34" charset="0"/>
                <a:ea typeface="Meiryo UI" panose="020B0604030504040204" pitchFamily="50" charset="-128"/>
                <a:cs typeface="Arial" pitchFamily="34" charset="0"/>
              </a:rPr>
              <a:t>ke</a:t>
            </a:r>
            <a:r>
              <a:rPr lang="en-US" altLang="ja-JP" sz="900" b="1" dirty="0">
                <a:latin typeface="Arial" pitchFamily="34" charset="0"/>
                <a:ea typeface="Meiryo UI" panose="020B0604030504040204" pitchFamily="50" charset="-128"/>
                <a:cs typeface="Arial" pitchFamily="34" charset="0"/>
              </a:rPr>
              <a:t> </a:t>
            </a:r>
            <a:r>
              <a:rPr lang="en-US" altLang="ja-JP" sz="900" b="1" dirty="0" err="1">
                <a:latin typeface="Arial" pitchFamily="34" charset="0"/>
                <a:ea typeface="Meiryo UI" panose="020B0604030504040204" pitchFamily="50" charset="-128"/>
                <a:cs typeface="Arial" pitchFamily="34" charset="0"/>
              </a:rPr>
              <a:t>rumah</a:t>
            </a:r>
            <a:r>
              <a:rPr lang="en-US" altLang="ja-JP" sz="900" b="1" dirty="0">
                <a:latin typeface="Arial" pitchFamily="34" charset="0"/>
                <a:ea typeface="Meiryo UI" panose="020B0604030504040204" pitchFamily="50" charset="-128"/>
                <a:cs typeface="Arial" pitchFamily="34" charset="0"/>
              </a:rPr>
              <a:t> </a:t>
            </a:r>
            <a:r>
              <a:rPr lang="en-US" altLang="ja-JP" sz="900" b="1" dirty="0" err="1">
                <a:latin typeface="Arial" pitchFamily="34" charset="0"/>
                <a:ea typeface="Meiryo UI" panose="020B0604030504040204" pitchFamily="50" charset="-128"/>
                <a:cs typeface="Arial" pitchFamily="34" charset="0"/>
              </a:rPr>
              <a:t>sakit</a:t>
            </a:r>
            <a:endParaRPr lang="en-US" altLang="ja-JP" sz="900" b="1" dirty="0">
              <a:latin typeface="Arial" pitchFamily="34" charset="0"/>
              <a:ea typeface="Meiryo UI" panose="020B0604030504040204" pitchFamily="50" charset="-128"/>
              <a:cs typeface="Arial" pitchFamily="34" charset="0"/>
            </a:endParaRPr>
          </a:p>
          <a:p>
            <a:r>
              <a:rPr lang="ja-JP" altLang="en-US" sz="900" dirty="0">
                <a:latin typeface="Arial" pitchFamily="34" charset="0"/>
                <a:ea typeface="Meiryo UI" panose="020B0604030504040204" pitchFamily="50" charset="-128"/>
                <a:cs typeface="Arial" pitchFamily="34" charset="0"/>
              </a:rPr>
              <a:t>・持っていくもの</a:t>
            </a:r>
            <a:r>
              <a:rPr lang="ja-JP" altLang="en-US" sz="900" dirty="0" smtClean="0">
                <a:latin typeface="Arial" pitchFamily="34" charset="0"/>
                <a:ea typeface="Meiryo UI" panose="020B0604030504040204" pitchFamily="50" charset="-128"/>
                <a:cs typeface="Arial" pitchFamily="34" charset="0"/>
              </a:rPr>
              <a:t>：　</a:t>
            </a:r>
            <a:r>
              <a:rPr lang="en-US" altLang="ja-JP" sz="900" dirty="0" err="1" smtClean="0">
                <a:latin typeface="Arial" pitchFamily="34" charset="0"/>
                <a:ea typeface="Meiryo UI" panose="020B0604030504040204" pitchFamily="50" charset="-128"/>
                <a:cs typeface="Arial" pitchFamily="34" charset="0"/>
              </a:rPr>
              <a:t>Barang</a:t>
            </a:r>
            <a:r>
              <a:rPr lang="en-US" altLang="ja-JP" sz="900" dirty="0" smtClean="0">
                <a:latin typeface="Arial" pitchFamily="34" charset="0"/>
                <a:ea typeface="Meiryo UI" panose="020B0604030504040204" pitchFamily="50" charset="-128"/>
                <a:cs typeface="Arial" pitchFamily="34" charset="0"/>
              </a:rPr>
              <a:t> </a:t>
            </a:r>
            <a:r>
              <a:rPr lang="en-US" altLang="ja-JP" sz="900" dirty="0">
                <a:latin typeface="Arial" pitchFamily="34" charset="0"/>
                <a:ea typeface="Meiryo UI" panose="020B0604030504040204" pitchFamily="50" charset="-128"/>
                <a:cs typeface="Arial" pitchFamily="34" charset="0"/>
              </a:rPr>
              <a:t>yang </a:t>
            </a:r>
            <a:r>
              <a:rPr lang="en-US" altLang="ja-JP" sz="900" dirty="0" err="1">
                <a:latin typeface="Arial" pitchFamily="34" charset="0"/>
                <a:ea typeface="Meiryo UI" panose="020B0604030504040204" pitchFamily="50" charset="-128"/>
                <a:cs typeface="Arial" pitchFamily="34" charset="0"/>
              </a:rPr>
              <a:t>harus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dibawa</a:t>
            </a:r>
            <a:r>
              <a:rPr lang="en-US" altLang="ja-JP" sz="900" dirty="0">
                <a:latin typeface="Arial" pitchFamily="34" charset="0"/>
                <a:ea typeface="Meiryo UI" panose="020B0604030504040204" pitchFamily="50" charset="-128"/>
                <a:cs typeface="Arial" pitchFamily="34" charset="0"/>
              </a:rPr>
              <a:t>:</a:t>
            </a:r>
          </a:p>
          <a:p>
            <a:r>
              <a:rPr lang="ja-JP" altLang="en-US" sz="900" dirty="0">
                <a:latin typeface="Arial" pitchFamily="34" charset="0"/>
                <a:ea typeface="Meiryo UI" panose="020B0604030504040204" pitchFamily="50" charset="-128"/>
                <a:cs typeface="Arial" pitchFamily="34" charset="0"/>
              </a:rPr>
              <a:t>健康保険証（けんこうほけんしょう</a:t>
            </a:r>
            <a:r>
              <a:rPr lang="ja-JP" altLang="en-US" sz="900" dirty="0" smtClean="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Kartu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asuransi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kesehatan</a:t>
            </a:r>
            <a:endParaRPr lang="en-US" altLang="ja-JP" sz="900" dirty="0">
              <a:latin typeface="Arial" pitchFamily="34" charset="0"/>
              <a:ea typeface="Meiryo UI" panose="020B0604030504040204" pitchFamily="50" charset="-128"/>
              <a:cs typeface="Arial" pitchFamily="34" charset="0"/>
            </a:endParaRPr>
          </a:p>
          <a:p>
            <a:r>
              <a:rPr lang="ja-JP" altLang="en-US" sz="900" dirty="0">
                <a:latin typeface="Arial" pitchFamily="34" charset="0"/>
                <a:ea typeface="Meiryo UI" panose="020B0604030504040204" pitchFamily="50" charset="-128"/>
                <a:cs typeface="Arial" pitchFamily="34" charset="0"/>
              </a:rPr>
              <a:t>在留カード（ざいりゅうカード</a:t>
            </a:r>
            <a:r>
              <a:rPr lang="ja-JP" altLang="en-US" sz="900" dirty="0" smtClean="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Kartu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izin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tinggal</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Zairyu</a:t>
            </a:r>
            <a:r>
              <a:rPr lang="en-US" altLang="ja-JP" sz="900" dirty="0">
                <a:latin typeface="Arial" pitchFamily="34" charset="0"/>
                <a:ea typeface="Meiryo UI" panose="020B0604030504040204" pitchFamily="50" charset="-128"/>
                <a:cs typeface="Arial" pitchFamily="34" charset="0"/>
              </a:rPr>
              <a:t> Card)</a:t>
            </a:r>
          </a:p>
          <a:p>
            <a:r>
              <a:rPr lang="ja-JP" altLang="en-US" sz="900" dirty="0">
                <a:latin typeface="Arial" pitchFamily="34" charset="0"/>
                <a:ea typeface="Meiryo UI" panose="020B0604030504040204" pitchFamily="50" charset="-128"/>
                <a:cs typeface="Arial" pitchFamily="34" charset="0"/>
              </a:rPr>
              <a:t>・病院でお金を払うときは、</a:t>
            </a:r>
            <a:r>
              <a:rPr lang="en-US" altLang="ja-JP" sz="900" dirty="0">
                <a:latin typeface="Arial" pitchFamily="34" charset="0"/>
                <a:ea typeface="Meiryo UI" panose="020B0604030504040204" pitchFamily="50" charset="-128"/>
                <a:cs typeface="Arial" pitchFamily="34" charset="0"/>
              </a:rPr>
              <a:t>30</a:t>
            </a:r>
            <a:r>
              <a:rPr lang="ja-JP" altLang="en-US" sz="900" dirty="0">
                <a:latin typeface="Arial" pitchFamily="34" charset="0"/>
                <a:ea typeface="Meiryo UI" panose="020B0604030504040204" pitchFamily="50" charset="-128"/>
                <a:cs typeface="Arial" pitchFamily="34" charset="0"/>
              </a:rPr>
              <a:t>％だけ自分で払います。</a:t>
            </a:r>
            <a:r>
              <a:rPr lang="en-US" altLang="ja-JP" sz="900" dirty="0">
                <a:latin typeface="Arial" pitchFamily="34" charset="0"/>
                <a:ea typeface="Meiryo UI" panose="020B0604030504040204" pitchFamily="50" charset="-128"/>
                <a:cs typeface="Arial" pitchFamily="34" charset="0"/>
              </a:rPr>
              <a:t>70</a:t>
            </a:r>
            <a:r>
              <a:rPr lang="ja-JP" altLang="en-US" sz="900" dirty="0">
                <a:latin typeface="Arial" pitchFamily="34" charset="0"/>
                <a:ea typeface="Meiryo UI" panose="020B0604030504040204" pitchFamily="50" charset="-128"/>
                <a:cs typeface="Arial" pitchFamily="34" charset="0"/>
              </a:rPr>
              <a:t>％は保険が負担します。</a:t>
            </a:r>
            <a:br>
              <a:rPr lang="ja-JP" altLang="en-US" sz="900" dirty="0">
                <a:latin typeface="Arial" pitchFamily="34" charset="0"/>
                <a:ea typeface="Meiryo UI" panose="020B0604030504040204" pitchFamily="50" charset="-128"/>
                <a:cs typeface="Arial" pitchFamily="34" charset="0"/>
              </a:rPr>
            </a:br>
            <a:r>
              <a:rPr lang="en-US" altLang="ja-JP" sz="900" dirty="0" err="1">
                <a:latin typeface="Arial" pitchFamily="34" charset="0"/>
                <a:ea typeface="Meiryo UI" panose="020B0604030504040204" pitchFamily="50" charset="-128"/>
                <a:cs typeface="Arial" pitchFamily="34" charset="0"/>
              </a:rPr>
              <a:t>Saat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membayar</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biaya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pengobatan</a:t>
            </a:r>
            <a:r>
              <a:rPr lang="en-US" altLang="ja-JP" sz="900" dirty="0">
                <a:latin typeface="Arial" pitchFamily="34" charset="0"/>
                <a:ea typeface="Meiryo UI" panose="020B0604030504040204" pitchFamily="50" charset="-128"/>
                <a:cs typeface="Arial" pitchFamily="34" charset="0"/>
              </a:rPr>
              <a:t> di </a:t>
            </a:r>
            <a:r>
              <a:rPr lang="en-US" altLang="ja-JP" sz="900" dirty="0" err="1">
                <a:latin typeface="Arial" pitchFamily="34" charset="0"/>
                <a:ea typeface="Meiryo UI" panose="020B0604030504040204" pitchFamily="50" charset="-128"/>
                <a:cs typeface="Arial" pitchFamily="34" charset="0"/>
              </a:rPr>
              <a:t>rumah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hanya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perlu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membayar</a:t>
            </a:r>
            <a:r>
              <a:rPr lang="en-US" altLang="ja-JP" sz="900" dirty="0">
                <a:latin typeface="Arial" pitchFamily="34" charset="0"/>
                <a:ea typeface="Meiryo UI" panose="020B0604030504040204" pitchFamily="50" charset="-128"/>
                <a:cs typeface="Arial" pitchFamily="34" charset="0"/>
              </a:rPr>
              <a:t> 30% </a:t>
            </a:r>
            <a:r>
              <a:rPr lang="en-US" altLang="ja-JP" sz="900" dirty="0" err="1">
                <a:latin typeface="Arial" pitchFamily="34" charset="0"/>
                <a:ea typeface="Meiryo UI" panose="020B0604030504040204" pitchFamily="50" charset="-128"/>
                <a:cs typeface="Arial" pitchFamily="34" charset="0"/>
              </a:rPr>
              <a:t>dari</a:t>
            </a:r>
            <a:r>
              <a:rPr lang="en-US" altLang="ja-JP" sz="900" dirty="0">
                <a:latin typeface="Arial" pitchFamily="34" charset="0"/>
                <a:ea typeface="Meiryo UI" panose="020B0604030504040204" pitchFamily="50" charset="-128"/>
                <a:cs typeface="Arial" pitchFamily="34" charset="0"/>
              </a:rPr>
              <a:t> total </a:t>
            </a:r>
            <a:r>
              <a:rPr lang="en-US" altLang="ja-JP" sz="900" dirty="0" err="1">
                <a:latin typeface="Arial" pitchFamily="34" charset="0"/>
                <a:ea typeface="Meiryo UI" panose="020B0604030504040204" pitchFamily="50" charset="-128"/>
                <a:cs typeface="Arial" pitchFamily="34" charset="0"/>
              </a:rPr>
              <a:t>biaya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Sebanyak</a:t>
            </a:r>
            <a:r>
              <a:rPr lang="en-US" altLang="ja-JP" sz="900" dirty="0">
                <a:latin typeface="Arial" pitchFamily="34" charset="0"/>
                <a:ea typeface="Meiryo UI" panose="020B0604030504040204" pitchFamily="50" charset="-128"/>
                <a:cs typeface="Arial" pitchFamily="34" charset="0"/>
              </a:rPr>
              <a:t> 70% </a:t>
            </a:r>
            <a:r>
              <a:rPr lang="en-US" altLang="ja-JP" sz="900" dirty="0" err="1">
                <a:latin typeface="Arial" pitchFamily="34" charset="0"/>
                <a:ea typeface="Meiryo UI" panose="020B0604030504040204" pitchFamily="50" charset="-128"/>
                <a:cs typeface="Arial" pitchFamily="34" charset="0"/>
              </a:rPr>
              <a:t>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ditanggung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oleh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asuransi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kesehatan</a:t>
            </a:r>
            <a:r>
              <a:rPr lang="en-US" altLang="ja-JP" sz="900" dirty="0">
                <a:latin typeface="Arial" pitchFamily="34" charset="0"/>
                <a:ea typeface="Meiryo UI" panose="020B0604030504040204" pitchFamily="50" charset="-128"/>
                <a:cs typeface="Arial" pitchFamily="34" charset="0"/>
              </a:rPr>
              <a:t>.</a:t>
            </a:r>
          </a:p>
          <a:p>
            <a:r>
              <a:rPr lang="ja-JP" altLang="en-US" sz="900" dirty="0">
                <a:latin typeface="Arial" pitchFamily="34" charset="0"/>
                <a:ea typeface="Meiryo UI" panose="020B0604030504040204" pitchFamily="50" charset="-128"/>
                <a:cs typeface="Arial" pitchFamily="34" charset="0"/>
              </a:rPr>
              <a:t>例：診察と薬で</a:t>
            </a:r>
            <a:r>
              <a:rPr lang="en-US" altLang="ja-JP" sz="900" dirty="0">
                <a:latin typeface="Arial" pitchFamily="34" charset="0"/>
                <a:ea typeface="Meiryo UI" panose="020B0604030504040204" pitchFamily="50" charset="-128"/>
                <a:cs typeface="Arial" pitchFamily="34" charset="0"/>
              </a:rPr>
              <a:t>1</a:t>
            </a:r>
            <a:r>
              <a:rPr lang="ja-JP" altLang="en-US" sz="900" dirty="0">
                <a:latin typeface="Arial" pitchFamily="34" charset="0"/>
                <a:ea typeface="Meiryo UI" panose="020B0604030504040204" pitchFamily="50" charset="-128"/>
                <a:cs typeface="Arial" pitchFamily="34" charset="0"/>
              </a:rPr>
              <a:t>万円なら、あなたは</a:t>
            </a:r>
            <a:r>
              <a:rPr lang="en-US" altLang="ja-JP" sz="900" dirty="0">
                <a:latin typeface="Arial" pitchFamily="34" charset="0"/>
                <a:ea typeface="Meiryo UI" panose="020B0604030504040204" pitchFamily="50" charset="-128"/>
                <a:cs typeface="Arial" pitchFamily="34" charset="0"/>
              </a:rPr>
              <a:t>3000</a:t>
            </a:r>
            <a:r>
              <a:rPr lang="ja-JP" altLang="en-US" sz="900" dirty="0">
                <a:latin typeface="Arial" pitchFamily="34" charset="0"/>
                <a:ea typeface="Meiryo UI" panose="020B0604030504040204" pitchFamily="50" charset="-128"/>
                <a:cs typeface="Arial" pitchFamily="34" charset="0"/>
              </a:rPr>
              <a:t>円だけ払います。</a:t>
            </a:r>
            <a:br>
              <a:rPr lang="ja-JP" altLang="en-US" sz="900" dirty="0">
                <a:latin typeface="Arial" pitchFamily="34" charset="0"/>
                <a:ea typeface="Meiryo UI" panose="020B0604030504040204" pitchFamily="50" charset="-128"/>
                <a:cs typeface="Arial" pitchFamily="34" charset="0"/>
              </a:rPr>
            </a:br>
            <a:r>
              <a:rPr lang="en-US" altLang="ja-JP" sz="900" dirty="0" err="1">
                <a:latin typeface="Arial" pitchFamily="34" charset="0"/>
                <a:ea typeface="Meiryo UI" panose="020B0604030504040204" pitchFamily="50" charset="-128"/>
                <a:cs typeface="Arial" pitchFamily="34" charset="0"/>
              </a:rPr>
              <a:t>Contoh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Jika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biaya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pemeriksaan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obat-obatan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sebesar</a:t>
            </a:r>
            <a:r>
              <a:rPr lang="en-US" altLang="ja-JP" sz="900" dirty="0">
                <a:latin typeface="Arial" pitchFamily="34" charset="0"/>
                <a:ea typeface="Meiryo UI" panose="020B0604030504040204" pitchFamily="50" charset="-128"/>
                <a:cs typeface="Arial" pitchFamily="34" charset="0"/>
              </a:rPr>
              <a:t> 10.000 yen,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hanya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perlu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membayar</a:t>
            </a:r>
            <a:r>
              <a:rPr lang="en-US" altLang="ja-JP" sz="900" dirty="0">
                <a:latin typeface="Arial" pitchFamily="34" charset="0"/>
                <a:ea typeface="Meiryo UI" panose="020B0604030504040204" pitchFamily="50" charset="-128"/>
                <a:cs typeface="Arial" pitchFamily="34" charset="0"/>
              </a:rPr>
              <a:t> 3.000 yen.</a:t>
            </a:r>
          </a:p>
          <a:p>
            <a:r>
              <a:rPr lang="ja-JP" altLang="en-US" sz="900" dirty="0">
                <a:latin typeface="Arial" pitchFamily="34" charset="0"/>
                <a:ea typeface="Meiryo UI" panose="020B0604030504040204" pitchFamily="50" charset="-128"/>
                <a:cs typeface="Arial" pitchFamily="34" charset="0"/>
              </a:rPr>
              <a:t>・保険証を持っていないときは、いったん</a:t>
            </a:r>
            <a:r>
              <a:rPr lang="en-US" altLang="ja-JP" sz="900" dirty="0">
                <a:latin typeface="Arial" pitchFamily="34" charset="0"/>
                <a:ea typeface="Meiryo UI" panose="020B0604030504040204" pitchFamily="50" charset="-128"/>
                <a:cs typeface="Arial" pitchFamily="34" charset="0"/>
              </a:rPr>
              <a:t>100</a:t>
            </a:r>
            <a:r>
              <a:rPr lang="ja-JP" altLang="en-US" sz="900" dirty="0">
                <a:latin typeface="Arial" pitchFamily="34" charset="0"/>
                <a:ea typeface="Meiryo UI" panose="020B0604030504040204" pitchFamily="50" charset="-128"/>
                <a:cs typeface="Arial" pitchFamily="34" charset="0"/>
              </a:rPr>
              <a:t>％払って、あとで保険から返金してもらえます。</a:t>
            </a:r>
            <a:br>
              <a:rPr lang="ja-JP" altLang="en-US" sz="900" dirty="0">
                <a:latin typeface="Arial" pitchFamily="34" charset="0"/>
                <a:ea typeface="Meiryo UI" panose="020B0604030504040204" pitchFamily="50" charset="-128"/>
                <a:cs typeface="Arial" pitchFamily="34" charset="0"/>
              </a:rPr>
            </a:br>
            <a:r>
              <a:rPr lang="en-US" altLang="ja-JP" sz="900" dirty="0" err="1">
                <a:latin typeface="Arial" pitchFamily="34" charset="0"/>
                <a:ea typeface="Meiryo UI" panose="020B0604030504040204" pitchFamily="50" charset="-128"/>
                <a:cs typeface="Arial" pitchFamily="34" charset="0"/>
              </a:rPr>
              <a:t>Jika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tidak</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membawa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kartu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asuransi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kesehatan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harus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membayar</a:t>
            </a:r>
            <a:r>
              <a:rPr lang="en-US" altLang="ja-JP" sz="900" dirty="0">
                <a:latin typeface="Arial" pitchFamily="34" charset="0"/>
                <a:ea typeface="Meiryo UI" panose="020B0604030504040204" pitchFamily="50" charset="-128"/>
                <a:cs typeface="Arial" pitchFamily="34" charset="0"/>
              </a:rPr>
              <a:t> 100% </a:t>
            </a:r>
            <a:r>
              <a:rPr lang="en-US" altLang="ja-JP" sz="900" dirty="0" err="1">
                <a:latin typeface="Arial" pitchFamily="34" charset="0"/>
                <a:ea typeface="Meiryo UI" panose="020B0604030504040204" pitchFamily="50" charset="-128"/>
                <a:cs typeface="Arial" pitchFamily="34" charset="0"/>
              </a:rPr>
              <a:t>biaya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pengobatan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terlebih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dahulu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Setelah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itu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Anda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dapat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mengajukan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pengembalian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biaya</a:t>
            </a:r>
            <a:r>
              <a:rPr lang="en-US" altLang="ja-JP" sz="900" dirty="0">
                <a:latin typeface="Arial" pitchFamily="34" charset="0"/>
                <a:ea typeface="Meiryo UI" panose="020B0604030504040204" pitchFamily="50" charset="-128"/>
                <a:cs typeface="Arial" pitchFamily="34" charset="0"/>
              </a:rPr>
              <a:t> (reimbursement) </a:t>
            </a:r>
            <a:r>
              <a:rPr lang="en-US" altLang="ja-JP" sz="900" dirty="0" err="1">
                <a:latin typeface="Arial" pitchFamily="34" charset="0"/>
                <a:ea typeface="Meiryo UI" panose="020B0604030504040204" pitchFamily="50" charset="-128"/>
                <a:cs typeface="Arial" pitchFamily="34" charset="0"/>
              </a:rPr>
              <a:t>dari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asuransi</a:t>
            </a:r>
            <a:r>
              <a:rPr lang="en-US" altLang="ja-JP" sz="900" dirty="0" smtClean="0">
                <a:latin typeface="Arial" pitchFamily="34" charset="0"/>
                <a:ea typeface="Meiryo UI" panose="020B0604030504040204" pitchFamily="50" charset="-128"/>
                <a:cs typeface="Arial" pitchFamily="34" charset="0"/>
              </a:rPr>
              <a:t>.</a:t>
            </a:r>
          </a:p>
          <a:p>
            <a:r>
              <a:rPr lang="ja-JP" altLang="en-US" sz="900" b="1" dirty="0">
                <a:latin typeface="Arial" pitchFamily="34" charset="0"/>
                <a:ea typeface="Meiryo UI" panose="020B0604030504040204" pitchFamily="50" charset="-128"/>
                <a:cs typeface="Arial" pitchFamily="34" charset="0"/>
              </a:rPr>
              <a:t>④ 緊急の</a:t>
            </a:r>
            <a:r>
              <a:rPr lang="ja-JP" altLang="en-US" sz="900" b="1" dirty="0" smtClean="0">
                <a:latin typeface="Arial" pitchFamily="34" charset="0"/>
                <a:ea typeface="Meiryo UI" panose="020B0604030504040204" pitchFamily="50" charset="-128"/>
                <a:cs typeface="Arial" pitchFamily="34" charset="0"/>
              </a:rPr>
              <a:t>とき　</a:t>
            </a:r>
            <a:r>
              <a:rPr lang="en-US" altLang="ja-JP" sz="900" b="1" dirty="0" err="1" smtClean="0">
                <a:latin typeface="Arial" pitchFamily="34" charset="0"/>
                <a:ea typeface="Meiryo UI" panose="020B0604030504040204" pitchFamily="50" charset="-128"/>
                <a:cs typeface="Arial" pitchFamily="34" charset="0"/>
              </a:rPr>
              <a:t>Dalam</a:t>
            </a:r>
            <a:r>
              <a:rPr lang="en-US" altLang="ja-JP" sz="900" b="1" dirty="0" smtClean="0">
                <a:latin typeface="Arial" pitchFamily="34" charset="0"/>
                <a:ea typeface="Meiryo UI" panose="020B0604030504040204" pitchFamily="50" charset="-128"/>
                <a:cs typeface="Arial" pitchFamily="34" charset="0"/>
              </a:rPr>
              <a:t> </a:t>
            </a:r>
            <a:r>
              <a:rPr lang="en-US" altLang="ja-JP" sz="900" b="1" dirty="0" err="1">
                <a:latin typeface="Arial" pitchFamily="34" charset="0"/>
                <a:ea typeface="Meiryo UI" panose="020B0604030504040204" pitchFamily="50" charset="-128"/>
                <a:cs typeface="Arial" pitchFamily="34" charset="0"/>
              </a:rPr>
              <a:t>keadaan</a:t>
            </a:r>
            <a:r>
              <a:rPr lang="en-US" altLang="ja-JP" sz="900" b="1" dirty="0">
                <a:latin typeface="Arial" pitchFamily="34" charset="0"/>
                <a:ea typeface="Meiryo UI" panose="020B0604030504040204" pitchFamily="50" charset="-128"/>
                <a:cs typeface="Arial" pitchFamily="34" charset="0"/>
              </a:rPr>
              <a:t> </a:t>
            </a:r>
            <a:r>
              <a:rPr lang="en-US" altLang="ja-JP" sz="900" b="1" dirty="0" err="1">
                <a:latin typeface="Arial" pitchFamily="34" charset="0"/>
                <a:ea typeface="Meiryo UI" panose="020B0604030504040204" pitchFamily="50" charset="-128"/>
                <a:cs typeface="Arial" pitchFamily="34" charset="0"/>
              </a:rPr>
              <a:t>darurat</a:t>
            </a:r>
            <a:endParaRPr lang="en-US" altLang="ja-JP" sz="900" b="1" dirty="0">
              <a:latin typeface="Arial" pitchFamily="34" charset="0"/>
              <a:ea typeface="Meiryo UI" panose="020B0604030504040204" pitchFamily="50" charset="-128"/>
              <a:cs typeface="Arial" pitchFamily="34" charset="0"/>
            </a:endParaRPr>
          </a:p>
          <a:p>
            <a:r>
              <a:rPr lang="ja-JP" altLang="en-US" sz="900" dirty="0">
                <a:latin typeface="Arial" pitchFamily="34" charset="0"/>
                <a:ea typeface="Meiryo UI" panose="020B0604030504040204" pitchFamily="50" charset="-128"/>
                <a:cs typeface="Arial" pitchFamily="34" charset="0"/>
              </a:rPr>
              <a:t>大けが、出血、息ができない、強い痛みがあるときは、</a:t>
            </a:r>
            <a:r>
              <a:rPr lang="en-US" altLang="ja-JP" sz="900" dirty="0">
                <a:latin typeface="Arial" pitchFamily="34" charset="0"/>
                <a:ea typeface="Meiryo UI" panose="020B0604030504040204" pitchFamily="50" charset="-128"/>
                <a:cs typeface="Arial" pitchFamily="34" charset="0"/>
              </a:rPr>
              <a:t>119</a:t>
            </a:r>
            <a:r>
              <a:rPr lang="ja-JP" altLang="en-US" sz="900" dirty="0">
                <a:latin typeface="Arial" pitchFamily="34" charset="0"/>
                <a:ea typeface="Meiryo UI" panose="020B0604030504040204" pitchFamily="50" charset="-128"/>
                <a:cs typeface="Arial" pitchFamily="34" charset="0"/>
              </a:rPr>
              <a:t>に電話します。</a:t>
            </a:r>
            <a:br>
              <a:rPr lang="ja-JP" altLang="en-US" sz="900" dirty="0">
                <a:latin typeface="Arial" pitchFamily="34" charset="0"/>
                <a:ea typeface="Meiryo UI" panose="020B0604030504040204" pitchFamily="50" charset="-128"/>
                <a:cs typeface="Arial" pitchFamily="34" charset="0"/>
              </a:rPr>
            </a:br>
            <a:r>
              <a:rPr lang="en-US" altLang="ja-JP" sz="900" dirty="0" err="1">
                <a:latin typeface="Arial" pitchFamily="34" charset="0"/>
                <a:ea typeface="Meiryo UI" panose="020B0604030504040204" pitchFamily="50" charset="-128"/>
                <a:cs typeface="Arial" pitchFamily="34" charset="0"/>
              </a:rPr>
              <a:t>Jika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mengalami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cedera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serius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pendarahan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kesulitan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bernapas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rasa </a:t>
            </a:r>
            <a:r>
              <a:rPr lang="en-US" altLang="ja-JP" sz="900" dirty="0" err="1">
                <a:latin typeface="Arial" pitchFamily="34" charset="0"/>
                <a:ea typeface="Meiryo UI" panose="020B0604030504040204" pitchFamily="50" charset="-128"/>
                <a:cs typeface="Arial" pitchFamily="34" charset="0"/>
              </a:rPr>
              <a:t>sakit</a:t>
            </a:r>
            <a:r>
              <a:rPr lang="en-US" altLang="ja-JP" sz="900" dirty="0">
                <a:latin typeface="Arial" pitchFamily="34" charset="0"/>
                <a:ea typeface="Meiryo UI" panose="020B0604030504040204" pitchFamily="50" charset="-128"/>
                <a:cs typeface="Arial" pitchFamily="34" charset="0"/>
              </a:rPr>
              <a:t> yang </a:t>
            </a:r>
            <a:r>
              <a:rPr lang="en-US" altLang="ja-JP" sz="900" dirty="0" err="1">
                <a:latin typeface="Arial" pitchFamily="34" charset="0"/>
                <a:ea typeface="Meiryo UI" panose="020B0604030504040204" pitchFamily="50" charset="-128"/>
                <a:cs typeface="Arial" pitchFamily="34" charset="0"/>
              </a:rPr>
              <a:t>sangat</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parah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segera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hubungi</a:t>
            </a:r>
            <a:r>
              <a:rPr lang="en-US" altLang="ja-JP" sz="900" dirty="0">
                <a:latin typeface="Arial" pitchFamily="34" charset="0"/>
                <a:ea typeface="Meiryo UI" panose="020B0604030504040204" pitchFamily="50" charset="-128"/>
                <a:cs typeface="Arial" pitchFamily="34" charset="0"/>
              </a:rPr>
              <a:t> 119.</a:t>
            </a:r>
          </a:p>
          <a:p>
            <a:r>
              <a:rPr lang="ja-JP" altLang="en-US" sz="900" dirty="0">
                <a:latin typeface="Arial" pitchFamily="34" charset="0"/>
                <a:ea typeface="Meiryo UI" panose="020B0604030504040204" pitchFamily="50" charset="-128"/>
                <a:cs typeface="Arial" pitchFamily="34" charset="0"/>
              </a:rPr>
              <a:t>「きゅうきゅう</a:t>
            </a:r>
            <a:r>
              <a:rPr lang="ja-JP" altLang="en-US" sz="900" dirty="0" err="1">
                <a:latin typeface="Arial" pitchFamily="34" charset="0"/>
                <a:ea typeface="Meiryo UI" panose="020B0604030504040204" pitchFamily="50" charset="-128"/>
                <a:cs typeface="Arial" pitchFamily="34" charset="0"/>
              </a:rPr>
              <a:t>しゃを</a:t>
            </a:r>
            <a:r>
              <a:rPr lang="ja-JP" altLang="en-US" sz="900" dirty="0">
                <a:latin typeface="Arial" pitchFamily="34" charset="0"/>
                <a:ea typeface="Meiryo UI" panose="020B0604030504040204" pitchFamily="50" charset="-128"/>
                <a:cs typeface="Arial" pitchFamily="34" charset="0"/>
              </a:rPr>
              <a:t>おねがいします」と言います。</a:t>
            </a:r>
            <a:br>
              <a:rPr lang="ja-JP" altLang="en-US" sz="900" dirty="0">
                <a:latin typeface="Arial" pitchFamily="34" charset="0"/>
                <a:ea typeface="Meiryo UI" panose="020B0604030504040204" pitchFamily="50" charset="-128"/>
                <a:cs typeface="Arial" pitchFamily="34" charset="0"/>
              </a:rPr>
            </a:br>
            <a:r>
              <a:rPr lang="en-US" altLang="ja-JP" sz="900" dirty="0" err="1">
                <a:latin typeface="Arial" pitchFamily="34" charset="0"/>
                <a:ea typeface="Meiryo UI" panose="020B0604030504040204" pitchFamily="50" charset="-128"/>
                <a:cs typeface="Arial" pitchFamily="34" charset="0"/>
              </a:rPr>
              <a:t>Katakan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Kyuukyuusha</a:t>
            </a:r>
            <a:r>
              <a:rPr lang="en-US" altLang="ja-JP" sz="900" dirty="0">
                <a:latin typeface="Arial" pitchFamily="34" charset="0"/>
                <a:ea typeface="Meiryo UI" panose="020B0604030504040204" pitchFamily="50" charset="-128"/>
                <a:cs typeface="Arial" pitchFamily="34" charset="0"/>
              </a:rPr>
              <a:t> o </a:t>
            </a:r>
            <a:r>
              <a:rPr lang="en-US" altLang="ja-JP" sz="900" dirty="0" err="1">
                <a:latin typeface="Arial" pitchFamily="34" charset="0"/>
                <a:ea typeface="Meiryo UI" panose="020B0604030504040204" pitchFamily="50" charset="-128"/>
                <a:cs typeface="Arial" pitchFamily="34" charset="0"/>
              </a:rPr>
              <a:t>onegaishimasu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Tolong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kirim</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ambulans</a:t>
            </a:r>
            <a:r>
              <a:rPr lang="en-US" altLang="ja-JP" sz="900" dirty="0">
                <a:latin typeface="Arial" pitchFamily="34" charset="0"/>
                <a:ea typeface="Meiryo UI" panose="020B0604030504040204" pitchFamily="50" charset="-128"/>
                <a:cs typeface="Arial" pitchFamily="34" charset="0"/>
              </a:rPr>
              <a:t>).</a:t>
            </a:r>
          </a:p>
          <a:p>
            <a:r>
              <a:rPr lang="ja-JP" altLang="en-US" sz="900" dirty="0">
                <a:latin typeface="Arial" pitchFamily="34" charset="0"/>
                <a:ea typeface="Meiryo UI" panose="020B0604030504040204" pitchFamily="50" charset="-128"/>
                <a:cs typeface="Arial" pitchFamily="34" charset="0"/>
              </a:rPr>
              <a:t>そのあと、会社や店長・工場長・生活指導員・組合にすぐ連絡します。</a:t>
            </a:r>
            <a:br>
              <a:rPr lang="ja-JP" altLang="en-US" sz="900" dirty="0">
                <a:latin typeface="Arial" pitchFamily="34" charset="0"/>
                <a:ea typeface="Meiryo UI" panose="020B0604030504040204" pitchFamily="50" charset="-128"/>
                <a:cs typeface="Arial" pitchFamily="34" charset="0"/>
              </a:rPr>
            </a:br>
            <a:r>
              <a:rPr lang="en-US" altLang="ja-JP" sz="900" dirty="0" err="1">
                <a:latin typeface="Arial" pitchFamily="34" charset="0"/>
                <a:ea typeface="Meiryo UI" panose="020B0604030504040204" pitchFamily="50" charset="-128"/>
                <a:cs typeface="Arial" pitchFamily="34" charset="0"/>
              </a:rPr>
              <a:t>Setelah</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itu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segera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hubungi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perusahaan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manajer</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toko</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kepala</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bengkel</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pembimbing</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kehidupan</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atau</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organisasi</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pengawas</a:t>
            </a:r>
            <a:r>
              <a:rPr lang="en-US" altLang="ja-JP" sz="900" dirty="0">
                <a:latin typeface="Arial" pitchFamily="34" charset="0"/>
                <a:ea typeface="Meiryo UI" panose="020B0604030504040204" pitchFamily="50" charset="-128"/>
                <a:cs typeface="Arial" pitchFamily="34" charset="0"/>
              </a:rPr>
              <a:t> (</a:t>
            </a:r>
            <a:r>
              <a:rPr lang="en-US" altLang="ja-JP" sz="900" dirty="0" err="1">
                <a:latin typeface="Arial" pitchFamily="34" charset="0"/>
                <a:ea typeface="Meiryo UI" panose="020B0604030504040204" pitchFamily="50" charset="-128"/>
                <a:cs typeface="Arial" pitchFamily="34" charset="0"/>
              </a:rPr>
              <a:t>serikat</a:t>
            </a:r>
            <a:r>
              <a:rPr lang="en-US" altLang="ja-JP" sz="900" dirty="0">
                <a:latin typeface="Arial" pitchFamily="34" charset="0"/>
                <a:ea typeface="Meiryo UI" panose="020B0604030504040204" pitchFamily="50" charset="-128"/>
                <a:cs typeface="Arial" pitchFamily="34" charset="0"/>
              </a:rPr>
              <a:t>/monitoring organization).</a:t>
            </a:r>
          </a:p>
          <a:p>
            <a:endParaRPr lang="en-US" altLang="ja-JP" sz="900" dirty="0" smtClean="0">
              <a:latin typeface="Arial" pitchFamily="34" charset="0"/>
              <a:ea typeface="Meiryo UI" panose="020B0604030504040204" pitchFamily="50" charset="-128"/>
              <a:cs typeface="Arial" pitchFamily="34" charset="0"/>
            </a:endParaRPr>
          </a:p>
        </p:txBody>
      </p:sp>
      <p:sp>
        <p:nvSpPr>
          <p:cNvPr id="6" name="正方形/長方形 5"/>
          <p:cNvSpPr/>
          <p:nvPr/>
        </p:nvSpPr>
        <p:spPr>
          <a:xfrm>
            <a:off x="7034406" y="417306"/>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35062811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342900" y="559611"/>
            <a:ext cx="9067801" cy="4760278"/>
          </a:xfrm>
          <a:prstGeom prst="rect">
            <a:avLst/>
          </a:prstGeom>
        </p:spPr>
        <p:txBody>
          <a:bodyPr wrap="square">
            <a:spAutoFit/>
          </a:bodyPr>
          <a:lstStyle/>
          <a:p>
            <a:pPr>
              <a:lnSpc>
                <a:spcPts val="1300"/>
              </a:lnSpc>
            </a:pPr>
            <a:endParaRPr lang="en-US" altLang="ja-JP" sz="1100" dirty="0" smtClean="0">
              <a:latin typeface="Arial" pitchFamily="34" charset="0"/>
              <a:ea typeface="Meiryo UI" panose="020B0604030504040204" pitchFamily="50" charset="-128"/>
              <a:cs typeface="Arial" pitchFamily="34" charset="0"/>
            </a:endParaRPr>
          </a:p>
          <a:p>
            <a:pPr>
              <a:lnSpc>
                <a:spcPts val="1300"/>
              </a:lnSpc>
            </a:pPr>
            <a:r>
              <a:rPr lang="ja-JP" altLang="en-US" sz="1100" b="1" dirty="0">
                <a:latin typeface="Arial" pitchFamily="34" charset="0"/>
                <a:ea typeface="Meiryo UI" panose="020B0604030504040204" pitchFamily="50" charset="-128"/>
                <a:cs typeface="Arial" pitchFamily="34" charset="0"/>
              </a:rPr>
              <a:t>⑤ 仕事を休む</a:t>
            </a:r>
            <a:r>
              <a:rPr lang="ja-JP" altLang="en-US" sz="1100" b="1" dirty="0" smtClean="0">
                <a:latin typeface="Arial" pitchFamily="34" charset="0"/>
                <a:ea typeface="Meiryo UI" panose="020B0604030504040204" pitchFamily="50" charset="-128"/>
                <a:cs typeface="Arial" pitchFamily="34" charset="0"/>
              </a:rPr>
              <a:t>とき　</a:t>
            </a:r>
            <a:r>
              <a:rPr lang="en-US" altLang="ja-JP" sz="1100" b="1" dirty="0" err="1" smtClean="0">
                <a:latin typeface="Arial" pitchFamily="34" charset="0"/>
                <a:ea typeface="Meiryo UI" panose="020B0604030504040204" pitchFamily="50" charset="-128"/>
                <a:cs typeface="Arial" pitchFamily="34" charset="0"/>
              </a:rPr>
              <a:t>Saat</a:t>
            </a:r>
            <a:r>
              <a:rPr lang="en-US" altLang="ja-JP" sz="1100" b="1" dirty="0" smtClean="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tidak</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masuk</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kerja</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karena</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sakit</a:t>
            </a:r>
            <a:endParaRPr lang="en-US" altLang="ja-JP" sz="1100" b="1" dirty="0">
              <a:latin typeface="Arial" pitchFamily="34" charset="0"/>
              <a:ea typeface="Meiryo UI" panose="020B0604030504040204" pitchFamily="50" charset="-128"/>
              <a:cs typeface="Arial" pitchFamily="34" charset="0"/>
            </a:endParaRPr>
          </a:p>
          <a:p>
            <a:pPr>
              <a:lnSpc>
                <a:spcPts val="1300"/>
              </a:lnSpc>
            </a:pPr>
            <a:r>
              <a:rPr lang="ja-JP" altLang="en-US" sz="1100" dirty="0">
                <a:latin typeface="Arial" pitchFamily="34" charset="0"/>
                <a:ea typeface="Meiryo UI" panose="020B0604030504040204" pitchFamily="50" charset="-128"/>
                <a:cs typeface="Arial" pitchFamily="34" charset="0"/>
              </a:rPr>
              <a:t>休む前に、かならず上司や指導員に連絡します。</a:t>
            </a:r>
          </a:p>
          <a:p>
            <a:pPr>
              <a:lnSpc>
                <a:spcPts val="1300"/>
              </a:lnSpc>
            </a:pPr>
            <a:r>
              <a:rPr lang="en-US" altLang="ja-JP" sz="1100" dirty="0" err="1">
                <a:latin typeface="Arial" pitchFamily="34" charset="0"/>
                <a:ea typeface="Meiryo UI" panose="020B0604030504040204" pitchFamily="50" charset="-128"/>
                <a:cs typeface="Arial" pitchFamily="34" charset="0"/>
              </a:rPr>
              <a:t>Sebelum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tidak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masuk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kerja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harus</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menghubungi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atasan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atau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pembimbing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terlebih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dahulu</a:t>
            </a:r>
            <a:r>
              <a:rPr lang="en-US" altLang="ja-JP" sz="1100" dirty="0">
                <a:latin typeface="Arial" pitchFamily="34" charset="0"/>
                <a:ea typeface="Meiryo UI" panose="020B0604030504040204" pitchFamily="50" charset="-128"/>
                <a:cs typeface="Arial" pitchFamily="34" charset="0"/>
              </a:rPr>
              <a:t>.</a:t>
            </a:r>
          </a:p>
          <a:p>
            <a:pPr>
              <a:lnSpc>
                <a:spcPts val="1300"/>
              </a:lnSpc>
            </a:pPr>
            <a:r>
              <a:rPr lang="en-US" altLang="ja-JP" sz="1100" dirty="0">
                <a:latin typeface="Arial" pitchFamily="34" charset="0"/>
                <a:ea typeface="Meiryo UI" panose="020B0604030504040204" pitchFamily="50" charset="-128"/>
                <a:cs typeface="Arial" pitchFamily="34" charset="0"/>
              </a:rPr>
              <a:t>1</a:t>
            </a:r>
            <a:r>
              <a:rPr lang="ja-JP" altLang="en-US" sz="1100" dirty="0">
                <a:latin typeface="Arial" pitchFamily="34" charset="0"/>
                <a:ea typeface="Meiryo UI" panose="020B0604030504040204" pitchFamily="50" charset="-128"/>
                <a:cs typeface="Arial" pitchFamily="34" charset="0"/>
              </a:rPr>
              <a:t>日より長く休むときは、病院の診断書を会社に提出してください。</a:t>
            </a:r>
          </a:p>
          <a:p>
            <a:pPr>
              <a:lnSpc>
                <a:spcPts val="1300"/>
              </a:lnSpc>
            </a:pPr>
            <a:r>
              <a:rPr lang="en-US" altLang="ja-JP" sz="1100" dirty="0" err="1">
                <a:latin typeface="Arial" pitchFamily="34" charset="0"/>
                <a:ea typeface="Meiryo UI" panose="020B0604030504040204" pitchFamily="50" charset="-128"/>
                <a:cs typeface="Arial" pitchFamily="34" charset="0"/>
              </a:rPr>
              <a:t>Jika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tidak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masuk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kerja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lebih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dari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satu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hari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harap</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menyerahkan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surat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keterangan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dokter</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kepada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perusahaan</a:t>
            </a:r>
            <a:r>
              <a:rPr lang="en-US" altLang="ja-JP" sz="1100" dirty="0">
                <a:latin typeface="Arial" pitchFamily="34" charset="0"/>
                <a:ea typeface="Meiryo UI" panose="020B0604030504040204" pitchFamily="50" charset="-128"/>
                <a:cs typeface="Arial" pitchFamily="34" charset="0"/>
              </a:rPr>
              <a:t>.</a:t>
            </a:r>
          </a:p>
          <a:p>
            <a:pPr>
              <a:lnSpc>
                <a:spcPts val="1300"/>
              </a:lnSpc>
            </a:pPr>
            <a:r>
              <a:rPr lang="ja-JP" altLang="en-US" sz="1100" dirty="0">
                <a:latin typeface="Arial" pitchFamily="34" charset="0"/>
                <a:ea typeface="Meiryo UI" panose="020B0604030504040204" pitchFamily="50" charset="-128"/>
                <a:cs typeface="Arial" pitchFamily="34" charset="0"/>
              </a:rPr>
              <a:t>連絡なしで休むことはしないでください。</a:t>
            </a:r>
          </a:p>
          <a:p>
            <a:pPr>
              <a:lnSpc>
                <a:spcPts val="1300"/>
              </a:lnSpc>
            </a:pPr>
            <a:r>
              <a:rPr lang="en-US" altLang="ja-JP" sz="1100" dirty="0" err="1">
                <a:latin typeface="Arial" pitchFamily="34" charset="0"/>
                <a:ea typeface="Meiryo UI" panose="020B0604030504040204" pitchFamily="50" charset="-128"/>
                <a:cs typeface="Arial" pitchFamily="34" charset="0"/>
              </a:rPr>
              <a:t>Jangan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tidak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masuk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kerja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tanpa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memberikan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pemberitahuan</a:t>
            </a:r>
            <a:r>
              <a:rPr lang="en-US" altLang="ja-JP" sz="1100" dirty="0" smtClean="0">
                <a:latin typeface="Arial" pitchFamily="34" charset="0"/>
                <a:ea typeface="Meiryo UI" panose="020B0604030504040204" pitchFamily="50" charset="-128"/>
                <a:cs typeface="Arial" pitchFamily="34" charset="0"/>
              </a:rPr>
              <a:t>.</a:t>
            </a:r>
          </a:p>
          <a:p>
            <a:pPr>
              <a:lnSpc>
                <a:spcPts val="1300"/>
              </a:lnSpc>
            </a:pPr>
            <a:endParaRPr lang="en-US" altLang="ja-JP" sz="1100" dirty="0">
              <a:latin typeface="Arial" pitchFamily="34" charset="0"/>
              <a:ea typeface="Meiryo UI" panose="020B0604030504040204" pitchFamily="50" charset="-128"/>
              <a:cs typeface="Arial" pitchFamily="34" charset="0"/>
            </a:endParaRPr>
          </a:p>
          <a:p>
            <a:pPr>
              <a:lnSpc>
                <a:spcPts val="1300"/>
              </a:lnSpc>
            </a:pPr>
            <a:r>
              <a:rPr lang="en-US" altLang="ja-JP" sz="1100" b="1" dirty="0">
                <a:latin typeface="Arial" pitchFamily="34" charset="0"/>
                <a:ea typeface="Meiryo UI" panose="020B0604030504040204" pitchFamily="50" charset="-128"/>
                <a:cs typeface="Arial" pitchFamily="34" charset="0"/>
              </a:rPr>
              <a:t>⑥ </a:t>
            </a:r>
            <a:r>
              <a:rPr lang="ja-JP" altLang="en-US" sz="1100" b="1" dirty="0">
                <a:latin typeface="Arial" pitchFamily="34" charset="0"/>
                <a:ea typeface="Meiryo UI" panose="020B0604030504040204" pitchFamily="50" charset="-128"/>
                <a:cs typeface="Arial" pitchFamily="34" charset="0"/>
              </a:rPr>
              <a:t>保険とお金の</a:t>
            </a:r>
            <a:r>
              <a:rPr lang="ja-JP" altLang="en-US" sz="1100" b="1" dirty="0" smtClean="0">
                <a:latin typeface="Arial" pitchFamily="34" charset="0"/>
                <a:ea typeface="Meiryo UI" panose="020B0604030504040204" pitchFamily="50" charset="-128"/>
                <a:cs typeface="Arial" pitchFamily="34" charset="0"/>
              </a:rPr>
              <a:t>こと　</a:t>
            </a:r>
            <a:r>
              <a:rPr lang="en-US" altLang="ja-JP" sz="1100" b="1" dirty="0" err="1" smtClean="0">
                <a:latin typeface="Arial" pitchFamily="34" charset="0"/>
                <a:ea typeface="Meiryo UI" panose="020B0604030504040204" pitchFamily="50" charset="-128"/>
                <a:cs typeface="Arial" pitchFamily="34" charset="0"/>
              </a:rPr>
              <a:t>Tentang</a:t>
            </a:r>
            <a:r>
              <a:rPr lang="en-US" altLang="ja-JP" sz="1100" b="1" dirty="0" smtClean="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asuransi</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dan</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biaya</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pengobatan</a:t>
            </a:r>
            <a:endParaRPr lang="en-US" altLang="ja-JP" sz="1100" b="1" dirty="0">
              <a:latin typeface="Arial" pitchFamily="34" charset="0"/>
              <a:ea typeface="Meiryo UI" panose="020B0604030504040204" pitchFamily="50" charset="-128"/>
              <a:cs typeface="Arial" pitchFamily="34" charset="0"/>
            </a:endParaRPr>
          </a:p>
          <a:p>
            <a:pPr>
              <a:lnSpc>
                <a:spcPts val="1300"/>
              </a:lnSpc>
            </a:pPr>
            <a:r>
              <a:rPr lang="ja-JP" altLang="en-US" sz="1100" dirty="0">
                <a:latin typeface="Arial" pitchFamily="34" charset="0"/>
                <a:ea typeface="Meiryo UI" panose="020B0604030504040204" pitchFamily="50" charset="-128"/>
                <a:cs typeface="Arial" pitchFamily="34" charset="0"/>
              </a:rPr>
              <a:t>日本では、会社が毎月あなたの給料から健康保険料を支払っています。</a:t>
            </a:r>
          </a:p>
          <a:p>
            <a:pPr>
              <a:lnSpc>
                <a:spcPts val="1300"/>
              </a:lnSpc>
            </a:pPr>
            <a:r>
              <a:rPr lang="en-US" altLang="ja-JP" sz="1100" dirty="0">
                <a:latin typeface="Arial" pitchFamily="34" charset="0"/>
                <a:ea typeface="Meiryo UI" panose="020B0604030504040204" pitchFamily="50" charset="-128"/>
                <a:cs typeface="Arial" pitchFamily="34" charset="0"/>
              </a:rPr>
              <a:t>Di </a:t>
            </a:r>
            <a:r>
              <a:rPr lang="en-US" altLang="ja-JP" sz="1100" dirty="0" err="1">
                <a:latin typeface="Arial" pitchFamily="34" charset="0"/>
                <a:ea typeface="Meiryo UI" panose="020B0604030504040204" pitchFamily="50" charset="-128"/>
                <a:cs typeface="Arial" pitchFamily="34" charset="0"/>
              </a:rPr>
              <a:t>Jepang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setiap</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bulan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perusahaan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membayarkan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iuran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kesehatan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melalui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potongan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gaji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a:t>
            </a:r>
          </a:p>
          <a:p>
            <a:pPr>
              <a:lnSpc>
                <a:spcPts val="1300"/>
              </a:lnSpc>
            </a:pPr>
            <a:r>
              <a:rPr lang="ja-JP" altLang="en-US" sz="1100" dirty="0">
                <a:latin typeface="Arial" pitchFamily="34" charset="0"/>
                <a:ea typeface="Meiryo UI" panose="020B0604030504040204" pitchFamily="50" charset="-128"/>
                <a:cs typeface="Arial" pitchFamily="34" charset="0"/>
              </a:rPr>
              <a:t>病院で治療を受けると、</a:t>
            </a:r>
            <a:r>
              <a:rPr lang="en-US" altLang="ja-JP" sz="1100" dirty="0">
                <a:latin typeface="Arial" pitchFamily="34" charset="0"/>
                <a:ea typeface="Meiryo UI" panose="020B0604030504040204" pitchFamily="50" charset="-128"/>
                <a:cs typeface="Arial" pitchFamily="34" charset="0"/>
              </a:rPr>
              <a:t>70</a:t>
            </a:r>
            <a:r>
              <a:rPr lang="ja-JP" altLang="en-US" sz="1100" dirty="0">
                <a:latin typeface="Arial" pitchFamily="34" charset="0"/>
                <a:ea typeface="Meiryo UI" panose="020B0604030504040204" pitchFamily="50" charset="-128"/>
                <a:cs typeface="Arial" pitchFamily="34" charset="0"/>
              </a:rPr>
              <a:t>％は保険が負担します。あなたは</a:t>
            </a:r>
            <a:r>
              <a:rPr lang="en-US" altLang="ja-JP" sz="1100" dirty="0">
                <a:latin typeface="Arial" pitchFamily="34" charset="0"/>
                <a:ea typeface="Meiryo UI" panose="020B0604030504040204" pitchFamily="50" charset="-128"/>
                <a:cs typeface="Arial" pitchFamily="34" charset="0"/>
              </a:rPr>
              <a:t>30</a:t>
            </a:r>
            <a:r>
              <a:rPr lang="ja-JP" altLang="en-US" sz="1100" dirty="0">
                <a:latin typeface="Arial" pitchFamily="34" charset="0"/>
                <a:ea typeface="Meiryo UI" panose="020B0604030504040204" pitchFamily="50" charset="-128"/>
                <a:cs typeface="Arial" pitchFamily="34" charset="0"/>
              </a:rPr>
              <a:t>％だけ支払います。</a:t>
            </a:r>
          </a:p>
          <a:p>
            <a:pPr>
              <a:lnSpc>
                <a:spcPts val="1300"/>
              </a:lnSpc>
            </a:pPr>
            <a:r>
              <a:rPr lang="en-US" altLang="ja-JP" sz="1100" dirty="0" err="1">
                <a:latin typeface="Arial" pitchFamily="34" charset="0"/>
                <a:ea typeface="Meiryo UI" panose="020B0604030504040204" pitchFamily="50" charset="-128"/>
                <a:cs typeface="Arial" pitchFamily="34" charset="0"/>
              </a:rPr>
              <a:t>Saat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menerima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perawatan</a:t>
            </a:r>
            <a:r>
              <a:rPr lang="en-US" altLang="ja-JP" sz="1100" dirty="0">
                <a:latin typeface="Arial" pitchFamily="34" charset="0"/>
                <a:ea typeface="Meiryo UI" panose="020B0604030504040204" pitchFamily="50" charset="-128"/>
                <a:cs typeface="Arial" pitchFamily="34" charset="0"/>
              </a:rPr>
              <a:t> di </a:t>
            </a:r>
            <a:r>
              <a:rPr lang="en-US" altLang="ja-JP" sz="1100" dirty="0" err="1">
                <a:latin typeface="Arial" pitchFamily="34" charset="0"/>
                <a:ea typeface="Meiryo UI" panose="020B0604030504040204" pitchFamily="50" charset="-128"/>
                <a:cs typeface="Arial" pitchFamily="34" charset="0"/>
              </a:rPr>
              <a:t>rumah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sakit</a:t>
            </a:r>
            <a:r>
              <a:rPr lang="en-US" altLang="ja-JP" sz="1100" dirty="0">
                <a:latin typeface="Arial" pitchFamily="34" charset="0"/>
                <a:ea typeface="Meiryo UI" panose="020B0604030504040204" pitchFamily="50" charset="-128"/>
                <a:cs typeface="Arial" pitchFamily="34" charset="0"/>
              </a:rPr>
              <a:t>, 70% </a:t>
            </a:r>
            <a:r>
              <a:rPr lang="en-US" altLang="ja-JP" sz="1100" dirty="0" err="1">
                <a:latin typeface="Arial" pitchFamily="34" charset="0"/>
                <a:ea typeface="Meiryo UI" panose="020B0604030504040204" pitchFamily="50" charset="-128"/>
                <a:cs typeface="Arial" pitchFamily="34" charset="0"/>
              </a:rPr>
              <a:t>biaya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ditanggung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oleh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kesehatan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hanya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perlu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membayar</a:t>
            </a:r>
            <a:r>
              <a:rPr lang="en-US" altLang="ja-JP" sz="1100" dirty="0">
                <a:latin typeface="Arial" pitchFamily="34" charset="0"/>
                <a:ea typeface="Meiryo UI" panose="020B0604030504040204" pitchFamily="50" charset="-128"/>
                <a:cs typeface="Arial" pitchFamily="34" charset="0"/>
              </a:rPr>
              <a:t> 30%.</a:t>
            </a:r>
          </a:p>
          <a:p>
            <a:pPr>
              <a:lnSpc>
                <a:spcPts val="1300"/>
              </a:lnSpc>
            </a:pPr>
            <a:r>
              <a:rPr lang="ja-JP" altLang="en-US" sz="1100" dirty="0">
                <a:latin typeface="Arial" pitchFamily="34" charset="0"/>
                <a:ea typeface="Meiryo UI" panose="020B0604030504040204" pitchFamily="50" charset="-128"/>
                <a:cs typeface="Arial" pitchFamily="34" charset="0"/>
              </a:rPr>
              <a:t>「病院は高い」と思う人が多いですが、保険があるので安心してください。</a:t>
            </a:r>
          </a:p>
          <a:p>
            <a:pPr>
              <a:lnSpc>
                <a:spcPts val="1300"/>
              </a:lnSpc>
            </a:pPr>
            <a:r>
              <a:rPr lang="en-US" altLang="ja-JP" sz="1100" dirty="0" err="1">
                <a:latin typeface="Arial" pitchFamily="34" charset="0"/>
                <a:ea typeface="Meiryo UI" panose="020B0604030504040204" pitchFamily="50" charset="-128"/>
                <a:cs typeface="Arial" pitchFamily="34" charset="0"/>
              </a:rPr>
              <a:t>Banyak</a:t>
            </a:r>
            <a:r>
              <a:rPr lang="en-US" altLang="ja-JP" sz="1100" dirty="0">
                <a:latin typeface="Arial" pitchFamily="34" charset="0"/>
                <a:ea typeface="Meiryo UI" panose="020B0604030504040204" pitchFamily="50" charset="-128"/>
                <a:cs typeface="Arial" pitchFamily="34" charset="0"/>
              </a:rPr>
              <a:t> orang </a:t>
            </a:r>
            <a:r>
              <a:rPr lang="en-US" altLang="ja-JP" sz="1100" dirty="0" err="1">
                <a:latin typeface="Arial" pitchFamily="34" charset="0"/>
                <a:ea typeface="Meiryo UI" panose="020B0604030504040204" pitchFamily="50" charset="-128"/>
                <a:cs typeface="Arial" pitchFamily="34" charset="0"/>
              </a:rPr>
              <a:t>berpikir</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bahwa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biaya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rumah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sakit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mahal</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tetapi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tidak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perlu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khawatir</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karena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perlindungan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kesehatan</a:t>
            </a:r>
            <a:r>
              <a:rPr lang="en-US" altLang="ja-JP" sz="1100" dirty="0">
                <a:latin typeface="Arial" pitchFamily="34" charset="0"/>
                <a:ea typeface="Meiryo UI" panose="020B0604030504040204" pitchFamily="50" charset="-128"/>
                <a:cs typeface="Arial" pitchFamily="34" charset="0"/>
              </a:rPr>
              <a:t>.</a:t>
            </a:r>
          </a:p>
          <a:p>
            <a:pPr>
              <a:lnSpc>
                <a:spcPts val="1300"/>
              </a:lnSpc>
            </a:pPr>
            <a:r>
              <a:rPr lang="ja-JP" altLang="en-US" sz="1100" dirty="0">
                <a:latin typeface="Arial" pitchFamily="34" charset="0"/>
                <a:ea typeface="Meiryo UI" panose="020B0604030504040204" pitchFamily="50" charset="-128"/>
                <a:cs typeface="Arial" pitchFamily="34" charset="0"/>
              </a:rPr>
              <a:t>薬を自分で買うより、病院で診てもらうほうが安くて早く治ることが多いです。</a:t>
            </a:r>
          </a:p>
          <a:p>
            <a:pPr>
              <a:lnSpc>
                <a:spcPts val="1300"/>
              </a:lnSpc>
            </a:pPr>
            <a:r>
              <a:rPr lang="en-US" altLang="ja-JP" sz="1100" dirty="0" err="1">
                <a:latin typeface="Arial" pitchFamily="34" charset="0"/>
                <a:ea typeface="Meiryo UI" panose="020B0604030504040204" pitchFamily="50" charset="-128"/>
                <a:cs typeface="Arial" pitchFamily="34" charset="0"/>
              </a:rPr>
              <a:t>Dibandingkan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membeli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obat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sendiri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memeriksakan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diri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rumah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sakit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sering</a:t>
            </a:r>
            <a:r>
              <a:rPr lang="en-US" altLang="ja-JP" sz="1100" dirty="0">
                <a:latin typeface="Arial" pitchFamily="34" charset="0"/>
                <a:ea typeface="Meiryo UI" panose="020B0604030504040204" pitchFamily="50" charset="-128"/>
                <a:cs typeface="Arial" pitchFamily="34" charset="0"/>
              </a:rPr>
              <a:t> kali </a:t>
            </a:r>
            <a:r>
              <a:rPr lang="en-US" altLang="ja-JP" sz="1100" dirty="0" err="1">
                <a:latin typeface="Arial" pitchFamily="34" charset="0"/>
                <a:ea typeface="Meiryo UI" panose="020B0604030504040204" pitchFamily="50" charset="-128"/>
                <a:cs typeface="Arial" pitchFamily="34" charset="0"/>
              </a:rPr>
              <a:t>lebih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murah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membantu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pemulihan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lebih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cepat</a:t>
            </a:r>
            <a:r>
              <a:rPr lang="en-US" altLang="ja-JP" sz="1100" dirty="0" smtClean="0">
                <a:latin typeface="Arial" pitchFamily="34" charset="0"/>
                <a:ea typeface="Meiryo UI" panose="020B0604030504040204" pitchFamily="50" charset="-128"/>
                <a:cs typeface="Arial" pitchFamily="34" charset="0"/>
              </a:rPr>
              <a:t>.</a:t>
            </a:r>
          </a:p>
          <a:p>
            <a:pPr>
              <a:lnSpc>
                <a:spcPts val="1300"/>
              </a:lnSpc>
            </a:pPr>
            <a:endParaRPr lang="en-US" altLang="ja-JP" sz="1100" dirty="0">
              <a:latin typeface="Arial" pitchFamily="34" charset="0"/>
              <a:ea typeface="Meiryo UI" panose="020B0604030504040204" pitchFamily="50" charset="-128"/>
              <a:cs typeface="Arial" pitchFamily="34" charset="0"/>
            </a:endParaRPr>
          </a:p>
          <a:p>
            <a:pPr>
              <a:lnSpc>
                <a:spcPts val="1300"/>
              </a:lnSpc>
            </a:pPr>
            <a:r>
              <a:rPr lang="en-US" altLang="ja-JP" sz="1100" b="1" dirty="0">
                <a:latin typeface="Arial" pitchFamily="34" charset="0"/>
                <a:ea typeface="Meiryo UI" panose="020B0604030504040204" pitchFamily="50" charset="-128"/>
                <a:cs typeface="Arial" pitchFamily="34" charset="0"/>
              </a:rPr>
              <a:t>⑦ </a:t>
            </a:r>
            <a:r>
              <a:rPr lang="ja-JP" altLang="en-US" sz="1100" b="1" dirty="0">
                <a:latin typeface="Arial" pitchFamily="34" charset="0"/>
                <a:ea typeface="Meiryo UI" panose="020B0604030504040204" pitchFamily="50" charset="-128"/>
                <a:cs typeface="Arial" pitchFamily="34" charset="0"/>
              </a:rPr>
              <a:t>注意する</a:t>
            </a:r>
            <a:r>
              <a:rPr lang="ja-JP" altLang="en-US" sz="1100" b="1" dirty="0" smtClean="0">
                <a:latin typeface="Arial" pitchFamily="34" charset="0"/>
                <a:ea typeface="Meiryo UI" panose="020B0604030504040204" pitchFamily="50" charset="-128"/>
                <a:cs typeface="Arial" pitchFamily="34" charset="0"/>
              </a:rPr>
              <a:t>こと　</a:t>
            </a:r>
            <a:r>
              <a:rPr lang="en-US" altLang="ja-JP" sz="1100" b="1" dirty="0" smtClean="0">
                <a:latin typeface="Arial" pitchFamily="34" charset="0"/>
                <a:ea typeface="Meiryo UI" panose="020B0604030504040204" pitchFamily="50" charset="-128"/>
                <a:cs typeface="Arial" pitchFamily="34" charset="0"/>
              </a:rPr>
              <a:t>Hal-</a:t>
            </a:r>
            <a:r>
              <a:rPr lang="en-US" altLang="ja-JP" sz="1100" b="1" dirty="0" err="1" smtClean="0">
                <a:latin typeface="Arial" pitchFamily="34" charset="0"/>
                <a:ea typeface="Meiryo UI" panose="020B0604030504040204" pitchFamily="50" charset="-128"/>
                <a:cs typeface="Arial" pitchFamily="34" charset="0"/>
              </a:rPr>
              <a:t>hal</a:t>
            </a:r>
            <a:r>
              <a:rPr lang="en-US" altLang="ja-JP" sz="1100" b="1" dirty="0" smtClean="0">
                <a:latin typeface="Arial" pitchFamily="34" charset="0"/>
                <a:ea typeface="Meiryo UI" panose="020B0604030504040204" pitchFamily="50" charset="-128"/>
                <a:cs typeface="Arial" pitchFamily="34" charset="0"/>
              </a:rPr>
              <a:t> </a:t>
            </a:r>
            <a:r>
              <a:rPr lang="en-US" altLang="ja-JP" sz="1100" b="1" dirty="0">
                <a:latin typeface="Arial" pitchFamily="34" charset="0"/>
                <a:ea typeface="Meiryo UI" panose="020B0604030504040204" pitchFamily="50" charset="-128"/>
                <a:cs typeface="Arial" pitchFamily="34" charset="0"/>
              </a:rPr>
              <a:t>yang </a:t>
            </a:r>
            <a:r>
              <a:rPr lang="en-US" altLang="ja-JP" sz="1100" b="1" dirty="0" err="1">
                <a:latin typeface="Arial" pitchFamily="34" charset="0"/>
                <a:ea typeface="Meiryo UI" panose="020B0604030504040204" pitchFamily="50" charset="-128"/>
                <a:cs typeface="Arial" pitchFamily="34" charset="0"/>
              </a:rPr>
              <a:t>perlu</a:t>
            </a:r>
            <a:r>
              <a:rPr lang="en-US" altLang="ja-JP" sz="1100" b="1" dirty="0">
                <a:latin typeface="Arial" pitchFamily="34" charset="0"/>
                <a:ea typeface="Meiryo UI" panose="020B0604030504040204" pitchFamily="50" charset="-128"/>
                <a:cs typeface="Arial" pitchFamily="34" charset="0"/>
              </a:rPr>
              <a:t> </a:t>
            </a:r>
            <a:r>
              <a:rPr lang="en-US" altLang="ja-JP" sz="1100" b="1" dirty="0" err="1">
                <a:latin typeface="Arial" pitchFamily="34" charset="0"/>
                <a:ea typeface="Meiryo UI" panose="020B0604030504040204" pitchFamily="50" charset="-128"/>
                <a:cs typeface="Arial" pitchFamily="34" charset="0"/>
              </a:rPr>
              <a:t>diperhatikan</a:t>
            </a:r>
            <a:endParaRPr lang="en-US" altLang="ja-JP" sz="1100" b="1" dirty="0">
              <a:latin typeface="Arial" pitchFamily="34" charset="0"/>
              <a:ea typeface="Meiryo UI" panose="020B0604030504040204" pitchFamily="50" charset="-128"/>
              <a:cs typeface="Arial" pitchFamily="34" charset="0"/>
            </a:endParaRPr>
          </a:p>
          <a:p>
            <a:pPr>
              <a:lnSpc>
                <a:spcPts val="1300"/>
              </a:lnSpc>
            </a:pPr>
            <a:r>
              <a:rPr lang="ja-JP" altLang="en-US" sz="1100" dirty="0">
                <a:latin typeface="Arial" pitchFamily="34" charset="0"/>
                <a:ea typeface="Meiryo UI" panose="020B0604030504040204" pitchFamily="50" charset="-128"/>
                <a:cs typeface="Arial" pitchFamily="34" charset="0"/>
              </a:rPr>
              <a:t>健康保険証をいつも持っていてください。</a:t>
            </a:r>
          </a:p>
          <a:p>
            <a:pPr>
              <a:lnSpc>
                <a:spcPts val="1300"/>
              </a:lnSpc>
            </a:pPr>
            <a:r>
              <a:rPr lang="en-US" altLang="ja-JP" sz="1100" dirty="0" err="1">
                <a:latin typeface="Arial" pitchFamily="34" charset="0"/>
                <a:ea typeface="Meiryo UI" panose="020B0604030504040204" pitchFamily="50" charset="-128"/>
                <a:cs typeface="Arial" pitchFamily="34" charset="0"/>
              </a:rPr>
              <a:t>Selalu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bawa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kartu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kesehatan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a:t>
            </a:r>
          </a:p>
          <a:p>
            <a:pPr>
              <a:lnSpc>
                <a:spcPts val="1300"/>
              </a:lnSpc>
            </a:pPr>
            <a:r>
              <a:rPr lang="ja-JP" altLang="en-US" sz="1100" dirty="0">
                <a:latin typeface="Arial" pitchFamily="34" charset="0"/>
                <a:ea typeface="Meiryo UI" panose="020B0604030504040204" pitchFamily="50" charset="-128"/>
                <a:cs typeface="Arial" pitchFamily="34" charset="0"/>
              </a:rPr>
              <a:t>引っ越したら、市役所で保険証の住所変更をしてください。</a:t>
            </a:r>
          </a:p>
          <a:p>
            <a:pPr>
              <a:lnSpc>
                <a:spcPts val="1300"/>
              </a:lnSpc>
            </a:pPr>
            <a:r>
              <a:rPr lang="en-US" altLang="ja-JP" sz="1100" dirty="0" err="1">
                <a:latin typeface="Arial" pitchFamily="34" charset="0"/>
                <a:ea typeface="Meiryo UI" panose="020B0604030504040204" pitchFamily="50" charset="-128"/>
                <a:cs typeface="Arial" pitchFamily="34" charset="0"/>
              </a:rPr>
              <a:t>Jika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pindah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tempat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tinggal</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lakukan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perubahan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alamat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kartu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di </a:t>
            </a:r>
            <a:r>
              <a:rPr lang="en-US" altLang="ja-JP" sz="1100" dirty="0" err="1">
                <a:latin typeface="Arial" pitchFamily="34" charset="0"/>
                <a:ea typeface="Meiryo UI" panose="020B0604030504040204" pitchFamily="50" charset="-128"/>
                <a:cs typeface="Arial" pitchFamily="34" charset="0"/>
              </a:rPr>
              <a:t>kantor</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pemerintah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kota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balai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kota</a:t>
            </a:r>
            <a:r>
              <a:rPr lang="en-US" altLang="ja-JP" sz="1100" dirty="0">
                <a:latin typeface="Arial" pitchFamily="34" charset="0"/>
                <a:ea typeface="Meiryo UI" panose="020B0604030504040204" pitchFamily="50" charset="-128"/>
                <a:cs typeface="Arial" pitchFamily="34" charset="0"/>
              </a:rPr>
              <a:t>).</a:t>
            </a:r>
          </a:p>
          <a:p>
            <a:pPr>
              <a:lnSpc>
                <a:spcPts val="1300"/>
              </a:lnSpc>
            </a:pPr>
            <a:r>
              <a:rPr lang="ja-JP" altLang="en-US" sz="1100" dirty="0">
                <a:latin typeface="Arial" pitchFamily="34" charset="0"/>
                <a:ea typeface="Meiryo UI" panose="020B0604030504040204" pitchFamily="50" charset="-128"/>
                <a:cs typeface="Arial" pitchFamily="34" charset="0"/>
              </a:rPr>
              <a:t>領収書や薬の説明書は保管しておいてください。</a:t>
            </a:r>
          </a:p>
          <a:p>
            <a:pPr>
              <a:lnSpc>
                <a:spcPts val="1300"/>
              </a:lnSpc>
            </a:pPr>
            <a:r>
              <a:rPr lang="en-US" altLang="ja-JP" sz="1100" dirty="0" err="1">
                <a:latin typeface="Arial" pitchFamily="34" charset="0"/>
                <a:ea typeface="Meiryo UI" panose="020B0604030504040204" pitchFamily="50" charset="-128"/>
                <a:cs typeface="Arial" pitchFamily="34" charset="0"/>
              </a:rPr>
              <a:t>Simpan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kuitansi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pembayaran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lembar</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petunjuk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obat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dengan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baik</a:t>
            </a:r>
            <a:r>
              <a:rPr lang="en-US" altLang="ja-JP" sz="1100" dirty="0">
                <a:latin typeface="Arial" pitchFamily="34" charset="0"/>
                <a:ea typeface="Meiryo UI" panose="020B0604030504040204" pitchFamily="50" charset="-128"/>
                <a:cs typeface="Arial" pitchFamily="34" charset="0"/>
              </a:rPr>
              <a:t>.</a:t>
            </a:r>
          </a:p>
          <a:p>
            <a:pPr>
              <a:lnSpc>
                <a:spcPts val="1300"/>
              </a:lnSpc>
            </a:pPr>
            <a:r>
              <a:rPr lang="ja-JP" altLang="en-US" sz="1100" dirty="0">
                <a:latin typeface="Arial" pitchFamily="34" charset="0"/>
                <a:ea typeface="Meiryo UI" panose="020B0604030504040204" pitchFamily="50" charset="-128"/>
                <a:cs typeface="Arial" pitchFamily="34" charset="0"/>
              </a:rPr>
              <a:t>保険証をなくしたら、すぐに会社に連絡してください。</a:t>
            </a:r>
          </a:p>
          <a:p>
            <a:pPr>
              <a:lnSpc>
                <a:spcPts val="1300"/>
              </a:lnSpc>
            </a:pPr>
            <a:r>
              <a:rPr lang="en-US" altLang="ja-JP" sz="1100" dirty="0" err="1">
                <a:latin typeface="Arial" pitchFamily="34" charset="0"/>
                <a:ea typeface="Meiryo UI" panose="020B0604030504040204" pitchFamily="50" charset="-128"/>
                <a:cs typeface="Arial" pitchFamily="34" charset="0"/>
              </a:rPr>
              <a:t>Jika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kartu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kesehatan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hilang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segera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laporkan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kepada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perusahaan</a:t>
            </a:r>
            <a:r>
              <a:rPr lang="en-US" altLang="ja-JP" sz="1100" dirty="0">
                <a:latin typeface="Arial" pitchFamily="34" charset="0"/>
                <a:ea typeface="Meiryo UI" panose="020B0604030504040204" pitchFamily="50" charset="-128"/>
                <a:cs typeface="Arial" pitchFamily="34" charset="0"/>
              </a:rPr>
              <a:t>.</a:t>
            </a:r>
            <a:r>
              <a:rPr lang="ja-JP" altLang="en-US" sz="1100" dirty="0" smtClean="0">
                <a:latin typeface="Arial" pitchFamily="34" charset="0"/>
                <a:ea typeface="Meiryo UI" panose="020B0604030504040204" pitchFamily="50" charset="-128"/>
                <a:cs typeface="Arial" pitchFamily="34" charset="0"/>
              </a:rPr>
              <a:t>　</a:t>
            </a:r>
            <a:endParaRPr lang="ja-JP" altLang="en-US" sz="1100" dirty="0">
              <a:latin typeface="Arial" pitchFamily="34" charset="0"/>
              <a:ea typeface="Meiryo UI" panose="020B0604030504040204" pitchFamily="50" charset="-128"/>
              <a:cs typeface="Arial" pitchFamily="34" charset="0"/>
            </a:endParaRPr>
          </a:p>
        </p:txBody>
      </p:sp>
      <p:sp>
        <p:nvSpPr>
          <p:cNvPr id="7" name="正方形/長方形 6"/>
          <p:cNvSpPr/>
          <p:nvPr/>
        </p:nvSpPr>
        <p:spPr>
          <a:xfrm>
            <a:off x="862313" y="11883"/>
            <a:ext cx="3352200" cy="400110"/>
          </a:xfrm>
          <a:prstGeom prst="rect">
            <a:avLst/>
          </a:prstGeom>
        </p:spPr>
        <p:txBody>
          <a:bodyPr wrap="none">
            <a:spAutoFit/>
          </a:bodyPr>
          <a:lstStyle/>
          <a:p>
            <a:r>
              <a:rPr lang="ja-JP" altLang="en-US" sz="2000" b="1" dirty="0">
                <a:latin typeface="Arial" pitchFamily="34" charset="0"/>
                <a:ea typeface="Meiryo UI" panose="020B0604030504040204" pitchFamily="50" charset="-128"/>
                <a:cs typeface="Arial" pitchFamily="34" charset="0"/>
              </a:rPr>
              <a:t>病気になったときの連絡と対応</a:t>
            </a:r>
            <a:endParaRPr lang="en-US" altLang="ja-JP" sz="2000" b="1" dirty="0">
              <a:latin typeface="Arial" pitchFamily="34" charset="0"/>
              <a:ea typeface="Meiryo UI" panose="020B0604030504040204" pitchFamily="50" charset="-128"/>
              <a:cs typeface="Arial" pitchFamily="34" charset="0"/>
            </a:endParaRPr>
          </a:p>
        </p:txBody>
      </p:sp>
      <p:sp>
        <p:nvSpPr>
          <p:cNvPr id="2" name="正方形/長方形 1"/>
          <p:cNvSpPr/>
          <p:nvPr/>
        </p:nvSpPr>
        <p:spPr>
          <a:xfrm>
            <a:off x="4384964" y="27272"/>
            <a:ext cx="3288721" cy="369332"/>
          </a:xfrm>
          <a:prstGeom prst="rect">
            <a:avLst/>
          </a:prstGeom>
        </p:spPr>
        <p:txBody>
          <a:bodyPr wrap="none">
            <a:spAutoFit/>
          </a:bodyPr>
          <a:lstStyle/>
          <a:p>
            <a:r>
              <a:rPr lang="fi-FI" altLang="ja-JP" dirty="0"/>
              <a:t>Tindakan dan Prosedur Saat Sakit</a:t>
            </a:r>
            <a:endParaRPr lang="ja-JP" altLang="en-US" dirty="0"/>
          </a:p>
        </p:txBody>
      </p:sp>
      <p:sp>
        <p:nvSpPr>
          <p:cNvPr id="6" name="正方形/長方形 5"/>
          <p:cNvSpPr/>
          <p:nvPr/>
        </p:nvSpPr>
        <p:spPr>
          <a:xfrm>
            <a:off x="7077268" y="559611"/>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6416887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149720" y="873419"/>
            <a:ext cx="8767535" cy="5124480"/>
          </a:xfrm>
          <a:prstGeom prst="rect">
            <a:avLst/>
          </a:prstGeom>
        </p:spPr>
        <p:txBody>
          <a:bodyPr wrap="square">
            <a:spAutoFit/>
          </a:bodyPr>
          <a:lstStyle/>
          <a:p>
            <a:r>
              <a:rPr lang="en-US" altLang="ja-JP" sz="1200" b="1" dirty="0" smtClean="0">
                <a:latin typeface="Arial" pitchFamily="34" charset="0"/>
                <a:ea typeface="Meiryo UI" panose="020B0604030504040204" pitchFamily="50" charset="-128"/>
                <a:cs typeface="Arial" pitchFamily="34" charset="0"/>
              </a:rPr>
              <a:t>1</a:t>
            </a:r>
            <a:r>
              <a:rPr lang="ja-JP" altLang="en-US" sz="1200" b="1" dirty="0" err="1" smtClean="0">
                <a:latin typeface="Arial" pitchFamily="34" charset="0"/>
                <a:ea typeface="Meiryo UI" panose="020B0604030504040204" pitchFamily="50" charset="-128"/>
                <a:cs typeface="Arial" pitchFamily="34" charset="0"/>
              </a:rPr>
              <a:t>.</a:t>
            </a:r>
            <a:r>
              <a:rPr lang="ja-JP" altLang="en-US" sz="1200" b="1" dirty="0" smtClean="0">
                <a:latin typeface="Arial" pitchFamily="34" charset="0"/>
                <a:ea typeface="Meiryo UI" panose="020B0604030504040204" pitchFamily="50" charset="-128"/>
                <a:cs typeface="Arial" pitchFamily="34" charset="0"/>
              </a:rPr>
              <a:t> </a:t>
            </a:r>
            <a:r>
              <a:rPr lang="ja-JP" altLang="en-US" sz="1200" b="1" dirty="0">
                <a:latin typeface="Arial" pitchFamily="34" charset="0"/>
                <a:ea typeface="Meiryo UI" panose="020B0604030504040204" pitchFamily="50" charset="-128"/>
                <a:cs typeface="Arial" pitchFamily="34" charset="0"/>
              </a:rPr>
              <a:t>目的ごとのお金の</a:t>
            </a:r>
            <a:r>
              <a:rPr lang="ja-JP" altLang="en-US" sz="1200" b="1" dirty="0" smtClean="0">
                <a:latin typeface="Arial" pitchFamily="34" charset="0"/>
                <a:ea typeface="Meiryo UI" panose="020B0604030504040204" pitchFamily="50" charset="-128"/>
                <a:cs typeface="Arial" pitchFamily="34" charset="0"/>
              </a:rPr>
              <a:t>分け方　 </a:t>
            </a:r>
            <a:r>
              <a:rPr lang="en-US" altLang="ja-JP" sz="1200" dirty="0"/>
              <a:t>Cara </a:t>
            </a:r>
            <a:r>
              <a:rPr lang="en-US" altLang="ja-JP" sz="1200" dirty="0" err="1"/>
              <a:t>Membagi</a:t>
            </a:r>
            <a:r>
              <a:rPr lang="en-US" altLang="ja-JP" sz="1200" dirty="0"/>
              <a:t> </a:t>
            </a:r>
            <a:r>
              <a:rPr lang="en-US" altLang="ja-JP" sz="1200" dirty="0" err="1"/>
              <a:t>Uang</a:t>
            </a:r>
            <a:r>
              <a:rPr lang="en-US" altLang="ja-JP" sz="1200" dirty="0"/>
              <a:t> </a:t>
            </a:r>
            <a:r>
              <a:rPr lang="en-US" altLang="ja-JP" sz="1200" dirty="0" err="1"/>
              <a:t>Sesuai</a:t>
            </a:r>
            <a:r>
              <a:rPr lang="en-US" altLang="ja-JP" sz="1200" dirty="0"/>
              <a:t> </a:t>
            </a:r>
            <a:r>
              <a:rPr lang="en-US" altLang="ja-JP" sz="1200" dirty="0" err="1"/>
              <a:t>Tujuan</a:t>
            </a:r>
            <a:r>
              <a:rPr lang="en-US" altLang="ja-JP" sz="1200" dirty="0"/>
              <a:t> </a:t>
            </a:r>
            <a:r>
              <a:rPr lang="en-US" altLang="ja-JP" sz="1200" dirty="0" err="1"/>
              <a:t>Penggunaan</a:t>
            </a:r>
            <a:endParaRPr lang="ja-JP" altLang="en-US" sz="500" dirty="0">
              <a:latin typeface="Arial" pitchFamily="34" charset="0"/>
              <a:ea typeface="Meiryo UI" panose="020B0604030504040204" pitchFamily="50" charset="-128"/>
              <a:cs typeface="Arial" pitchFamily="34" charset="0"/>
            </a:endParaRPr>
          </a:p>
          <a:p>
            <a:r>
              <a:rPr lang="ja-JP" altLang="en-US" sz="1200" dirty="0">
                <a:latin typeface="Arial" pitchFamily="34" charset="0"/>
                <a:ea typeface="Meiryo UI" panose="020B0604030504040204" pitchFamily="50" charset="-128"/>
                <a:cs typeface="Arial" pitchFamily="34" charset="0"/>
              </a:rPr>
              <a:t> 「生活費」→「緊急用」→「目標貯金」→「送金」の順番で考えましょう。</a:t>
            </a:r>
            <a:br>
              <a:rPr lang="ja-JP" altLang="en-US" sz="1200" dirty="0">
                <a:latin typeface="Arial" pitchFamily="34" charset="0"/>
                <a:ea typeface="Meiryo UI" panose="020B0604030504040204" pitchFamily="50" charset="-128"/>
                <a:cs typeface="Arial" pitchFamily="34" charset="0"/>
              </a:rPr>
            </a:br>
            <a:r>
              <a:rPr lang="en-US" altLang="ja-JP" sz="1200" dirty="0" err="1">
                <a:latin typeface="Arial" pitchFamily="34" charset="0"/>
                <a:ea typeface="Meiryo UI" panose="020B0604030504040204" pitchFamily="50" charset="-128"/>
                <a:cs typeface="Arial" pitchFamily="34" charset="0"/>
              </a:rPr>
              <a:t>Utamakan</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pengelolaan</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uang</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dengan</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urutan</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biaya</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hidup</a:t>
            </a:r>
            <a:r>
              <a:rPr lang="en-US" altLang="ja-JP" sz="1200" dirty="0">
                <a:latin typeface="Arial" pitchFamily="34" charset="0"/>
                <a:ea typeface="Meiryo UI" panose="020B0604030504040204" pitchFamily="50" charset="-128"/>
                <a:cs typeface="Arial" pitchFamily="34" charset="0"/>
              </a:rPr>
              <a:t> → dana </a:t>
            </a:r>
            <a:r>
              <a:rPr lang="en-US" altLang="ja-JP" sz="1200" dirty="0" err="1">
                <a:latin typeface="Arial" pitchFamily="34" charset="0"/>
                <a:ea typeface="Meiryo UI" panose="020B0604030504040204" pitchFamily="50" charset="-128"/>
                <a:cs typeface="Arial" pitchFamily="34" charset="0"/>
              </a:rPr>
              <a:t>darurat</a:t>
            </a:r>
            <a:r>
              <a:rPr lang="en-US" altLang="ja-JP" sz="1200" dirty="0">
                <a:latin typeface="Arial" pitchFamily="34" charset="0"/>
                <a:ea typeface="Meiryo UI" panose="020B0604030504040204" pitchFamily="50" charset="-128"/>
                <a:cs typeface="Arial" pitchFamily="34" charset="0"/>
              </a:rPr>
              <a:t> → </a:t>
            </a:r>
            <a:r>
              <a:rPr lang="en-US" altLang="ja-JP" sz="1200" dirty="0" err="1">
                <a:latin typeface="Arial" pitchFamily="34" charset="0"/>
                <a:ea typeface="Meiryo UI" panose="020B0604030504040204" pitchFamily="50" charset="-128"/>
                <a:cs typeface="Arial" pitchFamily="34" charset="0"/>
              </a:rPr>
              <a:t>tabungan</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tujuan</a:t>
            </a:r>
            <a:r>
              <a:rPr lang="en-US" altLang="ja-JP" sz="1200" dirty="0">
                <a:latin typeface="Arial" pitchFamily="34" charset="0"/>
                <a:ea typeface="Meiryo UI" panose="020B0604030504040204" pitchFamily="50" charset="-128"/>
                <a:cs typeface="Arial" pitchFamily="34" charset="0"/>
              </a:rPr>
              <a:t> → </a:t>
            </a:r>
            <a:r>
              <a:rPr lang="en-US" altLang="ja-JP" sz="1200" dirty="0" err="1">
                <a:latin typeface="Arial" pitchFamily="34" charset="0"/>
                <a:ea typeface="Meiryo UI" panose="020B0604030504040204" pitchFamily="50" charset="-128"/>
                <a:cs typeface="Arial" pitchFamily="34" charset="0"/>
              </a:rPr>
              <a:t>kirim</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uang</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ke</a:t>
            </a:r>
            <a:r>
              <a:rPr lang="en-US" altLang="ja-JP" sz="1200" dirty="0">
                <a:latin typeface="Arial" pitchFamily="34" charset="0"/>
                <a:ea typeface="Meiryo UI" panose="020B0604030504040204" pitchFamily="50" charset="-128"/>
                <a:cs typeface="Arial" pitchFamily="34" charset="0"/>
              </a:rPr>
              <a:t> </a:t>
            </a:r>
            <a:r>
              <a:rPr lang="en-US" altLang="ja-JP" sz="1200" dirty="0" err="1">
                <a:latin typeface="Arial" pitchFamily="34" charset="0"/>
                <a:ea typeface="Meiryo UI" panose="020B0604030504040204" pitchFamily="50" charset="-128"/>
                <a:cs typeface="Arial" pitchFamily="34" charset="0"/>
              </a:rPr>
              <a:t>keluarga</a:t>
            </a:r>
            <a:r>
              <a:rPr lang="en-US" altLang="ja-JP" sz="1200" dirty="0" smtClean="0">
                <a:latin typeface="Arial" pitchFamily="34" charset="0"/>
                <a:ea typeface="Meiryo UI" panose="020B0604030504040204" pitchFamily="50" charset="-128"/>
                <a:cs typeface="Arial" pitchFamily="34" charset="0"/>
              </a:rPr>
              <a:t>.</a:t>
            </a:r>
          </a:p>
          <a:p>
            <a:endParaRPr lang="en-US" altLang="ja-JP" sz="1200" dirty="0" smtClean="0">
              <a:latin typeface="Arial" pitchFamily="34" charset="0"/>
              <a:ea typeface="Meiryo UI" panose="020B0604030504040204" pitchFamily="50" charset="-128"/>
              <a:cs typeface="Arial" pitchFamily="34" charset="0"/>
            </a:endParaRPr>
          </a:p>
          <a:p>
            <a:r>
              <a:rPr lang="en-US" altLang="ja-JP" sz="1200" b="1" dirty="0" smtClean="0">
                <a:latin typeface="Arial" pitchFamily="34" charset="0"/>
                <a:ea typeface="Meiryo UI" panose="020B0604030504040204" pitchFamily="50" charset="-128"/>
                <a:cs typeface="Arial" pitchFamily="34" charset="0"/>
              </a:rPr>
              <a:t>2</a:t>
            </a:r>
            <a:r>
              <a:rPr lang="en-US" altLang="ja-JP" sz="1200" b="1" dirty="0">
                <a:latin typeface="Arial" pitchFamily="34" charset="0"/>
                <a:ea typeface="Meiryo UI" panose="020B0604030504040204" pitchFamily="50" charset="-128"/>
                <a:cs typeface="Arial" pitchFamily="34" charset="0"/>
              </a:rPr>
              <a:t>. </a:t>
            </a:r>
            <a:r>
              <a:rPr lang="ja-JP" altLang="en-US" sz="1200" b="1" dirty="0">
                <a:latin typeface="Arial" pitchFamily="34" charset="0"/>
                <a:ea typeface="Meiryo UI" panose="020B0604030504040204" pitchFamily="50" charset="-128"/>
                <a:cs typeface="Arial" pitchFamily="34" charset="0"/>
              </a:rPr>
              <a:t>毎月のお金の優先順位　 </a:t>
            </a:r>
            <a:r>
              <a:rPr lang="en-US" altLang="ja-JP" sz="1200" b="1" dirty="0" err="1">
                <a:latin typeface="Arial" pitchFamily="34" charset="0"/>
                <a:ea typeface="Meiryo UI" panose="020B0604030504040204" pitchFamily="50" charset="-128"/>
                <a:cs typeface="Arial" pitchFamily="34" charset="0"/>
              </a:rPr>
              <a:t>Prioritas</a:t>
            </a:r>
            <a:r>
              <a:rPr lang="en-US" altLang="ja-JP" sz="1200" b="1" dirty="0">
                <a:latin typeface="Arial" pitchFamily="34" charset="0"/>
                <a:ea typeface="Meiryo UI" panose="020B0604030504040204" pitchFamily="50" charset="-128"/>
                <a:cs typeface="Arial" pitchFamily="34" charset="0"/>
              </a:rPr>
              <a:t> </a:t>
            </a:r>
            <a:r>
              <a:rPr lang="en-US" altLang="ja-JP" sz="1200" b="1" dirty="0" err="1">
                <a:latin typeface="Arial" pitchFamily="34" charset="0"/>
                <a:ea typeface="Meiryo UI" panose="020B0604030504040204" pitchFamily="50" charset="-128"/>
                <a:cs typeface="Arial" pitchFamily="34" charset="0"/>
              </a:rPr>
              <a:t>penggunaan</a:t>
            </a:r>
            <a:r>
              <a:rPr lang="en-US" altLang="ja-JP" sz="1200" b="1" dirty="0">
                <a:latin typeface="Arial" pitchFamily="34" charset="0"/>
                <a:ea typeface="Meiryo UI" panose="020B0604030504040204" pitchFamily="50" charset="-128"/>
                <a:cs typeface="Arial" pitchFamily="34" charset="0"/>
              </a:rPr>
              <a:t> </a:t>
            </a:r>
            <a:r>
              <a:rPr lang="en-US" altLang="ja-JP" sz="1200" b="1" dirty="0" err="1">
                <a:latin typeface="Arial" pitchFamily="34" charset="0"/>
                <a:ea typeface="Meiryo UI" panose="020B0604030504040204" pitchFamily="50" charset="-128"/>
                <a:cs typeface="Arial" pitchFamily="34" charset="0"/>
              </a:rPr>
              <a:t>uang</a:t>
            </a:r>
            <a:r>
              <a:rPr lang="en-US" altLang="ja-JP" sz="1200" b="1" dirty="0">
                <a:latin typeface="Arial" pitchFamily="34" charset="0"/>
                <a:ea typeface="Meiryo UI" panose="020B0604030504040204" pitchFamily="50" charset="-128"/>
                <a:cs typeface="Arial" pitchFamily="34" charset="0"/>
              </a:rPr>
              <a:t> </a:t>
            </a:r>
            <a:r>
              <a:rPr lang="en-US" altLang="ja-JP" sz="1200" b="1" dirty="0" err="1">
                <a:latin typeface="Arial" pitchFamily="34" charset="0"/>
                <a:ea typeface="Meiryo UI" panose="020B0604030504040204" pitchFamily="50" charset="-128"/>
                <a:cs typeface="Arial" pitchFamily="34" charset="0"/>
              </a:rPr>
              <a:t>setiap</a:t>
            </a:r>
            <a:r>
              <a:rPr lang="en-US" altLang="ja-JP" sz="1200" b="1" dirty="0">
                <a:latin typeface="Arial" pitchFamily="34" charset="0"/>
                <a:ea typeface="Meiryo UI" panose="020B0604030504040204" pitchFamily="50" charset="-128"/>
                <a:cs typeface="Arial" pitchFamily="34" charset="0"/>
              </a:rPr>
              <a:t> </a:t>
            </a:r>
            <a:r>
              <a:rPr lang="en-US" altLang="ja-JP" sz="1200" b="1" dirty="0" err="1">
                <a:latin typeface="Arial" pitchFamily="34" charset="0"/>
                <a:ea typeface="Meiryo UI" panose="020B0604030504040204" pitchFamily="50" charset="-128"/>
                <a:cs typeface="Arial" pitchFamily="34" charset="0"/>
              </a:rPr>
              <a:t>bulan</a:t>
            </a:r>
            <a:endParaRPr lang="en-US" altLang="ja-JP" sz="1200" b="1" dirty="0">
              <a:latin typeface="Arial" pitchFamily="34" charset="0"/>
              <a:ea typeface="Meiryo UI" panose="020B0604030504040204" pitchFamily="50" charset="-128"/>
              <a:cs typeface="Arial" pitchFamily="34" charset="0"/>
            </a:endParaRPr>
          </a:p>
          <a:p>
            <a:pPr lvl="1"/>
            <a:r>
              <a:rPr lang="en-US" altLang="ja-JP" sz="1100" dirty="0">
                <a:latin typeface="Arial" pitchFamily="34" charset="0"/>
                <a:ea typeface="Meiryo UI" panose="020B0604030504040204" pitchFamily="50" charset="-128"/>
                <a:cs typeface="Arial" pitchFamily="34" charset="0"/>
              </a:rPr>
              <a:t>① </a:t>
            </a:r>
            <a:r>
              <a:rPr lang="ja-JP" altLang="en-US" sz="1100" dirty="0">
                <a:latin typeface="Arial" pitchFamily="34" charset="0"/>
                <a:ea typeface="Meiryo UI" panose="020B0604030504040204" pitchFamily="50" charset="-128"/>
                <a:cs typeface="Arial" pitchFamily="34" charset="0"/>
              </a:rPr>
              <a:t>生活費（せいかつひ）</a:t>
            </a:r>
            <a:r>
              <a:rPr lang="en-US" altLang="ja-JP" sz="1100" dirty="0" err="1">
                <a:latin typeface="Arial" pitchFamily="34" charset="0"/>
                <a:ea typeface="Meiryo UI" panose="020B0604030504040204" pitchFamily="50" charset="-128"/>
                <a:cs typeface="Arial" pitchFamily="34" charset="0"/>
              </a:rPr>
              <a:t>Biaya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hidup</a:t>
            </a:r>
            <a:endParaRPr lang="en-US" altLang="ja-JP" sz="1100" dirty="0">
              <a:latin typeface="Arial" pitchFamily="34" charset="0"/>
              <a:ea typeface="Meiryo UI" panose="020B0604030504040204" pitchFamily="50" charset="-128"/>
              <a:cs typeface="Arial" pitchFamily="34" charset="0"/>
            </a:endParaRPr>
          </a:p>
          <a:p>
            <a:pPr lvl="1"/>
            <a:r>
              <a:rPr lang="ja-JP" altLang="en-US" sz="1100" dirty="0">
                <a:latin typeface="Arial" pitchFamily="34" charset="0"/>
                <a:ea typeface="Meiryo UI" panose="020B0604030504040204" pitchFamily="50" charset="-128"/>
                <a:cs typeface="Arial" pitchFamily="34" charset="0"/>
              </a:rPr>
              <a:t>家賃、電気・水道・ガス、電話代、交通費、保険料など。</a:t>
            </a:r>
          </a:p>
          <a:p>
            <a:pPr lvl="1"/>
            <a:r>
              <a:rPr lang="en-US" altLang="ja-JP" sz="1100" dirty="0" err="1">
                <a:latin typeface="Arial" pitchFamily="34" charset="0"/>
                <a:ea typeface="Meiryo UI" panose="020B0604030504040204" pitchFamily="50" charset="-128"/>
                <a:cs typeface="Arial" pitchFamily="34" charset="0"/>
              </a:rPr>
              <a:t>Biaya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sewa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rumah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listrik</a:t>
            </a:r>
            <a:r>
              <a:rPr lang="en-US" altLang="ja-JP" sz="1100" dirty="0">
                <a:latin typeface="Arial" pitchFamily="34" charset="0"/>
                <a:ea typeface="Meiryo UI" panose="020B0604030504040204" pitchFamily="50" charset="-128"/>
                <a:cs typeface="Arial" pitchFamily="34" charset="0"/>
              </a:rPr>
              <a:t>, air, gas, </a:t>
            </a:r>
            <a:r>
              <a:rPr lang="en-US" altLang="ja-JP" sz="1100" dirty="0" err="1">
                <a:latin typeface="Arial" pitchFamily="34" charset="0"/>
                <a:ea typeface="Meiryo UI" panose="020B0604030504040204" pitchFamily="50" charset="-128"/>
                <a:cs typeface="Arial" pitchFamily="34" charset="0"/>
              </a:rPr>
              <a:t>telepon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transportasi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asuransi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kebutuhan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hidup</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lainnya</a:t>
            </a:r>
            <a:r>
              <a:rPr lang="en-US" altLang="ja-JP" sz="1100" dirty="0">
                <a:latin typeface="Arial" pitchFamily="34" charset="0"/>
                <a:ea typeface="Meiryo UI" panose="020B0604030504040204" pitchFamily="50" charset="-128"/>
                <a:cs typeface="Arial" pitchFamily="34" charset="0"/>
              </a:rPr>
              <a:t>.</a:t>
            </a:r>
          </a:p>
          <a:p>
            <a:pPr lvl="1"/>
            <a:r>
              <a:rPr lang="en-US" altLang="ja-JP" sz="1100" dirty="0">
                <a:latin typeface="Arial" pitchFamily="34" charset="0"/>
                <a:ea typeface="Meiryo UI" panose="020B0604030504040204" pitchFamily="50" charset="-128"/>
                <a:cs typeface="Arial" pitchFamily="34" charset="0"/>
              </a:rPr>
              <a:t>② </a:t>
            </a:r>
            <a:r>
              <a:rPr lang="ja-JP" altLang="en-US" sz="1100" dirty="0">
                <a:latin typeface="Arial" pitchFamily="34" charset="0"/>
                <a:ea typeface="Meiryo UI" panose="020B0604030504040204" pitchFamily="50" charset="-128"/>
                <a:cs typeface="Arial" pitchFamily="34" charset="0"/>
              </a:rPr>
              <a:t>緊急用のお金（きんきゅうようのおかね） </a:t>
            </a:r>
            <a:r>
              <a:rPr lang="en-US" altLang="ja-JP" sz="1100" dirty="0">
                <a:latin typeface="Arial" pitchFamily="34" charset="0"/>
                <a:ea typeface="Meiryo UI" panose="020B0604030504040204" pitchFamily="50" charset="-128"/>
                <a:cs typeface="Arial" pitchFamily="34" charset="0"/>
              </a:rPr>
              <a:t>Dana </a:t>
            </a:r>
            <a:r>
              <a:rPr lang="en-US" altLang="ja-JP" sz="1100" dirty="0" err="1">
                <a:latin typeface="Arial" pitchFamily="34" charset="0"/>
                <a:ea typeface="Meiryo UI" panose="020B0604030504040204" pitchFamily="50" charset="-128"/>
                <a:cs typeface="Arial" pitchFamily="34" charset="0"/>
              </a:rPr>
              <a:t>darurat</a:t>
            </a:r>
            <a:endParaRPr lang="en-US" altLang="ja-JP" sz="1100" dirty="0">
              <a:latin typeface="Arial" pitchFamily="34" charset="0"/>
              <a:ea typeface="Meiryo UI" panose="020B0604030504040204" pitchFamily="50" charset="-128"/>
              <a:cs typeface="Arial" pitchFamily="34" charset="0"/>
            </a:endParaRPr>
          </a:p>
          <a:p>
            <a:pPr lvl="1"/>
            <a:r>
              <a:rPr lang="ja-JP" altLang="en-US" sz="1100" dirty="0">
                <a:latin typeface="Arial" pitchFamily="34" charset="0"/>
                <a:ea typeface="Meiryo UI" panose="020B0604030504040204" pitchFamily="50" charset="-128"/>
                <a:cs typeface="Arial" pitchFamily="34" charset="0"/>
              </a:rPr>
              <a:t>病気、けが、家族の緊急事態などに備えるためのお金です。</a:t>
            </a:r>
          </a:p>
          <a:p>
            <a:pPr lvl="1"/>
            <a:r>
              <a:rPr lang="en-US" altLang="ja-JP" sz="1100" dirty="0">
                <a:latin typeface="Arial" pitchFamily="34" charset="0"/>
                <a:ea typeface="Meiryo UI" panose="020B0604030504040204" pitchFamily="50" charset="-128"/>
                <a:cs typeface="Arial" pitchFamily="34" charset="0"/>
              </a:rPr>
              <a:t>Dana yang </a:t>
            </a:r>
            <a:r>
              <a:rPr lang="en-US" altLang="ja-JP" sz="1100" dirty="0" err="1">
                <a:latin typeface="Arial" pitchFamily="34" charset="0"/>
                <a:ea typeface="Meiryo UI" panose="020B0604030504040204" pitchFamily="50" charset="-128"/>
                <a:cs typeface="Arial" pitchFamily="34" charset="0"/>
              </a:rPr>
              <a:t>disiapkan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untuk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menghadapi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keadaan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darurat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seperti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sakit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kecelakaan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atau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keadaan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mendesak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dalam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keluarga</a:t>
            </a:r>
            <a:r>
              <a:rPr lang="en-US" altLang="ja-JP" sz="1100" dirty="0">
                <a:latin typeface="Arial" pitchFamily="34" charset="0"/>
                <a:ea typeface="Meiryo UI" panose="020B0604030504040204" pitchFamily="50" charset="-128"/>
                <a:cs typeface="Arial" pitchFamily="34" charset="0"/>
              </a:rPr>
              <a:t>.</a:t>
            </a:r>
          </a:p>
          <a:p>
            <a:pPr lvl="1"/>
            <a:r>
              <a:rPr lang="en-US" altLang="ja-JP" sz="1100" dirty="0">
                <a:latin typeface="Arial" pitchFamily="34" charset="0"/>
                <a:ea typeface="Meiryo UI" panose="020B0604030504040204" pitchFamily="50" charset="-128"/>
                <a:cs typeface="Arial" pitchFamily="34" charset="0"/>
              </a:rPr>
              <a:t>③ </a:t>
            </a:r>
            <a:r>
              <a:rPr lang="ja-JP" altLang="en-US" sz="1100" dirty="0">
                <a:latin typeface="Arial" pitchFamily="34" charset="0"/>
                <a:ea typeface="Meiryo UI" panose="020B0604030504040204" pitchFamily="50" charset="-128"/>
                <a:cs typeface="Arial" pitchFamily="34" charset="0"/>
              </a:rPr>
              <a:t>目標のための貯金（もくひょうのためのちょきん） </a:t>
            </a:r>
            <a:r>
              <a:rPr lang="en-US" altLang="ja-JP" sz="1100" dirty="0">
                <a:latin typeface="Arial" pitchFamily="34" charset="0"/>
                <a:ea typeface="Meiryo UI" panose="020B0604030504040204" pitchFamily="50" charset="-128"/>
                <a:cs typeface="Arial" pitchFamily="34" charset="0"/>
              </a:rPr>
              <a:t>Tabungan </a:t>
            </a:r>
            <a:r>
              <a:rPr lang="en-US" altLang="ja-JP" sz="1100" dirty="0" err="1">
                <a:latin typeface="Arial" pitchFamily="34" charset="0"/>
                <a:ea typeface="Meiryo UI" panose="020B0604030504040204" pitchFamily="50" charset="-128"/>
                <a:cs typeface="Arial" pitchFamily="34" charset="0"/>
              </a:rPr>
              <a:t>untuk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mencapai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tujuan</a:t>
            </a:r>
            <a:endParaRPr lang="en-US" altLang="ja-JP" sz="1100" dirty="0">
              <a:latin typeface="Arial" pitchFamily="34" charset="0"/>
              <a:ea typeface="Meiryo UI" panose="020B0604030504040204" pitchFamily="50" charset="-128"/>
              <a:cs typeface="Arial" pitchFamily="34" charset="0"/>
            </a:endParaRPr>
          </a:p>
          <a:p>
            <a:pPr lvl="1"/>
            <a:r>
              <a:rPr lang="ja-JP" altLang="en-US" sz="1100" dirty="0">
                <a:latin typeface="Arial" pitchFamily="34" charset="0"/>
                <a:ea typeface="Meiryo UI" panose="020B0604030504040204" pitchFamily="50" charset="-128"/>
                <a:cs typeface="Arial" pitchFamily="34" charset="0"/>
              </a:rPr>
              <a:t>勉強、資格取得、車の購入、帰国費用、将来の計画のための貯金です。</a:t>
            </a:r>
          </a:p>
          <a:p>
            <a:pPr lvl="1"/>
            <a:r>
              <a:rPr lang="en-US" altLang="ja-JP" sz="1100" dirty="0">
                <a:latin typeface="Arial" pitchFamily="34" charset="0"/>
                <a:ea typeface="Meiryo UI" panose="020B0604030504040204" pitchFamily="50" charset="-128"/>
                <a:cs typeface="Arial" pitchFamily="34" charset="0"/>
              </a:rPr>
              <a:t>Tabungan </a:t>
            </a:r>
            <a:r>
              <a:rPr lang="en-US" altLang="ja-JP" sz="1100" dirty="0" err="1">
                <a:latin typeface="Arial" pitchFamily="34" charset="0"/>
                <a:ea typeface="Meiryo UI" panose="020B0604030504040204" pitchFamily="50" charset="-128"/>
                <a:cs typeface="Arial" pitchFamily="34" charset="0"/>
              </a:rPr>
              <a:t>untuk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pendidikan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memperoleh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sertifikat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membeli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kendaraan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biaya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pulang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negara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asal</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atau</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rencana</a:t>
            </a:r>
            <a:r>
              <a:rPr lang="en-US" altLang="ja-JP" sz="1100" dirty="0">
                <a:latin typeface="Arial" pitchFamily="34" charset="0"/>
                <a:ea typeface="Meiryo UI" panose="020B0604030504040204" pitchFamily="50" charset="-128"/>
                <a:cs typeface="Arial" pitchFamily="34" charset="0"/>
              </a:rPr>
              <a:t> masa </a:t>
            </a:r>
            <a:r>
              <a:rPr lang="en-US" altLang="ja-JP" sz="1100" dirty="0" err="1">
                <a:latin typeface="Arial" pitchFamily="34" charset="0"/>
                <a:ea typeface="Meiryo UI" panose="020B0604030504040204" pitchFamily="50" charset="-128"/>
                <a:cs typeface="Arial" pitchFamily="34" charset="0"/>
              </a:rPr>
              <a:t>depan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lainnya</a:t>
            </a:r>
            <a:r>
              <a:rPr lang="en-US" altLang="ja-JP" sz="1100" dirty="0">
                <a:latin typeface="Arial" pitchFamily="34" charset="0"/>
                <a:ea typeface="Meiryo UI" panose="020B0604030504040204" pitchFamily="50" charset="-128"/>
                <a:cs typeface="Arial" pitchFamily="34" charset="0"/>
              </a:rPr>
              <a:t>.</a:t>
            </a:r>
          </a:p>
          <a:p>
            <a:pPr lvl="1"/>
            <a:r>
              <a:rPr lang="en-US" altLang="ja-JP" sz="1100" dirty="0">
                <a:latin typeface="Arial" pitchFamily="34" charset="0"/>
                <a:ea typeface="Meiryo UI" panose="020B0604030504040204" pitchFamily="50" charset="-128"/>
                <a:cs typeface="Arial" pitchFamily="34" charset="0"/>
              </a:rPr>
              <a:t>④ </a:t>
            </a:r>
            <a:r>
              <a:rPr lang="ja-JP" altLang="en-US" sz="1100" dirty="0">
                <a:latin typeface="Arial" pitchFamily="34" charset="0"/>
                <a:ea typeface="Meiryo UI" panose="020B0604030504040204" pitchFamily="50" charset="-128"/>
                <a:cs typeface="Arial" pitchFamily="34" charset="0"/>
              </a:rPr>
              <a:t>送金（そうきん） </a:t>
            </a:r>
            <a:r>
              <a:rPr lang="en-US" altLang="ja-JP" sz="1100" dirty="0" err="1">
                <a:latin typeface="Arial" pitchFamily="34" charset="0"/>
                <a:ea typeface="Meiryo UI" panose="020B0604030504040204" pitchFamily="50" charset="-128"/>
                <a:cs typeface="Arial" pitchFamily="34" charset="0"/>
              </a:rPr>
              <a:t>Mengirim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keluarga</a:t>
            </a:r>
            <a:endParaRPr lang="en-US" altLang="ja-JP" sz="1100" dirty="0">
              <a:latin typeface="Arial" pitchFamily="34" charset="0"/>
              <a:ea typeface="Meiryo UI" panose="020B0604030504040204" pitchFamily="50" charset="-128"/>
              <a:cs typeface="Arial" pitchFamily="34" charset="0"/>
            </a:endParaRPr>
          </a:p>
          <a:p>
            <a:pPr lvl="1"/>
            <a:r>
              <a:rPr lang="en-US" altLang="ja-JP" sz="1100" dirty="0">
                <a:latin typeface="Arial" pitchFamily="34" charset="0"/>
                <a:ea typeface="Meiryo UI" panose="020B0604030504040204" pitchFamily="50" charset="-128"/>
                <a:cs typeface="Arial" pitchFamily="34" charset="0"/>
              </a:rPr>
              <a:t>①</a:t>
            </a:r>
            <a:r>
              <a:rPr lang="ja-JP" altLang="en-US" sz="1100" dirty="0">
                <a:latin typeface="Arial" pitchFamily="34" charset="0"/>
                <a:ea typeface="Meiryo UI" panose="020B0604030504040204" pitchFamily="50" charset="-128"/>
                <a:cs typeface="Arial" pitchFamily="34" charset="0"/>
              </a:rPr>
              <a:t>～③の準備ができてから送金します。</a:t>
            </a:r>
          </a:p>
          <a:p>
            <a:pPr lvl="1"/>
            <a:r>
              <a:rPr lang="en-US" altLang="ja-JP" sz="1100" dirty="0" err="1">
                <a:latin typeface="Arial" pitchFamily="34" charset="0"/>
                <a:ea typeface="Meiryo UI" panose="020B0604030504040204" pitchFamily="50" charset="-128"/>
                <a:cs typeface="Arial" pitchFamily="34" charset="0"/>
              </a:rPr>
              <a:t>Kirim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kepada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keluarga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setelah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kebutuhan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pada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poin</a:t>
            </a:r>
            <a:r>
              <a:rPr lang="en-US" altLang="ja-JP" sz="1100" dirty="0">
                <a:latin typeface="Arial" pitchFamily="34" charset="0"/>
                <a:ea typeface="Meiryo UI" panose="020B0604030504040204" pitchFamily="50" charset="-128"/>
                <a:cs typeface="Arial" pitchFamily="34" charset="0"/>
              </a:rPr>
              <a:t> ① </a:t>
            </a:r>
            <a:r>
              <a:rPr lang="en-US" altLang="ja-JP" sz="1100" dirty="0" err="1">
                <a:latin typeface="Arial" pitchFamily="34" charset="0"/>
                <a:ea typeface="Meiryo UI" panose="020B0604030504040204" pitchFamily="50" charset="-128"/>
                <a:cs typeface="Arial" pitchFamily="34" charset="0"/>
              </a:rPr>
              <a:t>hingga</a:t>
            </a:r>
            <a:r>
              <a:rPr lang="en-US" altLang="ja-JP" sz="1100" dirty="0">
                <a:latin typeface="Arial" pitchFamily="34" charset="0"/>
                <a:ea typeface="Meiryo UI" panose="020B0604030504040204" pitchFamily="50" charset="-128"/>
                <a:cs typeface="Arial" pitchFamily="34" charset="0"/>
              </a:rPr>
              <a:t> ③ </a:t>
            </a:r>
            <a:r>
              <a:rPr lang="en-US" altLang="ja-JP" sz="1100" dirty="0" err="1">
                <a:latin typeface="Arial" pitchFamily="34" charset="0"/>
                <a:ea typeface="Meiryo UI" panose="020B0604030504040204" pitchFamily="50" charset="-128"/>
                <a:cs typeface="Arial" pitchFamily="34" charset="0"/>
              </a:rPr>
              <a:t>terpenuhi</a:t>
            </a:r>
            <a:r>
              <a:rPr lang="en-US" altLang="ja-JP" sz="1100" dirty="0">
                <a:latin typeface="Arial" pitchFamily="34" charset="0"/>
                <a:ea typeface="Meiryo UI" panose="020B0604030504040204" pitchFamily="50" charset="-128"/>
                <a:cs typeface="Arial" pitchFamily="34" charset="0"/>
              </a:rPr>
              <a:t>.</a:t>
            </a:r>
          </a:p>
          <a:p>
            <a:pPr lvl="1"/>
            <a:r>
              <a:rPr lang="ja-JP" altLang="en-US" sz="1100" dirty="0" smtClean="0">
                <a:latin typeface="Arial" pitchFamily="34" charset="0"/>
                <a:ea typeface="Meiryo UI" panose="020B0604030504040204" pitchFamily="50" charset="-128"/>
                <a:cs typeface="Arial" pitchFamily="34" charset="0"/>
              </a:rPr>
              <a:t>ルール　</a:t>
            </a:r>
            <a:r>
              <a:rPr lang="en-US" altLang="ja-JP" sz="1100" dirty="0" err="1" smtClean="0">
                <a:latin typeface="Arial" pitchFamily="34" charset="0"/>
                <a:ea typeface="Meiryo UI" panose="020B0604030504040204" pitchFamily="50" charset="-128"/>
                <a:cs typeface="Arial" pitchFamily="34" charset="0"/>
              </a:rPr>
              <a:t>Aturan</a:t>
            </a:r>
            <a:endParaRPr lang="en-US" altLang="ja-JP" sz="1100" dirty="0">
              <a:latin typeface="Arial" pitchFamily="34" charset="0"/>
              <a:ea typeface="Meiryo UI" panose="020B0604030504040204" pitchFamily="50" charset="-128"/>
              <a:cs typeface="Arial" pitchFamily="34" charset="0"/>
            </a:endParaRPr>
          </a:p>
          <a:p>
            <a:pPr lvl="1"/>
            <a:r>
              <a:rPr lang="ja-JP" altLang="en-US" sz="1100" dirty="0">
                <a:latin typeface="Arial" pitchFamily="34" charset="0"/>
                <a:ea typeface="Meiryo UI" panose="020B0604030504040204" pitchFamily="50" charset="-128"/>
                <a:cs typeface="Arial" pitchFamily="34" charset="0"/>
              </a:rPr>
              <a:t>緊急用のお金が少ないときは、送金を控えましょう。</a:t>
            </a:r>
          </a:p>
          <a:p>
            <a:pPr lvl="1"/>
            <a:r>
              <a:rPr lang="en-US" altLang="ja-JP" sz="1100" dirty="0" err="1">
                <a:latin typeface="Arial" pitchFamily="34" charset="0"/>
                <a:ea typeface="Meiryo UI" panose="020B0604030504040204" pitchFamily="50" charset="-128"/>
                <a:cs typeface="Arial" pitchFamily="34" charset="0"/>
              </a:rPr>
              <a:t>Jika</a:t>
            </a:r>
            <a:r>
              <a:rPr lang="en-US" altLang="ja-JP" sz="1100" dirty="0">
                <a:latin typeface="Arial" pitchFamily="34" charset="0"/>
                <a:ea typeface="Meiryo UI" panose="020B0604030504040204" pitchFamily="50" charset="-128"/>
                <a:cs typeface="Arial" pitchFamily="34" charset="0"/>
              </a:rPr>
              <a:t> dana </a:t>
            </a:r>
            <a:r>
              <a:rPr lang="en-US" altLang="ja-JP" sz="1100" dirty="0" err="1">
                <a:latin typeface="Arial" pitchFamily="34" charset="0"/>
                <a:ea typeface="Meiryo UI" panose="020B0604030504040204" pitchFamily="50" charset="-128"/>
                <a:cs typeface="Arial" pitchFamily="34" charset="0"/>
              </a:rPr>
              <a:t>darurat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belum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mencukupi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sebaiknya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jangan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mengirim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terlebih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dahulu</a:t>
            </a:r>
            <a:r>
              <a:rPr lang="en-US" altLang="ja-JP" sz="1100" dirty="0">
                <a:latin typeface="Arial" pitchFamily="34" charset="0"/>
                <a:ea typeface="Meiryo UI" panose="020B0604030504040204" pitchFamily="50" charset="-128"/>
                <a:cs typeface="Arial" pitchFamily="34" charset="0"/>
              </a:rPr>
              <a:t>.</a:t>
            </a:r>
          </a:p>
          <a:p>
            <a:pPr lvl="1"/>
            <a:r>
              <a:rPr lang="ja-JP" altLang="en-US" sz="1100" dirty="0">
                <a:latin typeface="Arial" pitchFamily="34" charset="0"/>
                <a:ea typeface="Meiryo UI" panose="020B0604030504040204" pitchFamily="50" charset="-128"/>
                <a:cs typeface="Arial" pitchFamily="34" charset="0"/>
              </a:rPr>
              <a:t>無理をして送金しないようにしましょう。</a:t>
            </a:r>
          </a:p>
          <a:p>
            <a:pPr lvl="1"/>
            <a:r>
              <a:rPr lang="en-US" altLang="ja-JP" sz="1100" dirty="0" err="1">
                <a:latin typeface="Arial" pitchFamily="34" charset="0"/>
                <a:ea typeface="Meiryo UI" panose="020B0604030504040204" pitchFamily="50" charset="-128"/>
                <a:cs typeface="Arial" pitchFamily="34" charset="0"/>
              </a:rPr>
              <a:t>Jangan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memaksakan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diri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untuk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mengirim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uang</a:t>
            </a:r>
            <a:r>
              <a:rPr lang="en-US" altLang="ja-JP" sz="1100" dirty="0">
                <a:latin typeface="Arial" pitchFamily="34" charset="0"/>
                <a:ea typeface="Meiryo UI" panose="020B0604030504040204" pitchFamily="50" charset="-128"/>
                <a:cs typeface="Arial" pitchFamily="34" charset="0"/>
              </a:rPr>
              <a:t>.</a:t>
            </a:r>
          </a:p>
          <a:p>
            <a:pPr lvl="1"/>
            <a:r>
              <a:rPr lang="ja-JP" altLang="en-US" sz="1100" dirty="0">
                <a:latin typeface="Arial" pitchFamily="34" charset="0"/>
                <a:ea typeface="Meiryo UI" panose="020B0604030504040204" pitchFamily="50" charset="-128"/>
                <a:cs typeface="Arial" pitchFamily="34" charset="0"/>
              </a:rPr>
              <a:t>少しずつでも、計画的に送ることが大切です。</a:t>
            </a:r>
          </a:p>
          <a:p>
            <a:pPr lvl="1"/>
            <a:r>
              <a:rPr lang="en-US" altLang="ja-JP" sz="1100" dirty="0" err="1">
                <a:latin typeface="Arial" pitchFamily="34" charset="0"/>
                <a:ea typeface="Meiryo UI" panose="020B0604030504040204" pitchFamily="50" charset="-128"/>
                <a:cs typeface="Arial" pitchFamily="34" charset="0"/>
              </a:rPr>
              <a:t>Mengirim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uang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sedikit</a:t>
            </a:r>
            <a:r>
              <a:rPr lang="en-US" altLang="ja-JP" sz="1100" dirty="0">
                <a:latin typeface="Arial" pitchFamily="34" charset="0"/>
                <a:ea typeface="Meiryo UI" panose="020B0604030504040204" pitchFamily="50" charset="-128"/>
                <a:cs typeface="Arial" pitchFamily="34" charset="0"/>
              </a:rPr>
              <a:t> demi </a:t>
            </a:r>
            <a:r>
              <a:rPr lang="en-US" altLang="ja-JP" sz="1100" dirty="0" err="1">
                <a:latin typeface="Arial" pitchFamily="34" charset="0"/>
                <a:ea typeface="Meiryo UI" panose="020B0604030504040204" pitchFamily="50" charset="-128"/>
                <a:cs typeface="Arial" pitchFamily="34" charset="0"/>
              </a:rPr>
              <a:t>sedikit</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secara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terencana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adalah</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hal</a:t>
            </a:r>
            <a:r>
              <a:rPr lang="en-US" altLang="ja-JP" sz="1100" dirty="0">
                <a:latin typeface="Arial" pitchFamily="34" charset="0"/>
                <a:ea typeface="Meiryo UI" panose="020B0604030504040204" pitchFamily="50" charset="-128"/>
                <a:cs typeface="Arial" pitchFamily="34" charset="0"/>
              </a:rPr>
              <a:t> yang </a:t>
            </a:r>
            <a:r>
              <a:rPr lang="en-US" altLang="ja-JP" sz="1100" dirty="0" err="1">
                <a:latin typeface="Arial" pitchFamily="34" charset="0"/>
                <a:ea typeface="Meiryo UI" panose="020B0604030504040204" pitchFamily="50" charset="-128"/>
                <a:cs typeface="Arial" pitchFamily="34" charset="0"/>
              </a:rPr>
              <a:t>penting</a:t>
            </a:r>
            <a:r>
              <a:rPr lang="en-US" altLang="ja-JP" sz="1100" dirty="0">
                <a:latin typeface="Arial" pitchFamily="34" charset="0"/>
                <a:ea typeface="Meiryo UI" panose="020B0604030504040204" pitchFamily="50" charset="-128"/>
                <a:cs typeface="Arial" pitchFamily="34" charset="0"/>
              </a:rPr>
              <a:t>.</a:t>
            </a:r>
          </a:p>
          <a:p>
            <a:pPr lvl="1"/>
            <a:r>
              <a:rPr lang="ja-JP" altLang="en-US" sz="1100" dirty="0">
                <a:latin typeface="Arial" pitchFamily="34" charset="0"/>
                <a:ea typeface="Meiryo UI" panose="020B0604030504040204" pitchFamily="50" charset="-128"/>
                <a:cs typeface="Arial" pitchFamily="34" charset="0"/>
              </a:rPr>
              <a:t>大切な</a:t>
            </a:r>
            <a:r>
              <a:rPr lang="ja-JP" altLang="en-US" sz="1100" dirty="0" smtClean="0">
                <a:latin typeface="Arial" pitchFamily="34" charset="0"/>
                <a:ea typeface="Meiryo UI" panose="020B0604030504040204" pitchFamily="50" charset="-128"/>
                <a:cs typeface="Arial" pitchFamily="34" charset="0"/>
              </a:rPr>
              <a:t>こと　</a:t>
            </a:r>
            <a:r>
              <a:rPr lang="en-US" altLang="ja-JP" sz="1100" dirty="0" smtClean="0">
                <a:latin typeface="Arial" pitchFamily="34" charset="0"/>
                <a:ea typeface="Meiryo UI" panose="020B0604030504040204" pitchFamily="50" charset="-128"/>
                <a:cs typeface="Arial" pitchFamily="34" charset="0"/>
              </a:rPr>
              <a:t>Hal </a:t>
            </a:r>
            <a:r>
              <a:rPr lang="en-US" altLang="ja-JP" sz="1100" dirty="0">
                <a:latin typeface="Arial" pitchFamily="34" charset="0"/>
                <a:ea typeface="Meiryo UI" panose="020B0604030504040204" pitchFamily="50" charset="-128"/>
                <a:cs typeface="Arial" pitchFamily="34" charset="0"/>
              </a:rPr>
              <a:t>yang </a:t>
            </a:r>
            <a:r>
              <a:rPr lang="en-US" altLang="ja-JP" sz="1100" dirty="0" err="1">
                <a:latin typeface="Arial" pitchFamily="34" charset="0"/>
                <a:ea typeface="Meiryo UI" panose="020B0604030504040204" pitchFamily="50" charset="-128"/>
                <a:cs typeface="Arial" pitchFamily="34" charset="0"/>
              </a:rPr>
              <a:t>penting</a:t>
            </a:r>
            <a:endParaRPr lang="en-US" altLang="ja-JP" sz="1100" dirty="0">
              <a:latin typeface="Arial" pitchFamily="34" charset="0"/>
              <a:ea typeface="Meiryo UI" panose="020B0604030504040204" pitchFamily="50" charset="-128"/>
              <a:cs typeface="Arial" pitchFamily="34" charset="0"/>
            </a:endParaRPr>
          </a:p>
          <a:p>
            <a:pPr lvl="1"/>
            <a:r>
              <a:rPr lang="ja-JP" altLang="en-US" sz="1100" dirty="0">
                <a:latin typeface="Arial" pitchFamily="34" charset="0"/>
                <a:ea typeface="Meiryo UI" panose="020B0604030504040204" pitchFamily="50" charset="-128"/>
                <a:cs typeface="Arial" pitchFamily="34" charset="0"/>
              </a:rPr>
              <a:t>「自分の生活を守ること」が、家族を支えることにつながります。</a:t>
            </a:r>
          </a:p>
          <a:p>
            <a:pPr lvl="1"/>
            <a:r>
              <a:rPr lang="en-US" altLang="ja-JP" sz="1100" dirty="0" err="1">
                <a:latin typeface="Arial" pitchFamily="34" charset="0"/>
                <a:ea typeface="Meiryo UI" panose="020B0604030504040204" pitchFamily="50" charset="-128"/>
                <a:cs typeface="Arial" pitchFamily="34" charset="0"/>
              </a:rPr>
              <a:t>Menjaga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kestabilan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kehidupan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Anda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sendiri</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juga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merupakan</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cara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untuk</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mendukung</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keluarga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dalam</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jangka</a:t>
            </a:r>
            <a:r>
              <a:rPr lang="en-US" altLang="ja-JP" sz="1100" dirty="0">
                <a:latin typeface="Arial" pitchFamily="34" charset="0"/>
                <a:ea typeface="Meiryo UI" panose="020B0604030504040204" pitchFamily="50" charset="-128"/>
                <a:cs typeface="Arial" pitchFamily="34" charset="0"/>
              </a:rPr>
              <a:t> </a:t>
            </a:r>
            <a:r>
              <a:rPr lang="en-US" altLang="ja-JP" sz="1100" dirty="0" err="1">
                <a:latin typeface="Arial" pitchFamily="34" charset="0"/>
                <a:ea typeface="Meiryo UI" panose="020B0604030504040204" pitchFamily="50" charset="-128"/>
                <a:cs typeface="Arial" pitchFamily="34" charset="0"/>
              </a:rPr>
              <a:t>panjang</a:t>
            </a:r>
            <a:r>
              <a:rPr lang="en-US" altLang="ja-JP" sz="1100" dirty="0">
                <a:latin typeface="Arial" pitchFamily="34" charset="0"/>
                <a:ea typeface="Meiryo UI" panose="020B0604030504040204" pitchFamily="50" charset="-128"/>
                <a:cs typeface="Arial" pitchFamily="34" charset="0"/>
              </a:rPr>
              <a:t>.</a:t>
            </a:r>
            <a:endParaRPr lang="ja-JP" altLang="en-US" sz="1200" dirty="0">
              <a:latin typeface="Arial" pitchFamily="34" charset="0"/>
              <a:ea typeface="Meiryo UI" panose="020B0604030504040204" pitchFamily="50" charset="-128"/>
              <a:cs typeface="Arial" pitchFamily="34" charset="0"/>
            </a:endParaRPr>
          </a:p>
          <a:p>
            <a:r>
              <a:rPr lang="ja-JP" altLang="en-US" sz="1400" b="1" dirty="0" smtClean="0">
                <a:latin typeface="Arial" pitchFamily="34" charset="0"/>
                <a:ea typeface="Meiryo UI" panose="020B0604030504040204" pitchFamily="50" charset="-128"/>
                <a:cs typeface="Arial" pitchFamily="34" charset="0"/>
              </a:rPr>
              <a:t>　　</a:t>
            </a:r>
            <a:endParaRPr lang="ja-JP" altLang="en-US" sz="1400" b="1" dirty="0">
              <a:latin typeface="Arial" pitchFamily="34" charset="0"/>
              <a:ea typeface="Meiryo UI" panose="020B0604030504040204" pitchFamily="50" charset="-128"/>
              <a:cs typeface="Arial" pitchFamily="34" charset="0"/>
            </a:endParaRPr>
          </a:p>
        </p:txBody>
      </p:sp>
      <p:sp>
        <p:nvSpPr>
          <p:cNvPr id="3" name="正方形/長方形 2"/>
          <p:cNvSpPr/>
          <p:nvPr/>
        </p:nvSpPr>
        <p:spPr>
          <a:xfrm>
            <a:off x="581025" y="4702"/>
            <a:ext cx="2895600" cy="400110"/>
          </a:xfrm>
          <a:prstGeom prst="rect">
            <a:avLst/>
          </a:prstGeom>
        </p:spPr>
        <p:txBody>
          <a:bodyPr wrap="square">
            <a:spAutoFit/>
          </a:bodyPr>
          <a:lstStyle/>
          <a:p>
            <a:r>
              <a:rPr lang="ja-JP" altLang="en-US" sz="2000" b="1" dirty="0">
                <a:latin typeface="Meiryo UI" panose="020B0604030504040204" pitchFamily="50" charset="-128"/>
                <a:ea typeface="Meiryo UI" panose="020B0604030504040204" pitchFamily="50" charset="-128"/>
              </a:rPr>
              <a:t>送金するときの</a:t>
            </a:r>
            <a:r>
              <a:rPr lang="ja-JP" altLang="en-US" sz="2000" b="1" dirty="0" smtClean="0">
                <a:latin typeface="Meiryo UI" panose="020B0604030504040204" pitchFamily="50" charset="-128"/>
                <a:ea typeface="Meiryo UI" panose="020B0604030504040204" pitchFamily="50" charset="-128"/>
              </a:rPr>
              <a:t>考え方</a:t>
            </a:r>
            <a:endParaRPr lang="ja-JP" altLang="en-US" sz="2000" b="1" dirty="0">
              <a:latin typeface="Meiryo UI" panose="020B0604030504040204" pitchFamily="50" charset="-128"/>
              <a:ea typeface="Meiryo UI" panose="020B0604030504040204" pitchFamily="50" charset="-128"/>
            </a:endParaRPr>
          </a:p>
        </p:txBody>
      </p:sp>
      <p:sp>
        <p:nvSpPr>
          <p:cNvPr id="4" name="正方形/長方形 3"/>
          <p:cNvSpPr/>
          <p:nvPr/>
        </p:nvSpPr>
        <p:spPr>
          <a:xfrm>
            <a:off x="3043093" y="4702"/>
            <a:ext cx="5519882" cy="400110"/>
          </a:xfrm>
          <a:prstGeom prst="rect">
            <a:avLst/>
          </a:prstGeom>
        </p:spPr>
        <p:txBody>
          <a:bodyPr wrap="square">
            <a:spAutoFit/>
          </a:bodyPr>
          <a:lstStyle/>
          <a:p>
            <a:r>
              <a:rPr lang="en-US" altLang="ja-JP" sz="2000" b="1" dirty="0" err="1"/>
              <a:t>Prinsip</a:t>
            </a:r>
            <a:r>
              <a:rPr lang="en-US" altLang="ja-JP" sz="2000" b="1" dirty="0"/>
              <a:t> </a:t>
            </a:r>
            <a:r>
              <a:rPr lang="en-US" altLang="ja-JP" sz="2000" b="1" dirty="0" err="1"/>
              <a:t>dalam</a:t>
            </a:r>
            <a:r>
              <a:rPr lang="en-US" altLang="ja-JP" sz="2000" b="1" dirty="0"/>
              <a:t> </a:t>
            </a:r>
            <a:r>
              <a:rPr lang="en-US" altLang="ja-JP" sz="2000" b="1" dirty="0" err="1"/>
              <a:t>Mengirim</a:t>
            </a:r>
            <a:r>
              <a:rPr lang="en-US" altLang="ja-JP" sz="2000" b="1" dirty="0"/>
              <a:t> </a:t>
            </a:r>
            <a:r>
              <a:rPr lang="en-US" altLang="ja-JP" sz="2000" b="1" dirty="0" err="1"/>
              <a:t>Uang</a:t>
            </a:r>
            <a:r>
              <a:rPr lang="en-US" altLang="ja-JP" sz="2000" b="1" dirty="0"/>
              <a:t> </a:t>
            </a:r>
            <a:r>
              <a:rPr lang="en-US" altLang="ja-JP" sz="2000" b="1" dirty="0" err="1"/>
              <a:t>ke</a:t>
            </a:r>
            <a:r>
              <a:rPr lang="en-US" altLang="ja-JP" sz="2000" b="1" dirty="0"/>
              <a:t> </a:t>
            </a:r>
            <a:r>
              <a:rPr lang="en-US" altLang="ja-JP" sz="2000" b="1" dirty="0" err="1"/>
              <a:t>Keluarga</a:t>
            </a:r>
            <a:endParaRPr lang="en-US" altLang="ja-JP" sz="2000" dirty="0"/>
          </a:p>
        </p:txBody>
      </p:sp>
      <p:sp>
        <p:nvSpPr>
          <p:cNvPr id="5" name="正方形/長方形 4"/>
          <p:cNvSpPr/>
          <p:nvPr/>
        </p:nvSpPr>
        <p:spPr>
          <a:xfrm>
            <a:off x="6824632" y="557690"/>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18719481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581025" y="4702"/>
            <a:ext cx="2895600" cy="400110"/>
          </a:xfrm>
          <a:prstGeom prst="rect">
            <a:avLst/>
          </a:prstGeom>
        </p:spPr>
        <p:txBody>
          <a:bodyPr wrap="square">
            <a:spAutoFit/>
          </a:bodyPr>
          <a:lstStyle/>
          <a:p>
            <a:r>
              <a:rPr lang="ja-JP" altLang="en-US" sz="2000" dirty="0">
                <a:latin typeface="Meiryo UI" panose="020B0604030504040204" pitchFamily="50" charset="-128"/>
                <a:ea typeface="Meiryo UI" panose="020B0604030504040204" pitchFamily="50" charset="-128"/>
              </a:rPr>
              <a:t>送金するときの</a:t>
            </a:r>
            <a:r>
              <a:rPr lang="ja-JP" altLang="en-US" sz="2000" dirty="0" smtClean="0">
                <a:latin typeface="Meiryo UI" panose="020B0604030504040204" pitchFamily="50" charset="-128"/>
                <a:ea typeface="Meiryo UI" panose="020B0604030504040204" pitchFamily="50" charset="-128"/>
              </a:rPr>
              <a:t>考え方</a:t>
            </a:r>
            <a:endParaRPr lang="ja-JP" altLang="en-US" sz="2000" dirty="0">
              <a:latin typeface="Meiryo UI" panose="020B0604030504040204" pitchFamily="50" charset="-128"/>
              <a:ea typeface="Meiryo UI" panose="020B0604030504040204" pitchFamily="50" charset="-128"/>
            </a:endParaRPr>
          </a:p>
        </p:txBody>
      </p:sp>
      <p:sp>
        <p:nvSpPr>
          <p:cNvPr id="4" name="正方形/長方形 3"/>
          <p:cNvSpPr/>
          <p:nvPr/>
        </p:nvSpPr>
        <p:spPr>
          <a:xfrm>
            <a:off x="3043093" y="4702"/>
            <a:ext cx="5519882" cy="400110"/>
          </a:xfrm>
          <a:prstGeom prst="rect">
            <a:avLst/>
          </a:prstGeom>
        </p:spPr>
        <p:txBody>
          <a:bodyPr wrap="square">
            <a:spAutoFit/>
          </a:bodyPr>
          <a:lstStyle/>
          <a:p>
            <a:r>
              <a:rPr lang="en-US" altLang="ja-JP" sz="2000" dirty="0" err="1"/>
              <a:t>Prinsip</a:t>
            </a:r>
            <a:r>
              <a:rPr lang="en-US" altLang="ja-JP" sz="2000" dirty="0"/>
              <a:t> </a:t>
            </a:r>
            <a:r>
              <a:rPr lang="en-US" altLang="ja-JP" sz="2000" dirty="0" err="1"/>
              <a:t>dalam</a:t>
            </a:r>
            <a:r>
              <a:rPr lang="en-US" altLang="ja-JP" sz="2000" dirty="0"/>
              <a:t> </a:t>
            </a:r>
            <a:r>
              <a:rPr lang="en-US" altLang="ja-JP" sz="2000" dirty="0" err="1"/>
              <a:t>Mengirim</a:t>
            </a:r>
            <a:r>
              <a:rPr lang="en-US" altLang="ja-JP" sz="2000" dirty="0"/>
              <a:t> </a:t>
            </a:r>
            <a:r>
              <a:rPr lang="en-US" altLang="ja-JP" sz="2000" dirty="0" err="1"/>
              <a:t>Uang</a:t>
            </a:r>
            <a:r>
              <a:rPr lang="en-US" altLang="ja-JP" sz="2000" dirty="0"/>
              <a:t> </a:t>
            </a:r>
            <a:r>
              <a:rPr lang="en-US" altLang="ja-JP" sz="2000" dirty="0" err="1"/>
              <a:t>ke</a:t>
            </a:r>
            <a:r>
              <a:rPr lang="en-US" altLang="ja-JP" sz="2000" dirty="0"/>
              <a:t> </a:t>
            </a:r>
            <a:r>
              <a:rPr lang="en-US" altLang="ja-JP" sz="2000" dirty="0" err="1"/>
              <a:t>Keluarga</a:t>
            </a:r>
            <a:endParaRPr lang="en-US" altLang="ja-JP" sz="2000" dirty="0"/>
          </a:p>
        </p:txBody>
      </p:sp>
      <p:graphicFrame>
        <p:nvGraphicFramePr>
          <p:cNvPr id="5" name="表 4"/>
          <p:cNvGraphicFramePr>
            <a:graphicFrameLocks noGrp="1"/>
          </p:cNvGraphicFramePr>
          <p:nvPr>
            <p:extLst>
              <p:ext uri="{D42A27DB-BD31-4B8C-83A1-F6EECF244321}">
                <p14:modId xmlns:p14="http://schemas.microsoft.com/office/powerpoint/2010/main" val="3556740502"/>
              </p:ext>
            </p:extLst>
          </p:nvPr>
        </p:nvGraphicFramePr>
        <p:xfrm>
          <a:off x="180974" y="2386992"/>
          <a:ext cx="9582150" cy="3680858"/>
        </p:xfrm>
        <a:graphic>
          <a:graphicData uri="http://schemas.openxmlformats.org/drawingml/2006/table">
            <a:tbl>
              <a:tblPr/>
              <a:tblGrid>
                <a:gridCol w="3194050">
                  <a:extLst>
                    <a:ext uri="{9D8B030D-6E8A-4147-A177-3AD203B41FA5}">
                      <a16:colId xmlns:a16="http://schemas.microsoft.com/office/drawing/2014/main" val="1572577795"/>
                    </a:ext>
                  </a:extLst>
                </a:gridCol>
                <a:gridCol w="3194050">
                  <a:extLst>
                    <a:ext uri="{9D8B030D-6E8A-4147-A177-3AD203B41FA5}">
                      <a16:colId xmlns:a16="http://schemas.microsoft.com/office/drawing/2014/main" val="3660197159"/>
                    </a:ext>
                  </a:extLst>
                </a:gridCol>
                <a:gridCol w="3194050">
                  <a:extLst>
                    <a:ext uri="{9D8B030D-6E8A-4147-A177-3AD203B41FA5}">
                      <a16:colId xmlns:a16="http://schemas.microsoft.com/office/drawing/2014/main" val="2898653896"/>
                    </a:ext>
                  </a:extLst>
                </a:gridCol>
              </a:tblGrid>
              <a:tr h="446060">
                <a:tc>
                  <a:txBody>
                    <a:bodyPr/>
                    <a:lstStyle/>
                    <a:p>
                      <a:r>
                        <a:rPr lang="ja-JP" altLang="en-US" sz="1300" b="1">
                          <a:latin typeface="Meiryo UI" panose="020B0604030504040204" pitchFamily="50" charset="-128"/>
                          <a:ea typeface="Meiryo UI" panose="020B0604030504040204" pitchFamily="50" charset="-128"/>
                        </a:rPr>
                        <a:t>質問（しつもん）</a:t>
                      </a:r>
                      <a:endParaRPr lang="ja-JP" altLang="en-US" sz="1300">
                        <a:latin typeface="Meiryo UI" panose="020B0604030504040204" pitchFamily="50" charset="-128"/>
                        <a:ea typeface="Meiryo UI" panose="020B0604030504040204" pitchFamily="50" charset="-128"/>
                      </a:endParaRPr>
                    </a:p>
                  </a:txBody>
                  <a:tcPr marL="63723" marR="63723" marT="31861" marB="31861" anchor="ctr">
                    <a:lnL>
                      <a:noFill/>
                    </a:lnL>
                    <a:lnR>
                      <a:noFill/>
                    </a:lnR>
                    <a:lnT>
                      <a:noFill/>
                    </a:lnT>
                    <a:lnB>
                      <a:noFill/>
                    </a:lnB>
                  </a:tcPr>
                </a:tc>
                <a:tc>
                  <a:txBody>
                    <a:bodyPr/>
                    <a:lstStyle/>
                    <a:p>
                      <a:r>
                        <a:rPr lang="en-US" sz="1300" b="1">
                          <a:latin typeface="Meiryo UI" panose="020B0604030504040204" pitchFamily="50" charset="-128"/>
                          <a:ea typeface="Meiryo UI" panose="020B0604030504040204" pitchFamily="50" charset="-128"/>
                        </a:rPr>
                        <a:t>Pertanyaan</a:t>
                      </a:r>
                      <a:endParaRPr lang="en-US" sz="1300">
                        <a:latin typeface="Meiryo UI" panose="020B0604030504040204" pitchFamily="50" charset="-128"/>
                        <a:ea typeface="Meiryo UI" panose="020B0604030504040204" pitchFamily="50" charset="-128"/>
                      </a:endParaRPr>
                    </a:p>
                  </a:txBody>
                  <a:tcPr marL="63723" marR="63723" marT="31861" marB="31861" anchor="ctr">
                    <a:lnL>
                      <a:noFill/>
                    </a:lnL>
                    <a:lnR>
                      <a:noFill/>
                    </a:lnR>
                    <a:lnT>
                      <a:noFill/>
                    </a:lnT>
                    <a:lnB>
                      <a:noFill/>
                    </a:lnB>
                  </a:tcPr>
                </a:tc>
                <a:tc>
                  <a:txBody>
                    <a:bodyPr/>
                    <a:lstStyle/>
                    <a:p>
                      <a:r>
                        <a:rPr lang="ja-JP" altLang="en-US" sz="1300" b="1" dirty="0">
                          <a:latin typeface="Meiryo UI" panose="020B0604030504040204" pitchFamily="50" charset="-128"/>
                          <a:ea typeface="Meiryo UI" panose="020B0604030504040204" pitchFamily="50" charset="-128"/>
                        </a:rPr>
                        <a:t>自分でチェック</a:t>
                      </a:r>
                      <a:r>
                        <a:rPr lang="ja-JP" altLang="en-US" sz="1300" dirty="0">
                          <a:latin typeface="Meiryo UI" panose="020B0604030504040204" pitchFamily="50" charset="-128"/>
                          <a:ea typeface="Meiryo UI" panose="020B0604030504040204" pitchFamily="50" charset="-128"/>
                        </a:rPr>
                        <a:t/>
                      </a:r>
                      <a:br>
                        <a:rPr lang="ja-JP" altLang="en-US" sz="1300" dirty="0">
                          <a:latin typeface="Meiryo UI" panose="020B0604030504040204" pitchFamily="50" charset="-128"/>
                          <a:ea typeface="Meiryo UI" panose="020B0604030504040204" pitchFamily="50" charset="-128"/>
                        </a:rPr>
                      </a:br>
                      <a:r>
                        <a:rPr lang="en-US" altLang="ja-JP" sz="1300" i="1" dirty="0">
                          <a:latin typeface="Meiryo UI" panose="020B0604030504040204" pitchFamily="50" charset="-128"/>
                          <a:ea typeface="Meiryo UI" panose="020B0604030504040204" pitchFamily="50" charset="-128"/>
                        </a:rPr>
                        <a:t>(</a:t>
                      </a:r>
                      <a:r>
                        <a:rPr lang="ja-JP" altLang="en-US" sz="1300" i="1" dirty="0">
                          <a:latin typeface="Meiryo UI" panose="020B0604030504040204" pitchFamily="50" charset="-128"/>
                          <a:ea typeface="Meiryo UI" panose="020B0604030504040204" pitchFamily="50" charset="-128"/>
                        </a:rPr>
                        <a:t>はい／いいえ</a:t>
                      </a:r>
                      <a:r>
                        <a:rPr lang="en-US" altLang="ja-JP" sz="1300" i="1" dirty="0">
                          <a:latin typeface="Meiryo UI" panose="020B0604030504040204" pitchFamily="50" charset="-128"/>
                          <a:ea typeface="Meiryo UI" panose="020B0604030504040204" pitchFamily="50" charset="-128"/>
                        </a:rPr>
                        <a:t>)</a:t>
                      </a:r>
                      <a:endParaRPr lang="ja-JP" altLang="en-US" sz="1300" dirty="0">
                        <a:latin typeface="Meiryo UI" panose="020B0604030504040204" pitchFamily="50" charset="-128"/>
                        <a:ea typeface="Meiryo UI" panose="020B0604030504040204" pitchFamily="50" charset="-128"/>
                      </a:endParaRPr>
                    </a:p>
                  </a:txBody>
                  <a:tcPr marL="63723" marR="63723" marT="31861" marB="31861" anchor="ctr">
                    <a:lnL>
                      <a:noFill/>
                    </a:lnL>
                    <a:lnR>
                      <a:noFill/>
                    </a:lnR>
                    <a:lnT>
                      <a:noFill/>
                    </a:lnT>
                    <a:lnB>
                      <a:noFill/>
                    </a:lnB>
                  </a:tcPr>
                </a:tc>
                <a:extLst>
                  <a:ext uri="{0D108BD9-81ED-4DB2-BD59-A6C34878D82A}">
                    <a16:rowId xmlns:a16="http://schemas.microsoft.com/office/drawing/2014/main" val="3940650689"/>
                  </a:ext>
                </a:extLst>
              </a:tr>
              <a:tr h="637228">
                <a:tc>
                  <a:txBody>
                    <a:bodyPr/>
                    <a:lstStyle/>
                    <a:p>
                      <a:r>
                        <a:rPr lang="ja-JP" altLang="en-US" sz="1300">
                          <a:latin typeface="Meiryo UI" panose="020B0604030504040204" pitchFamily="50" charset="-128"/>
                          <a:ea typeface="Meiryo UI" panose="020B0604030504040204" pitchFamily="50" charset="-128"/>
                        </a:rPr>
                        <a:t>今月の生活費は足りていますか？</a:t>
                      </a:r>
                    </a:p>
                  </a:txBody>
                  <a:tcPr marL="63723" marR="63723" marT="31861" marB="31861" anchor="ctr">
                    <a:lnL>
                      <a:noFill/>
                    </a:lnL>
                    <a:lnR>
                      <a:noFill/>
                    </a:lnR>
                    <a:lnT>
                      <a:noFill/>
                    </a:lnT>
                    <a:lnB>
                      <a:noFill/>
                    </a:lnB>
                  </a:tcPr>
                </a:tc>
                <a:tc>
                  <a:txBody>
                    <a:bodyPr/>
                    <a:lstStyle/>
                    <a:p>
                      <a:r>
                        <a:rPr lang="en-US" sz="1300">
                          <a:latin typeface="Meiryo UI" panose="020B0604030504040204" pitchFamily="50" charset="-128"/>
                          <a:ea typeface="Meiryo UI" panose="020B0604030504040204" pitchFamily="50" charset="-128"/>
                        </a:rPr>
                        <a:t>Apakah biaya hidup Anda bulan ini sudah mencukupi?</a:t>
                      </a:r>
                    </a:p>
                  </a:txBody>
                  <a:tcPr marL="63723" marR="63723" marT="31861" marB="31861" anchor="ctr">
                    <a:lnL>
                      <a:noFill/>
                    </a:lnL>
                    <a:lnR>
                      <a:noFill/>
                    </a:lnR>
                    <a:lnT>
                      <a:noFill/>
                    </a:lnT>
                    <a:lnB>
                      <a:noFill/>
                    </a:lnB>
                  </a:tcPr>
                </a:tc>
                <a:tc>
                  <a:txBody>
                    <a:bodyPr/>
                    <a:lstStyle/>
                    <a:p>
                      <a:r>
                        <a:rPr lang="ja-JP" altLang="en-US" sz="1300">
                          <a:latin typeface="Meiryo UI" panose="020B0604030504040204" pitchFamily="50" charset="-128"/>
                          <a:ea typeface="Meiryo UI" panose="020B0604030504040204" pitchFamily="50" charset="-128"/>
                        </a:rPr>
                        <a:t>□ はい </a:t>
                      </a:r>
                      <a:r>
                        <a:rPr lang="en-US" altLang="ja-JP" sz="1300">
                          <a:latin typeface="Meiryo UI" panose="020B0604030504040204" pitchFamily="50" charset="-128"/>
                          <a:ea typeface="Meiryo UI" panose="020B0604030504040204" pitchFamily="50" charset="-128"/>
                        </a:rPr>
                        <a:t>/ □ </a:t>
                      </a:r>
                      <a:r>
                        <a:rPr lang="ja-JP" altLang="en-US" sz="1300">
                          <a:latin typeface="Meiryo UI" panose="020B0604030504040204" pitchFamily="50" charset="-128"/>
                          <a:ea typeface="Meiryo UI" panose="020B0604030504040204" pitchFamily="50" charset="-128"/>
                        </a:rPr>
                        <a:t>いいえ</a:t>
                      </a:r>
                    </a:p>
                  </a:txBody>
                  <a:tcPr marL="63723" marR="63723" marT="31861" marB="31861" anchor="ctr">
                    <a:lnL>
                      <a:noFill/>
                    </a:lnL>
                    <a:lnR>
                      <a:noFill/>
                    </a:lnR>
                    <a:lnT>
                      <a:noFill/>
                    </a:lnT>
                    <a:lnB>
                      <a:noFill/>
                    </a:lnB>
                  </a:tcPr>
                </a:tc>
                <a:extLst>
                  <a:ext uri="{0D108BD9-81ED-4DB2-BD59-A6C34878D82A}">
                    <a16:rowId xmlns:a16="http://schemas.microsoft.com/office/drawing/2014/main" val="902973037"/>
                  </a:ext>
                </a:extLst>
              </a:tr>
              <a:tr h="446060">
                <a:tc>
                  <a:txBody>
                    <a:bodyPr/>
                    <a:lstStyle/>
                    <a:p>
                      <a:r>
                        <a:rPr lang="ja-JP" altLang="en-US" sz="1300">
                          <a:latin typeface="Meiryo UI" panose="020B0604030504040204" pitchFamily="50" charset="-128"/>
                          <a:ea typeface="Meiryo UI" panose="020B0604030504040204" pitchFamily="50" charset="-128"/>
                        </a:rPr>
                        <a:t>緊急用のお金はまだありますか？</a:t>
                      </a:r>
                    </a:p>
                  </a:txBody>
                  <a:tcPr marL="63723" marR="63723" marT="31861" marB="31861" anchor="ctr">
                    <a:lnL>
                      <a:noFill/>
                    </a:lnL>
                    <a:lnR>
                      <a:noFill/>
                    </a:lnR>
                    <a:lnT>
                      <a:noFill/>
                    </a:lnT>
                    <a:lnB>
                      <a:noFill/>
                    </a:lnB>
                  </a:tcPr>
                </a:tc>
                <a:tc>
                  <a:txBody>
                    <a:bodyPr/>
                    <a:lstStyle/>
                    <a:p>
                      <a:r>
                        <a:rPr lang="pl-PL" sz="1300">
                          <a:latin typeface="Meiryo UI" panose="020B0604030504040204" pitchFamily="50" charset="-128"/>
                          <a:ea typeface="Meiryo UI" panose="020B0604030504040204" pitchFamily="50" charset="-128"/>
                        </a:rPr>
                        <a:t>Apakah Anda masih memiliki dana darurat?</a:t>
                      </a:r>
                    </a:p>
                  </a:txBody>
                  <a:tcPr marL="63723" marR="63723" marT="31861" marB="31861" anchor="ctr">
                    <a:lnL>
                      <a:noFill/>
                    </a:lnL>
                    <a:lnR>
                      <a:noFill/>
                    </a:lnR>
                    <a:lnT>
                      <a:noFill/>
                    </a:lnT>
                    <a:lnB>
                      <a:noFill/>
                    </a:lnB>
                  </a:tcPr>
                </a:tc>
                <a:tc>
                  <a:txBody>
                    <a:bodyPr/>
                    <a:lstStyle/>
                    <a:p>
                      <a:r>
                        <a:rPr lang="ja-JP" altLang="en-US" sz="1300">
                          <a:latin typeface="Meiryo UI" panose="020B0604030504040204" pitchFamily="50" charset="-128"/>
                          <a:ea typeface="Meiryo UI" panose="020B0604030504040204" pitchFamily="50" charset="-128"/>
                        </a:rPr>
                        <a:t>□ はい </a:t>
                      </a:r>
                      <a:r>
                        <a:rPr lang="en-US" altLang="ja-JP" sz="1300">
                          <a:latin typeface="Meiryo UI" panose="020B0604030504040204" pitchFamily="50" charset="-128"/>
                          <a:ea typeface="Meiryo UI" panose="020B0604030504040204" pitchFamily="50" charset="-128"/>
                        </a:rPr>
                        <a:t>/ □ </a:t>
                      </a:r>
                      <a:r>
                        <a:rPr lang="ja-JP" altLang="en-US" sz="1300">
                          <a:latin typeface="Meiryo UI" panose="020B0604030504040204" pitchFamily="50" charset="-128"/>
                          <a:ea typeface="Meiryo UI" panose="020B0604030504040204" pitchFamily="50" charset="-128"/>
                        </a:rPr>
                        <a:t>いいえ</a:t>
                      </a:r>
                    </a:p>
                  </a:txBody>
                  <a:tcPr marL="63723" marR="63723" marT="31861" marB="31861" anchor="ctr">
                    <a:lnL>
                      <a:noFill/>
                    </a:lnL>
                    <a:lnR>
                      <a:noFill/>
                    </a:lnR>
                    <a:lnT>
                      <a:noFill/>
                    </a:lnT>
                    <a:lnB>
                      <a:noFill/>
                    </a:lnB>
                  </a:tcPr>
                </a:tc>
                <a:extLst>
                  <a:ext uri="{0D108BD9-81ED-4DB2-BD59-A6C34878D82A}">
                    <a16:rowId xmlns:a16="http://schemas.microsoft.com/office/drawing/2014/main" val="4058351886"/>
                  </a:ext>
                </a:extLst>
              </a:tr>
              <a:tr h="828396">
                <a:tc>
                  <a:txBody>
                    <a:bodyPr/>
                    <a:lstStyle/>
                    <a:p>
                      <a:r>
                        <a:rPr lang="ja-JP" altLang="en-US" sz="1300">
                          <a:latin typeface="Meiryo UI" panose="020B0604030504040204" pitchFamily="50" charset="-128"/>
                          <a:ea typeface="Meiryo UI" panose="020B0604030504040204" pitchFamily="50" charset="-128"/>
                        </a:rPr>
                        <a:t>今月、特別な出費（病院、旅行など）はありますか？</a:t>
                      </a:r>
                    </a:p>
                  </a:txBody>
                  <a:tcPr marL="63723" marR="63723" marT="31861" marB="31861" anchor="ctr">
                    <a:lnL>
                      <a:noFill/>
                    </a:lnL>
                    <a:lnR>
                      <a:noFill/>
                    </a:lnR>
                    <a:lnT>
                      <a:noFill/>
                    </a:lnT>
                    <a:lnB>
                      <a:noFill/>
                    </a:lnB>
                  </a:tcPr>
                </a:tc>
                <a:tc>
                  <a:txBody>
                    <a:bodyPr/>
                    <a:lstStyle/>
                    <a:p>
                      <a:r>
                        <a:rPr lang="fi-FI" sz="1300" dirty="0">
                          <a:latin typeface="Meiryo UI" panose="020B0604030504040204" pitchFamily="50" charset="-128"/>
                          <a:ea typeface="Meiryo UI" panose="020B0604030504040204" pitchFamily="50" charset="-128"/>
                        </a:rPr>
                        <a:t>Apakah ada pengeluaran khusus bulan ini (rumah sakit, perjalanan, dan lain-lain)?</a:t>
                      </a:r>
                    </a:p>
                  </a:txBody>
                  <a:tcPr marL="63723" marR="63723" marT="31861" marB="31861" anchor="ctr">
                    <a:lnL>
                      <a:noFill/>
                    </a:lnL>
                    <a:lnR>
                      <a:noFill/>
                    </a:lnR>
                    <a:lnT>
                      <a:noFill/>
                    </a:lnT>
                    <a:lnB>
                      <a:noFill/>
                    </a:lnB>
                  </a:tcPr>
                </a:tc>
                <a:tc>
                  <a:txBody>
                    <a:bodyPr/>
                    <a:lstStyle/>
                    <a:p>
                      <a:r>
                        <a:rPr lang="ja-JP" altLang="en-US" sz="1300" dirty="0">
                          <a:latin typeface="Meiryo UI" panose="020B0604030504040204" pitchFamily="50" charset="-128"/>
                          <a:ea typeface="Meiryo UI" panose="020B0604030504040204" pitchFamily="50" charset="-128"/>
                        </a:rPr>
                        <a:t>□ はい </a:t>
                      </a:r>
                      <a:r>
                        <a:rPr lang="en-US" altLang="ja-JP" sz="1300" dirty="0">
                          <a:latin typeface="Meiryo UI" panose="020B0604030504040204" pitchFamily="50" charset="-128"/>
                          <a:ea typeface="Meiryo UI" panose="020B0604030504040204" pitchFamily="50" charset="-128"/>
                        </a:rPr>
                        <a:t>/ □ </a:t>
                      </a:r>
                      <a:r>
                        <a:rPr lang="ja-JP" altLang="en-US" sz="1300" dirty="0">
                          <a:latin typeface="Meiryo UI" panose="020B0604030504040204" pitchFamily="50" charset="-128"/>
                          <a:ea typeface="Meiryo UI" panose="020B0604030504040204" pitchFamily="50" charset="-128"/>
                        </a:rPr>
                        <a:t>いいえ</a:t>
                      </a:r>
                    </a:p>
                  </a:txBody>
                  <a:tcPr marL="63723" marR="63723" marT="31861" marB="31861" anchor="ctr">
                    <a:lnL>
                      <a:noFill/>
                    </a:lnL>
                    <a:lnR>
                      <a:noFill/>
                    </a:lnR>
                    <a:lnT>
                      <a:noFill/>
                    </a:lnT>
                    <a:lnB>
                      <a:noFill/>
                    </a:lnB>
                  </a:tcPr>
                </a:tc>
                <a:extLst>
                  <a:ext uri="{0D108BD9-81ED-4DB2-BD59-A6C34878D82A}">
                    <a16:rowId xmlns:a16="http://schemas.microsoft.com/office/drawing/2014/main" val="4025745873"/>
                  </a:ext>
                </a:extLst>
              </a:tr>
              <a:tr h="637228">
                <a:tc>
                  <a:txBody>
                    <a:bodyPr/>
                    <a:lstStyle/>
                    <a:p>
                      <a:r>
                        <a:rPr lang="ja-JP" altLang="en-US" sz="1300">
                          <a:latin typeface="Meiryo UI" panose="020B0604030504040204" pitchFamily="50" charset="-128"/>
                          <a:ea typeface="Meiryo UI" panose="020B0604030504040204" pitchFamily="50" charset="-128"/>
                        </a:rPr>
                        <a:t>手数料やレートを確認しましたか？</a:t>
                      </a:r>
                    </a:p>
                  </a:txBody>
                  <a:tcPr marL="63723" marR="63723" marT="31861" marB="31861" anchor="ctr">
                    <a:lnL>
                      <a:noFill/>
                    </a:lnL>
                    <a:lnR>
                      <a:noFill/>
                    </a:lnR>
                    <a:lnT>
                      <a:noFill/>
                    </a:lnT>
                    <a:lnB>
                      <a:noFill/>
                    </a:lnB>
                  </a:tcPr>
                </a:tc>
                <a:tc>
                  <a:txBody>
                    <a:bodyPr/>
                    <a:lstStyle/>
                    <a:p>
                      <a:r>
                        <a:rPr lang="en-US" sz="1300">
                          <a:latin typeface="Meiryo UI" panose="020B0604030504040204" pitchFamily="50" charset="-128"/>
                          <a:ea typeface="Meiryo UI" panose="020B0604030504040204" pitchFamily="50" charset="-128"/>
                        </a:rPr>
                        <a:t>Apakah Anda sudah memeriksa biaya transfer dan nilai tukar?</a:t>
                      </a:r>
                    </a:p>
                  </a:txBody>
                  <a:tcPr marL="63723" marR="63723" marT="31861" marB="31861" anchor="ctr">
                    <a:lnL>
                      <a:noFill/>
                    </a:lnL>
                    <a:lnR>
                      <a:noFill/>
                    </a:lnR>
                    <a:lnT>
                      <a:noFill/>
                    </a:lnT>
                    <a:lnB>
                      <a:noFill/>
                    </a:lnB>
                  </a:tcPr>
                </a:tc>
                <a:tc>
                  <a:txBody>
                    <a:bodyPr/>
                    <a:lstStyle/>
                    <a:p>
                      <a:r>
                        <a:rPr lang="ja-JP" altLang="en-US" sz="1300">
                          <a:latin typeface="Meiryo UI" panose="020B0604030504040204" pitchFamily="50" charset="-128"/>
                          <a:ea typeface="Meiryo UI" panose="020B0604030504040204" pitchFamily="50" charset="-128"/>
                        </a:rPr>
                        <a:t>□ はい </a:t>
                      </a:r>
                      <a:r>
                        <a:rPr lang="en-US" altLang="ja-JP" sz="1300">
                          <a:latin typeface="Meiryo UI" panose="020B0604030504040204" pitchFamily="50" charset="-128"/>
                          <a:ea typeface="Meiryo UI" panose="020B0604030504040204" pitchFamily="50" charset="-128"/>
                        </a:rPr>
                        <a:t>/ □ </a:t>
                      </a:r>
                      <a:r>
                        <a:rPr lang="ja-JP" altLang="en-US" sz="1300">
                          <a:latin typeface="Meiryo UI" panose="020B0604030504040204" pitchFamily="50" charset="-128"/>
                          <a:ea typeface="Meiryo UI" panose="020B0604030504040204" pitchFamily="50" charset="-128"/>
                        </a:rPr>
                        <a:t>いいえ</a:t>
                      </a:r>
                    </a:p>
                  </a:txBody>
                  <a:tcPr marL="63723" marR="63723" marT="31861" marB="31861" anchor="ctr">
                    <a:lnL>
                      <a:noFill/>
                    </a:lnL>
                    <a:lnR>
                      <a:noFill/>
                    </a:lnR>
                    <a:lnT>
                      <a:noFill/>
                    </a:lnT>
                    <a:lnB>
                      <a:noFill/>
                    </a:lnB>
                  </a:tcPr>
                </a:tc>
                <a:extLst>
                  <a:ext uri="{0D108BD9-81ED-4DB2-BD59-A6C34878D82A}">
                    <a16:rowId xmlns:a16="http://schemas.microsoft.com/office/drawing/2014/main" val="1196559150"/>
                  </a:ext>
                </a:extLst>
              </a:tr>
              <a:tr h="637228">
                <a:tc>
                  <a:txBody>
                    <a:bodyPr/>
                    <a:lstStyle/>
                    <a:p>
                      <a:r>
                        <a:rPr lang="ja-JP" altLang="en-US" sz="1300">
                          <a:latin typeface="Meiryo UI" panose="020B0604030504040204" pitchFamily="50" charset="-128"/>
                          <a:ea typeface="Meiryo UI" panose="020B0604030504040204" pitchFamily="50" charset="-128"/>
                        </a:rPr>
                        <a:t>来週もし問題があっても、お金に困りませんか？</a:t>
                      </a:r>
                    </a:p>
                  </a:txBody>
                  <a:tcPr marL="63723" marR="63723" marT="31861" marB="31861" anchor="ctr">
                    <a:lnL>
                      <a:noFill/>
                    </a:lnL>
                    <a:lnR>
                      <a:noFill/>
                    </a:lnR>
                    <a:lnT>
                      <a:noFill/>
                    </a:lnT>
                    <a:lnB>
                      <a:noFill/>
                    </a:lnB>
                  </a:tcPr>
                </a:tc>
                <a:tc>
                  <a:txBody>
                    <a:bodyPr/>
                    <a:lstStyle/>
                    <a:p>
                      <a:r>
                        <a:rPr lang="en-US" sz="1300">
                          <a:latin typeface="Meiryo UI" panose="020B0604030504040204" pitchFamily="50" charset="-128"/>
                          <a:ea typeface="Meiryo UI" panose="020B0604030504040204" pitchFamily="50" charset="-128"/>
                        </a:rPr>
                        <a:t>Jika terjadi masalah minggu depan, apakah Anda tetap memiliki uang yang cukup?</a:t>
                      </a:r>
                    </a:p>
                  </a:txBody>
                  <a:tcPr marL="63723" marR="63723" marT="31861" marB="31861" anchor="ctr">
                    <a:lnL>
                      <a:noFill/>
                    </a:lnL>
                    <a:lnR>
                      <a:noFill/>
                    </a:lnR>
                    <a:lnT>
                      <a:noFill/>
                    </a:lnT>
                    <a:lnB>
                      <a:noFill/>
                    </a:lnB>
                  </a:tcPr>
                </a:tc>
                <a:tc>
                  <a:txBody>
                    <a:bodyPr/>
                    <a:lstStyle/>
                    <a:p>
                      <a:r>
                        <a:rPr lang="ja-JP" altLang="en-US" sz="1300" dirty="0">
                          <a:latin typeface="Meiryo UI" panose="020B0604030504040204" pitchFamily="50" charset="-128"/>
                          <a:ea typeface="Meiryo UI" panose="020B0604030504040204" pitchFamily="50" charset="-128"/>
                        </a:rPr>
                        <a:t>□ はい </a:t>
                      </a:r>
                      <a:r>
                        <a:rPr lang="en-US" altLang="ja-JP" sz="1300" dirty="0">
                          <a:latin typeface="Meiryo UI" panose="020B0604030504040204" pitchFamily="50" charset="-128"/>
                          <a:ea typeface="Meiryo UI" panose="020B0604030504040204" pitchFamily="50" charset="-128"/>
                        </a:rPr>
                        <a:t>/ □ </a:t>
                      </a:r>
                      <a:r>
                        <a:rPr lang="ja-JP" altLang="en-US" sz="1300" dirty="0">
                          <a:latin typeface="Meiryo UI" panose="020B0604030504040204" pitchFamily="50" charset="-128"/>
                          <a:ea typeface="Meiryo UI" panose="020B0604030504040204" pitchFamily="50" charset="-128"/>
                        </a:rPr>
                        <a:t>いいえ</a:t>
                      </a:r>
                    </a:p>
                  </a:txBody>
                  <a:tcPr marL="63723" marR="63723" marT="31861" marB="31861" anchor="ctr">
                    <a:lnL>
                      <a:noFill/>
                    </a:lnL>
                    <a:lnR>
                      <a:noFill/>
                    </a:lnR>
                    <a:lnT>
                      <a:noFill/>
                    </a:lnT>
                    <a:lnB>
                      <a:noFill/>
                    </a:lnB>
                  </a:tcPr>
                </a:tc>
                <a:extLst>
                  <a:ext uri="{0D108BD9-81ED-4DB2-BD59-A6C34878D82A}">
                    <a16:rowId xmlns:a16="http://schemas.microsoft.com/office/drawing/2014/main" val="3520997094"/>
                  </a:ext>
                </a:extLst>
              </a:tr>
            </a:tbl>
          </a:graphicData>
        </a:graphic>
      </p:graphicFrame>
      <p:sp>
        <p:nvSpPr>
          <p:cNvPr id="6" name="Rectangle 1"/>
          <p:cNvSpPr>
            <a:spLocks noChangeArrowheads="1"/>
          </p:cNvSpPr>
          <p:nvPr/>
        </p:nvSpPr>
        <p:spPr bwMode="auto">
          <a:xfrm>
            <a:off x="304799" y="672627"/>
            <a:ext cx="791114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3. </a:t>
            </a:r>
            <a:r>
              <a:rPr kumimoji="0" lang="ja-JP" altLang="ja-JP" sz="1100" b="1"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送金前のチェックリスト</a:t>
            </a:r>
            <a:r>
              <a:rPr kumimoji="0" lang="ja-JP" altLang="en-US" sz="1100" b="1"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　</a:t>
            </a:r>
            <a:r>
              <a:rPr kumimoji="0" lang="ja-JP" altLang="ja-JP" sz="1100" b="1"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Daftar Periksa Sebelum Mengirim Uang</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大切なこと</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Hal yang penting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 どれか一つでも「いいえ」があるときは、まず貯金を増やしてから送るようにしましょう。</a:t>
            </a:r>
            <a:b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b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 Jika ada satu saja jawaban "Tidak", sebaiknya tambahkan tabungan terlebih dahulu sebelum mengirim uang.</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無理をして送金するのではなく、自分の生活を守りながら、計画的に送金することが大切です。</a:t>
            </a:r>
            <a:b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b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Jangan memaksakan diri untuk mengirim uang. Sangat penting untuk mengirim uang secara terencana sambil </a:t>
            </a:r>
            <a:endParaRPr kumimoji="0" lang="en-US"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10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rPr>
              <a:t>tetap menjaga kestabilan kehidupan Anda sendiri.</a:t>
            </a:r>
          </a:p>
        </p:txBody>
      </p:sp>
      <p:sp>
        <p:nvSpPr>
          <p:cNvPr id="7" name="正方形/長方形 6"/>
          <p:cNvSpPr/>
          <p:nvPr/>
        </p:nvSpPr>
        <p:spPr>
          <a:xfrm>
            <a:off x="6824632" y="557690"/>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39122167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581025" y="4702"/>
            <a:ext cx="2895600" cy="400110"/>
          </a:xfrm>
          <a:prstGeom prst="rect">
            <a:avLst/>
          </a:prstGeom>
        </p:spPr>
        <p:txBody>
          <a:bodyPr wrap="square">
            <a:spAutoFit/>
          </a:bodyPr>
          <a:lstStyle/>
          <a:p>
            <a:r>
              <a:rPr lang="ja-JP" altLang="en-US" sz="2000" dirty="0">
                <a:latin typeface="Meiryo UI" panose="020B0604030504040204" pitchFamily="50" charset="-128"/>
                <a:ea typeface="Meiryo UI" panose="020B0604030504040204" pitchFamily="50" charset="-128"/>
              </a:rPr>
              <a:t>送金するときの</a:t>
            </a:r>
            <a:r>
              <a:rPr lang="ja-JP" altLang="en-US" sz="2000" dirty="0" smtClean="0">
                <a:latin typeface="Meiryo UI" panose="020B0604030504040204" pitchFamily="50" charset="-128"/>
                <a:ea typeface="Meiryo UI" panose="020B0604030504040204" pitchFamily="50" charset="-128"/>
              </a:rPr>
              <a:t>考え方</a:t>
            </a:r>
            <a:endParaRPr lang="ja-JP" altLang="en-US" sz="2000" dirty="0">
              <a:latin typeface="Meiryo UI" panose="020B0604030504040204" pitchFamily="50" charset="-128"/>
              <a:ea typeface="Meiryo UI" panose="020B0604030504040204" pitchFamily="50" charset="-128"/>
            </a:endParaRPr>
          </a:p>
        </p:txBody>
      </p:sp>
      <p:sp>
        <p:nvSpPr>
          <p:cNvPr id="7" name="正方形/長方形 6"/>
          <p:cNvSpPr/>
          <p:nvPr/>
        </p:nvSpPr>
        <p:spPr>
          <a:xfrm>
            <a:off x="3043093" y="4702"/>
            <a:ext cx="5519882" cy="400110"/>
          </a:xfrm>
          <a:prstGeom prst="rect">
            <a:avLst/>
          </a:prstGeom>
        </p:spPr>
        <p:txBody>
          <a:bodyPr wrap="square">
            <a:spAutoFit/>
          </a:bodyPr>
          <a:lstStyle/>
          <a:p>
            <a:r>
              <a:rPr lang="en-US" altLang="ja-JP" sz="2000" dirty="0" err="1"/>
              <a:t>Prinsip</a:t>
            </a:r>
            <a:r>
              <a:rPr lang="en-US" altLang="ja-JP" sz="2000" dirty="0"/>
              <a:t> </a:t>
            </a:r>
            <a:r>
              <a:rPr lang="en-US" altLang="ja-JP" sz="2000" dirty="0" err="1"/>
              <a:t>dalam</a:t>
            </a:r>
            <a:r>
              <a:rPr lang="en-US" altLang="ja-JP" sz="2000" dirty="0"/>
              <a:t> </a:t>
            </a:r>
            <a:r>
              <a:rPr lang="en-US" altLang="ja-JP" sz="2000" dirty="0" err="1"/>
              <a:t>Mengirim</a:t>
            </a:r>
            <a:r>
              <a:rPr lang="en-US" altLang="ja-JP" sz="2000" dirty="0"/>
              <a:t> </a:t>
            </a:r>
            <a:r>
              <a:rPr lang="en-US" altLang="ja-JP" sz="2000" dirty="0" err="1"/>
              <a:t>Uang</a:t>
            </a:r>
            <a:r>
              <a:rPr lang="en-US" altLang="ja-JP" sz="2000" dirty="0"/>
              <a:t> </a:t>
            </a:r>
            <a:r>
              <a:rPr lang="en-US" altLang="ja-JP" sz="2000" dirty="0" err="1"/>
              <a:t>ke</a:t>
            </a:r>
            <a:r>
              <a:rPr lang="en-US" altLang="ja-JP" sz="2000" dirty="0"/>
              <a:t> </a:t>
            </a:r>
            <a:r>
              <a:rPr lang="en-US" altLang="ja-JP" sz="2000" dirty="0" err="1"/>
              <a:t>Keluarga</a:t>
            </a:r>
            <a:endParaRPr lang="en-US" altLang="ja-JP" sz="2000" dirty="0"/>
          </a:p>
        </p:txBody>
      </p:sp>
      <p:sp>
        <p:nvSpPr>
          <p:cNvPr id="26" name="正方形/長方形 25"/>
          <p:cNvSpPr/>
          <p:nvPr/>
        </p:nvSpPr>
        <p:spPr>
          <a:xfrm>
            <a:off x="0" y="684371"/>
            <a:ext cx="7124701" cy="4832092"/>
          </a:xfrm>
          <a:prstGeom prst="rect">
            <a:avLst/>
          </a:prstGeom>
        </p:spPr>
        <p:txBody>
          <a:bodyPr wrap="square">
            <a:spAutoFit/>
          </a:bodyPr>
          <a:lstStyle/>
          <a:p>
            <a:r>
              <a:rPr lang="ja-JP" altLang="en-US" sz="1100" b="1" dirty="0">
                <a:latin typeface="Meiryo UI" panose="020B0604030504040204" pitchFamily="50" charset="-128"/>
                <a:ea typeface="Meiryo UI" panose="020B0604030504040204" pitchFamily="50" charset="-128"/>
              </a:rPr>
              <a:t>4. 送るとき・送らない</a:t>
            </a:r>
            <a:r>
              <a:rPr lang="ja-JP" altLang="en-US" sz="1100" b="1" dirty="0" smtClean="0">
                <a:latin typeface="Meiryo UI" panose="020B0604030504040204" pitchFamily="50" charset="-128"/>
                <a:ea typeface="Meiryo UI" panose="020B0604030504040204" pitchFamily="50" charset="-128"/>
              </a:rPr>
              <a:t>とき　Kapan </a:t>
            </a:r>
            <a:r>
              <a:rPr lang="ja-JP" altLang="en-US" sz="1100" b="1" dirty="0">
                <a:latin typeface="Meiryo UI" panose="020B0604030504040204" pitchFamily="50" charset="-128"/>
                <a:ea typeface="Meiryo UI" panose="020B0604030504040204" pitchFamily="50" charset="-128"/>
              </a:rPr>
              <a:t>mengirim uang dan kapan tidak mengirim </a:t>
            </a:r>
            <a:r>
              <a:rPr lang="ja-JP" altLang="en-US" sz="1100" b="1" dirty="0" smtClean="0">
                <a:latin typeface="Meiryo UI" panose="020B0604030504040204" pitchFamily="50" charset="-128"/>
                <a:ea typeface="Meiryo UI" panose="020B0604030504040204" pitchFamily="50" charset="-128"/>
              </a:rPr>
              <a:t>uang</a:t>
            </a:r>
            <a:endParaRPr lang="ja-JP" altLang="en-US" sz="1100" b="1" dirty="0">
              <a:latin typeface="Meiryo UI" panose="020B0604030504040204" pitchFamily="50" charset="-128"/>
              <a:ea typeface="Meiryo UI" panose="020B0604030504040204" pitchFamily="50" charset="-128"/>
            </a:endParaRPr>
          </a:p>
          <a:p>
            <a:r>
              <a:rPr lang="ja-JP" altLang="en-US" sz="1100" dirty="0" smtClean="0">
                <a:latin typeface="Meiryo UI" panose="020B0604030504040204" pitchFamily="50" charset="-128"/>
                <a:ea typeface="Meiryo UI" panose="020B0604030504040204" pitchFamily="50" charset="-128"/>
              </a:rPr>
              <a:t>　送って</a:t>
            </a:r>
            <a:r>
              <a:rPr lang="ja-JP" altLang="en-US" sz="1100" dirty="0">
                <a:latin typeface="Meiryo UI" panose="020B0604030504040204" pitchFamily="50" charset="-128"/>
                <a:ea typeface="Meiryo UI" panose="020B0604030504040204" pitchFamily="50" charset="-128"/>
              </a:rPr>
              <a:t>もよい</a:t>
            </a:r>
            <a:r>
              <a:rPr lang="ja-JP" altLang="en-US" sz="1100" dirty="0" smtClean="0">
                <a:latin typeface="Meiryo UI" panose="020B0604030504040204" pitchFamily="50" charset="-128"/>
                <a:ea typeface="Meiryo UI" panose="020B0604030504040204" pitchFamily="50" charset="-128"/>
              </a:rPr>
              <a:t>とき　Saat </a:t>
            </a:r>
            <a:r>
              <a:rPr lang="ja-JP" altLang="en-US" sz="1100" dirty="0">
                <a:latin typeface="Meiryo UI" panose="020B0604030504040204" pitchFamily="50" charset="-128"/>
                <a:ea typeface="Meiryo UI" panose="020B0604030504040204" pitchFamily="50" charset="-128"/>
              </a:rPr>
              <a:t>boleh mengirim </a:t>
            </a:r>
            <a:r>
              <a:rPr lang="ja-JP" altLang="en-US" sz="1100" dirty="0" smtClean="0">
                <a:latin typeface="Meiryo UI" panose="020B0604030504040204" pitchFamily="50" charset="-128"/>
                <a:ea typeface="Meiryo UI" panose="020B0604030504040204" pitchFamily="50" charset="-128"/>
              </a:rPr>
              <a:t>uang</a:t>
            </a:r>
            <a:endParaRPr lang="ja-JP" altLang="en-US" sz="1100" dirty="0">
              <a:latin typeface="Meiryo UI" panose="020B0604030504040204" pitchFamily="50" charset="-128"/>
              <a:ea typeface="Meiryo UI" panose="020B0604030504040204" pitchFamily="50" charset="-128"/>
            </a:endParaRPr>
          </a:p>
          <a:p>
            <a:r>
              <a:rPr lang="ja-JP" altLang="en-US" sz="1100" dirty="0" smtClean="0">
                <a:latin typeface="Meiryo UI" panose="020B0604030504040204" pitchFamily="50" charset="-128"/>
                <a:ea typeface="Meiryo UI" panose="020B0604030504040204" pitchFamily="50" charset="-128"/>
              </a:rPr>
              <a:t>　生活費</a:t>
            </a:r>
            <a:r>
              <a:rPr lang="ja-JP" altLang="en-US" sz="1100" dirty="0">
                <a:latin typeface="Meiryo UI" panose="020B0604030504040204" pitchFamily="50" charset="-128"/>
                <a:ea typeface="Meiryo UI" panose="020B0604030504040204" pitchFamily="50" charset="-128"/>
              </a:rPr>
              <a:t>が十分にあるとき</a:t>
            </a:r>
            <a:r>
              <a:rPr lang="ja-JP" altLang="en-US" sz="1100" dirty="0" smtClean="0">
                <a:latin typeface="Meiryo UI" panose="020B0604030504040204" pitchFamily="50" charset="-128"/>
                <a:ea typeface="Meiryo UI" panose="020B0604030504040204" pitchFamily="50" charset="-128"/>
              </a:rPr>
              <a:t>。　Biaya </a:t>
            </a:r>
            <a:r>
              <a:rPr lang="ja-JP" altLang="en-US" sz="1100" dirty="0">
                <a:latin typeface="Meiryo UI" panose="020B0604030504040204" pitchFamily="50" charset="-128"/>
                <a:ea typeface="Meiryo UI" panose="020B0604030504040204" pitchFamily="50" charset="-128"/>
              </a:rPr>
              <a:t>hidup sudah tercukupi</a:t>
            </a:r>
            <a:r>
              <a:rPr lang="ja-JP" altLang="en-US" sz="1100" dirty="0" smtClean="0">
                <a:latin typeface="Meiryo UI" panose="020B0604030504040204" pitchFamily="50" charset="-128"/>
                <a:ea typeface="Meiryo UI" panose="020B0604030504040204" pitchFamily="50" charset="-128"/>
              </a:rPr>
              <a:t>.</a:t>
            </a:r>
            <a:endParaRPr lang="en-US" altLang="ja-JP" sz="1100" dirty="0" smtClean="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　</a:t>
            </a:r>
            <a:r>
              <a:rPr lang="ja-JP" altLang="en-US" sz="1100" dirty="0" smtClean="0">
                <a:latin typeface="Meiryo UI" panose="020B0604030504040204" pitchFamily="50" charset="-128"/>
                <a:ea typeface="Meiryo UI" panose="020B0604030504040204" pitchFamily="50" charset="-128"/>
              </a:rPr>
              <a:t>緊急用</a:t>
            </a:r>
            <a:r>
              <a:rPr lang="ja-JP" altLang="en-US" sz="1100" dirty="0">
                <a:latin typeface="Meiryo UI" panose="020B0604030504040204" pitchFamily="50" charset="-128"/>
                <a:ea typeface="Meiryo UI" panose="020B0604030504040204" pitchFamily="50" charset="-128"/>
              </a:rPr>
              <a:t>のお金が残っているとき</a:t>
            </a:r>
            <a:r>
              <a:rPr lang="ja-JP" altLang="en-US" sz="1100" dirty="0" smtClean="0">
                <a:latin typeface="Meiryo UI" panose="020B0604030504040204" pitchFamily="50" charset="-128"/>
                <a:ea typeface="Meiryo UI" panose="020B0604030504040204" pitchFamily="50" charset="-128"/>
              </a:rPr>
              <a:t>。　Masih </a:t>
            </a:r>
            <a:r>
              <a:rPr lang="ja-JP" altLang="en-US" sz="1100" dirty="0">
                <a:latin typeface="Meiryo UI" panose="020B0604030504040204" pitchFamily="50" charset="-128"/>
                <a:ea typeface="Meiryo UI" panose="020B0604030504040204" pitchFamily="50" charset="-128"/>
              </a:rPr>
              <a:t>memiliki dana darurat.</a:t>
            </a:r>
          </a:p>
          <a:p>
            <a:r>
              <a:rPr lang="ja-JP" altLang="en-US" sz="1100" dirty="0" smtClean="0">
                <a:latin typeface="Meiryo UI" panose="020B0604030504040204" pitchFamily="50" charset="-128"/>
                <a:ea typeface="Meiryo UI" panose="020B0604030504040204" pitchFamily="50" charset="-128"/>
              </a:rPr>
              <a:t>　特別</a:t>
            </a:r>
            <a:r>
              <a:rPr lang="ja-JP" altLang="en-US" sz="1100" dirty="0">
                <a:latin typeface="Meiryo UI" panose="020B0604030504040204" pitchFamily="50" charset="-128"/>
                <a:ea typeface="Meiryo UI" panose="020B0604030504040204" pitchFamily="50" charset="-128"/>
              </a:rPr>
              <a:t>な出費の予定がないとき</a:t>
            </a:r>
            <a:r>
              <a:rPr lang="ja-JP" altLang="en-US" sz="1100" dirty="0" smtClean="0">
                <a:latin typeface="Meiryo UI" panose="020B0604030504040204" pitchFamily="50" charset="-128"/>
                <a:ea typeface="Meiryo UI" panose="020B0604030504040204" pitchFamily="50" charset="-128"/>
              </a:rPr>
              <a:t>。　Tidak </a:t>
            </a:r>
            <a:r>
              <a:rPr lang="ja-JP" altLang="en-US" sz="1100" dirty="0">
                <a:latin typeface="Meiryo UI" panose="020B0604030504040204" pitchFamily="50" charset="-128"/>
                <a:ea typeface="Meiryo UI" panose="020B0604030504040204" pitchFamily="50" charset="-128"/>
              </a:rPr>
              <a:t>ada rencana pengeluaran khusus</a:t>
            </a:r>
            <a:r>
              <a:rPr lang="ja-JP" altLang="en-US" sz="1100" dirty="0" smtClean="0">
                <a:latin typeface="Meiryo UI" panose="020B0604030504040204" pitchFamily="50" charset="-128"/>
                <a:ea typeface="Meiryo UI" panose="020B0604030504040204" pitchFamily="50" charset="-128"/>
              </a:rPr>
              <a:t>.</a:t>
            </a:r>
            <a:endParaRPr lang="ja-JP" altLang="en-US" sz="1100" dirty="0">
              <a:latin typeface="Meiryo UI" panose="020B0604030504040204" pitchFamily="50" charset="-128"/>
              <a:ea typeface="Meiryo UI" panose="020B0604030504040204" pitchFamily="50" charset="-128"/>
            </a:endParaRPr>
          </a:p>
          <a:p>
            <a:r>
              <a:rPr lang="ja-JP" altLang="en-US" sz="1100" dirty="0" smtClean="0">
                <a:latin typeface="Meiryo UI" panose="020B0604030504040204" pitchFamily="50" charset="-128"/>
                <a:ea typeface="Meiryo UI" panose="020B0604030504040204" pitchFamily="50" charset="-128"/>
              </a:rPr>
              <a:t>　送らない</a:t>
            </a:r>
            <a:r>
              <a:rPr lang="ja-JP" altLang="en-US" sz="1100" dirty="0">
                <a:latin typeface="Meiryo UI" panose="020B0604030504040204" pitchFamily="50" charset="-128"/>
                <a:ea typeface="Meiryo UI" panose="020B0604030504040204" pitchFamily="50" charset="-128"/>
              </a:rPr>
              <a:t>ほうがよい</a:t>
            </a:r>
            <a:r>
              <a:rPr lang="ja-JP" altLang="en-US" sz="1100" dirty="0" smtClean="0">
                <a:latin typeface="Meiryo UI" panose="020B0604030504040204" pitchFamily="50" charset="-128"/>
                <a:ea typeface="Meiryo UI" panose="020B0604030504040204" pitchFamily="50" charset="-128"/>
              </a:rPr>
              <a:t>とき　Saat </a:t>
            </a:r>
            <a:r>
              <a:rPr lang="ja-JP" altLang="en-US" sz="1100" dirty="0">
                <a:latin typeface="Meiryo UI" panose="020B0604030504040204" pitchFamily="50" charset="-128"/>
                <a:ea typeface="Meiryo UI" panose="020B0604030504040204" pitchFamily="50" charset="-128"/>
              </a:rPr>
              <a:t>sebaiknya tidak mengirim </a:t>
            </a:r>
            <a:r>
              <a:rPr lang="ja-JP" altLang="en-US" sz="1100" dirty="0" smtClean="0">
                <a:latin typeface="Meiryo UI" panose="020B0604030504040204" pitchFamily="50" charset="-128"/>
                <a:ea typeface="Meiryo UI" panose="020B0604030504040204" pitchFamily="50" charset="-128"/>
              </a:rPr>
              <a:t>uang　</a:t>
            </a:r>
            <a:endParaRPr lang="ja-JP" altLang="en-US" sz="1100" dirty="0">
              <a:latin typeface="Meiryo UI" panose="020B0604030504040204" pitchFamily="50" charset="-128"/>
              <a:ea typeface="Meiryo UI" panose="020B0604030504040204" pitchFamily="50" charset="-128"/>
            </a:endParaRPr>
          </a:p>
          <a:p>
            <a:r>
              <a:rPr lang="ja-JP" altLang="en-US" sz="1100" dirty="0" smtClean="0">
                <a:latin typeface="Meiryo UI" panose="020B0604030504040204" pitchFamily="50" charset="-128"/>
                <a:ea typeface="Meiryo UI" panose="020B0604030504040204" pitchFamily="50" charset="-128"/>
              </a:rPr>
              <a:t>　病気</a:t>
            </a:r>
            <a:r>
              <a:rPr lang="ja-JP" altLang="en-US" sz="1100" dirty="0">
                <a:latin typeface="Meiryo UI" panose="020B0604030504040204" pitchFamily="50" charset="-128"/>
                <a:ea typeface="Meiryo UI" panose="020B0604030504040204" pitchFamily="50" charset="-128"/>
              </a:rPr>
              <a:t>やけがで病院に行く可能性があるとき。</a:t>
            </a:r>
          </a:p>
          <a:p>
            <a:r>
              <a:rPr lang="ja-JP" altLang="en-US" sz="1100" dirty="0">
                <a:latin typeface="Meiryo UI" panose="020B0604030504040204" pitchFamily="50" charset="-128"/>
                <a:ea typeface="Meiryo UI" panose="020B0604030504040204" pitchFamily="50" charset="-128"/>
              </a:rPr>
              <a:t>Saat sedang sakit atau kemungkinan memerlukan biaya pengobatan.</a:t>
            </a:r>
          </a:p>
          <a:p>
            <a:r>
              <a:rPr lang="ja-JP" altLang="en-US" sz="1100" b="1" dirty="0" smtClean="0">
                <a:latin typeface="Meiryo UI" panose="020B0604030504040204" pitchFamily="50" charset="-128"/>
                <a:ea typeface="Meiryo UI" panose="020B0604030504040204" pitchFamily="50" charset="-128"/>
              </a:rPr>
              <a:t>5</a:t>
            </a:r>
            <a:r>
              <a:rPr lang="ja-JP" altLang="en-US" sz="1100" b="1" dirty="0">
                <a:latin typeface="Meiryo UI" panose="020B0604030504040204" pitchFamily="50" charset="-128"/>
                <a:ea typeface="Meiryo UI" panose="020B0604030504040204" pitchFamily="50" charset="-128"/>
              </a:rPr>
              <a:t>. お金に困らないための</a:t>
            </a:r>
            <a:r>
              <a:rPr lang="ja-JP" altLang="en-US" sz="1100" b="1" dirty="0" smtClean="0">
                <a:latin typeface="Meiryo UI" panose="020B0604030504040204" pitchFamily="50" charset="-128"/>
                <a:ea typeface="Meiryo UI" panose="020B0604030504040204" pitchFamily="50" charset="-128"/>
              </a:rPr>
              <a:t>工夫　Cara </a:t>
            </a:r>
            <a:r>
              <a:rPr lang="ja-JP" altLang="en-US" sz="1100" b="1" dirty="0">
                <a:latin typeface="Meiryo UI" panose="020B0604030504040204" pitchFamily="50" charset="-128"/>
                <a:ea typeface="Meiryo UI" panose="020B0604030504040204" pitchFamily="50" charset="-128"/>
              </a:rPr>
              <a:t>mengelola uang agar tidak mengalami kesulitan keuangan</a:t>
            </a:r>
          </a:p>
          <a:p>
            <a:r>
              <a:rPr lang="ja-JP" altLang="en-US" sz="1100" dirty="0">
                <a:latin typeface="Meiryo UI" panose="020B0604030504040204" pitchFamily="50" charset="-128"/>
                <a:ea typeface="Meiryo UI" panose="020B0604030504040204" pitchFamily="50" charset="-128"/>
              </a:rPr>
              <a:t>送金は毎月少しずつ、決まった金額で行いましょう。</a:t>
            </a:r>
          </a:p>
          <a:p>
            <a:r>
              <a:rPr lang="ja-JP" altLang="en-US" sz="1100" dirty="0">
                <a:latin typeface="Meiryo UI" panose="020B0604030504040204" pitchFamily="50" charset="-128"/>
                <a:ea typeface="Meiryo UI" panose="020B0604030504040204" pitchFamily="50" charset="-128"/>
              </a:rPr>
              <a:t>Lakukan pengiriman uang secara rutin dengan jumlah yang tetap setiap bulan.</a:t>
            </a:r>
          </a:p>
          <a:p>
            <a:r>
              <a:rPr lang="ja-JP" altLang="en-US" sz="1100" dirty="0">
                <a:latin typeface="Meiryo UI" panose="020B0604030504040204" pitchFamily="50" charset="-128"/>
                <a:ea typeface="Meiryo UI" panose="020B0604030504040204" pitchFamily="50" charset="-128"/>
              </a:rPr>
              <a:t>給料日にお金を目的別に分けておきましょう。</a:t>
            </a:r>
          </a:p>
          <a:p>
            <a:r>
              <a:rPr lang="ja-JP" altLang="en-US" sz="1100" dirty="0">
                <a:latin typeface="Meiryo UI" panose="020B0604030504040204" pitchFamily="50" charset="-128"/>
                <a:ea typeface="Meiryo UI" panose="020B0604030504040204" pitchFamily="50" charset="-128"/>
              </a:rPr>
              <a:t>Pisahkan uang sesuai kebutuhan pada hari menerima gaji.</a:t>
            </a:r>
          </a:p>
          <a:p>
            <a:r>
              <a:rPr lang="ja-JP" altLang="en-US" sz="1100" dirty="0">
                <a:latin typeface="Meiryo UI" panose="020B0604030504040204" pitchFamily="50" charset="-128"/>
                <a:ea typeface="Meiryo UI" panose="020B0604030504040204" pitchFamily="50" charset="-128"/>
              </a:rPr>
              <a:t>サービスやレートを比較して、手数料が安い方法を選びましょう。</a:t>
            </a:r>
          </a:p>
          <a:p>
            <a:r>
              <a:rPr lang="ja-JP" altLang="en-US" sz="1100" dirty="0">
                <a:latin typeface="Meiryo UI" panose="020B0604030504040204" pitchFamily="50" charset="-128"/>
                <a:ea typeface="Meiryo UI" panose="020B0604030504040204" pitchFamily="50" charset="-128"/>
              </a:rPr>
              <a:t>Bandingkan layanan transfer dan nilai tukar untuk memilih biaya yang lebih murah.</a:t>
            </a:r>
          </a:p>
          <a:p>
            <a:r>
              <a:rPr lang="ja-JP" altLang="en-US" sz="1100" dirty="0">
                <a:latin typeface="Meiryo UI" panose="020B0604030504040204" pitchFamily="50" charset="-128"/>
                <a:ea typeface="Meiryo UI" panose="020B0604030504040204" pitchFamily="50" charset="-128"/>
              </a:rPr>
              <a:t>家族と話し合い、送金額をあらかじめ決めておきましょう。</a:t>
            </a:r>
          </a:p>
          <a:p>
            <a:r>
              <a:rPr lang="ja-JP" altLang="en-US" sz="1100" dirty="0">
                <a:latin typeface="Meiryo UI" panose="020B0604030504040204" pitchFamily="50" charset="-128"/>
                <a:ea typeface="Meiryo UI" panose="020B0604030504040204" pitchFamily="50" charset="-128"/>
              </a:rPr>
              <a:t>Diskusikan dengan keluarga dan tentukan jumlah uang yang akan dikirim sebelumnya.</a:t>
            </a:r>
          </a:p>
          <a:p>
            <a:r>
              <a:rPr lang="ja-JP" altLang="en-US" sz="1100" b="1" dirty="0">
                <a:latin typeface="Meiryo UI" panose="020B0604030504040204" pitchFamily="50" charset="-128"/>
                <a:ea typeface="Meiryo UI" panose="020B0604030504040204" pitchFamily="50" charset="-128"/>
              </a:rPr>
              <a:t>6. お金で困ったとき</a:t>
            </a:r>
            <a:r>
              <a:rPr lang="ja-JP" altLang="en-US" sz="1100" b="1" dirty="0" smtClean="0">
                <a:latin typeface="Meiryo UI" panose="020B0604030504040204" pitchFamily="50" charset="-128"/>
                <a:ea typeface="Meiryo UI" panose="020B0604030504040204" pitchFamily="50" charset="-128"/>
              </a:rPr>
              <a:t>は　Jika </a:t>
            </a:r>
            <a:r>
              <a:rPr lang="ja-JP" altLang="en-US" sz="1100" b="1" dirty="0">
                <a:latin typeface="Meiryo UI" panose="020B0604030504040204" pitchFamily="50" charset="-128"/>
                <a:ea typeface="Meiryo UI" panose="020B0604030504040204" pitchFamily="50" charset="-128"/>
              </a:rPr>
              <a:t>mengalami kesulitan </a:t>
            </a:r>
            <a:r>
              <a:rPr lang="ja-JP" altLang="en-US" sz="1100" b="1" dirty="0" smtClean="0">
                <a:latin typeface="Meiryo UI" panose="020B0604030504040204" pitchFamily="50" charset="-128"/>
                <a:ea typeface="Meiryo UI" panose="020B0604030504040204" pitchFamily="50" charset="-128"/>
              </a:rPr>
              <a:t>keuangan</a:t>
            </a:r>
            <a:endParaRPr lang="ja-JP" altLang="en-US" sz="1100" b="1"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もし、お金に困っても、消費者金融などでお金を借りず、まずは会社や監理団体に相談しましょう。</a:t>
            </a:r>
          </a:p>
          <a:p>
            <a:r>
              <a:rPr lang="ja-JP" altLang="en-US" sz="1100" dirty="0">
                <a:latin typeface="Meiryo UI" panose="020B0604030504040204" pitchFamily="50" charset="-128"/>
                <a:ea typeface="Meiryo UI" panose="020B0604030504040204" pitchFamily="50" charset="-128"/>
              </a:rPr>
              <a:t>Jika mengalami kesulitan keuangan, jangan langsung meminjam uang dari lembaga pinjaman atau </a:t>
            </a:r>
            <a:r>
              <a:rPr lang="ja-JP" altLang="en-US" sz="1100" dirty="0" smtClean="0">
                <a:latin typeface="Meiryo UI" panose="020B0604030504040204" pitchFamily="50" charset="-128"/>
                <a:ea typeface="Meiryo UI" panose="020B0604030504040204" pitchFamily="50" charset="-128"/>
              </a:rPr>
              <a:t>rentenir</a:t>
            </a:r>
            <a:r>
              <a:rPr lang="ja-JP" altLang="en-US" sz="1100" dirty="0">
                <a:latin typeface="Meiryo UI" panose="020B0604030504040204" pitchFamily="50" charset="-128"/>
                <a:ea typeface="Meiryo UI" panose="020B0604030504040204" pitchFamily="50" charset="-128"/>
              </a:rPr>
              <a:t>. Konsultasikan terlebih dahulu dengan perusahaan atau lembaga pengawas</a:t>
            </a:r>
            <a:r>
              <a:rPr lang="ja-JP" altLang="en-US" sz="1100" dirty="0" smtClean="0">
                <a:latin typeface="Meiryo UI" panose="020B0604030504040204" pitchFamily="50" charset="-128"/>
                <a:ea typeface="Meiryo UI" panose="020B0604030504040204" pitchFamily="50" charset="-128"/>
              </a:rPr>
              <a:t>.</a:t>
            </a:r>
            <a:endParaRPr lang="en-US" altLang="ja-JP" sz="1100" dirty="0" smtClean="0">
              <a:latin typeface="Meiryo UI" panose="020B0604030504040204" pitchFamily="50" charset="-128"/>
              <a:ea typeface="Meiryo UI" panose="020B0604030504040204" pitchFamily="50" charset="-128"/>
            </a:endParaRPr>
          </a:p>
          <a:p>
            <a:endParaRPr lang="ja-JP" altLang="en-US" sz="1100" dirty="0">
              <a:latin typeface="Meiryo UI" panose="020B0604030504040204" pitchFamily="50" charset="-128"/>
              <a:ea typeface="Meiryo UI" panose="020B0604030504040204" pitchFamily="50" charset="-128"/>
            </a:endParaRPr>
          </a:p>
          <a:p>
            <a:r>
              <a:rPr lang="ja-JP" altLang="en-US" sz="1100" b="1" dirty="0">
                <a:latin typeface="Meiryo UI" panose="020B0604030504040204" pitchFamily="50" charset="-128"/>
                <a:ea typeface="Meiryo UI" panose="020B0604030504040204" pitchFamily="50" charset="-128"/>
              </a:rPr>
              <a:t>最後</a:t>
            </a:r>
            <a:r>
              <a:rPr lang="ja-JP" altLang="en-US" sz="1100" b="1" dirty="0" smtClean="0">
                <a:latin typeface="Meiryo UI" panose="020B0604030504040204" pitchFamily="50" charset="-128"/>
                <a:ea typeface="Meiryo UI" panose="020B0604030504040204" pitchFamily="50" charset="-128"/>
              </a:rPr>
              <a:t>にPesan terakhir</a:t>
            </a:r>
            <a:endParaRPr lang="ja-JP" altLang="en-US" sz="1100" b="1"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お金を上手に使えば、日本で安心して生活でき、家族も長く助けることができます。</a:t>
            </a:r>
          </a:p>
          <a:p>
            <a:r>
              <a:rPr lang="ja-JP" altLang="en-US" sz="1100" dirty="0">
                <a:latin typeface="Meiryo UI" panose="020B0604030504040204" pitchFamily="50" charset="-128"/>
                <a:ea typeface="Meiryo UI" panose="020B0604030504040204" pitchFamily="50" charset="-128"/>
              </a:rPr>
              <a:t>Jika Anda mengelola uang dengan baik, Anda dapat hidup dengan tenang di Jepang dan terus membantu keluarga dalam jangka panjang</a:t>
            </a:r>
            <a:r>
              <a:rPr lang="ja-JP" altLang="en-US" sz="1100" dirty="0" smtClean="0">
                <a:latin typeface="Meiryo UI" panose="020B0604030504040204" pitchFamily="50" charset="-128"/>
                <a:ea typeface="Meiryo UI" panose="020B0604030504040204" pitchFamily="50" charset="-128"/>
              </a:rPr>
              <a:t>.</a:t>
            </a:r>
            <a:endParaRPr lang="ja-JP" altLang="en-US" sz="1100" dirty="0">
              <a:latin typeface="Meiryo UI" panose="020B0604030504040204" pitchFamily="50" charset="-128"/>
              <a:ea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rPr>
              <a:t>無理をせず、計画的にお金を使いましょう。</a:t>
            </a:r>
          </a:p>
          <a:p>
            <a:r>
              <a:rPr lang="ja-JP" altLang="en-US" sz="1100" dirty="0">
                <a:latin typeface="Meiryo UI" panose="020B0604030504040204" pitchFamily="50" charset="-128"/>
                <a:ea typeface="Meiryo UI" panose="020B0604030504040204" pitchFamily="50" charset="-128"/>
              </a:rPr>
              <a:t>Jangan memaksakan diri dan gunakan uang dengan perencanaan yang baik.</a:t>
            </a:r>
          </a:p>
        </p:txBody>
      </p:sp>
      <p:sp>
        <p:nvSpPr>
          <p:cNvPr id="5" name="正方形/長方形 4"/>
          <p:cNvSpPr/>
          <p:nvPr/>
        </p:nvSpPr>
        <p:spPr>
          <a:xfrm>
            <a:off x="6824632" y="557690"/>
            <a:ext cx="1738343" cy="4204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説明</a:t>
            </a:r>
            <a:endParaRPr kumimoji="1" lang="ja-JP" altLang="en-US" dirty="0">
              <a:solidFill>
                <a:schemeClr val="tx1"/>
              </a:solidFill>
            </a:endParaRPr>
          </a:p>
        </p:txBody>
      </p:sp>
    </p:spTree>
    <p:extLst>
      <p:ext uri="{BB962C8B-B14F-4D97-AF65-F5344CB8AC3E}">
        <p14:creationId xmlns:p14="http://schemas.microsoft.com/office/powerpoint/2010/main" val="24719312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2389423" y="78859"/>
            <a:ext cx="1569660" cy="369332"/>
          </a:xfrm>
          <a:prstGeom prst="rect">
            <a:avLst/>
          </a:prstGeom>
        </p:spPr>
        <p:txBody>
          <a:bodyPr wrap="none">
            <a:spAutoFit/>
          </a:bodyPr>
          <a:lstStyle/>
          <a:p>
            <a:r>
              <a:rPr lang="ja-JP" altLang="en-US" dirty="0"/>
              <a:t>防止に</a:t>
            </a:r>
            <a:r>
              <a:rPr lang="ja-JP" altLang="en-US" dirty="0" smtClean="0"/>
              <a:t>努める</a:t>
            </a:r>
            <a:endParaRPr lang="ja-JP" altLang="en-US" dirty="0"/>
          </a:p>
        </p:txBody>
      </p:sp>
      <p:pic>
        <p:nvPicPr>
          <p:cNvPr id="4" name="図 3"/>
          <p:cNvPicPr>
            <a:picLocks noChangeAspect="1"/>
          </p:cNvPicPr>
          <p:nvPr/>
        </p:nvPicPr>
        <p:blipFill>
          <a:blip r:embed="rId2"/>
          <a:stretch>
            <a:fillRect/>
          </a:stretch>
        </p:blipFill>
        <p:spPr>
          <a:xfrm>
            <a:off x="5683584" y="2436237"/>
            <a:ext cx="1942584" cy="1942584"/>
          </a:xfrm>
          <a:prstGeom prst="rect">
            <a:avLst/>
          </a:prstGeom>
        </p:spPr>
      </p:pic>
      <p:sp>
        <p:nvSpPr>
          <p:cNvPr id="5" name="正方形/長方形 4"/>
          <p:cNvSpPr/>
          <p:nvPr/>
        </p:nvSpPr>
        <p:spPr>
          <a:xfrm>
            <a:off x="4279565" y="78859"/>
            <a:ext cx="2623219" cy="369332"/>
          </a:xfrm>
          <a:prstGeom prst="rect">
            <a:avLst/>
          </a:prstGeom>
        </p:spPr>
        <p:txBody>
          <a:bodyPr wrap="none">
            <a:spAutoFit/>
          </a:bodyPr>
          <a:lstStyle/>
          <a:p>
            <a:r>
              <a:rPr lang="en-US" altLang="ja-JP" dirty="0" err="1"/>
              <a:t>Berupaya</a:t>
            </a:r>
            <a:r>
              <a:rPr lang="en-US" altLang="ja-JP" dirty="0"/>
              <a:t> </a:t>
            </a:r>
            <a:r>
              <a:rPr lang="en-US" altLang="ja-JP" dirty="0" err="1"/>
              <a:t>untuk</a:t>
            </a:r>
            <a:r>
              <a:rPr lang="en-US" altLang="ja-JP" dirty="0"/>
              <a:t> </a:t>
            </a:r>
            <a:r>
              <a:rPr lang="en-US" altLang="ja-JP" dirty="0" err="1"/>
              <a:t>mencegah</a:t>
            </a:r>
            <a:endParaRPr lang="ja-JP" altLang="en-US" dirty="0"/>
          </a:p>
        </p:txBody>
      </p:sp>
      <p:sp>
        <p:nvSpPr>
          <p:cNvPr id="7" name="正方形/長方形 6"/>
          <p:cNvSpPr/>
          <p:nvPr/>
        </p:nvSpPr>
        <p:spPr>
          <a:xfrm>
            <a:off x="1009649" y="1038999"/>
            <a:ext cx="6924675" cy="1600438"/>
          </a:xfrm>
          <a:prstGeom prst="rect">
            <a:avLst/>
          </a:prstGeom>
        </p:spPr>
        <p:txBody>
          <a:bodyPr wrap="square">
            <a:spAutoFit/>
          </a:bodyPr>
          <a:lstStyle/>
          <a:p>
            <a:r>
              <a:rPr lang="ja-JP" altLang="en-US" sz="1600" dirty="0" smtClean="0"/>
              <a:t>・防止 </a:t>
            </a:r>
            <a:r>
              <a:rPr lang="ja-JP" altLang="en-US" sz="1600" dirty="0"/>
              <a:t>→ Pencegahan</a:t>
            </a:r>
          </a:p>
          <a:p>
            <a:r>
              <a:rPr lang="ja-JP" altLang="en-US" sz="1600" dirty="0" smtClean="0"/>
              <a:t>・採捕</a:t>
            </a:r>
            <a:r>
              <a:rPr lang="ja-JP" altLang="en-US" sz="1600" dirty="0"/>
              <a:t>注意 → Larangan menangkap hewan laut secara ilegal</a:t>
            </a:r>
          </a:p>
          <a:p>
            <a:r>
              <a:rPr lang="ja-JP" altLang="en-US" sz="1600" dirty="0" smtClean="0"/>
              <a:t>・水難</a:t>
            </a:r>
            <a:r>
              <a:rPr lang="ja-JP" altLang="en-US" sz="1600" dirty="0"/>
              <a:t>事故 → Pencegahan kecelakaan di air</a:t>
            </a:r>
          </a:p>
          <a:p>
            <a:r>
              <a:rPr lang="ja-JP" altLang="en-US" sz="1600" dirty="0" smtClean="0"/>
              <a:t>・地震</a:t>
            </a:r>
            <a:r>
              <a:rPr lang="ja-JP" altLang="en-US" sz="1600" dirty="0"/>
              <a:t>・防災 → Gempa bumi dan kesiapsiagaan bencana</a:t>
            </a:r>
          </a:p>
          <a:p>
            <a:r>
              <a:rPr lang="ja-JP" altLang="en-US" sz="1600" dirty="0" smtClean="0"/>
              <a:t>・災害</a:t>
            </a:r>
            <a:r>
              <a:rPr lang="ja-JP" altLang="en-US" sz="1600" dirty="0"/>
              <a:t>対策チェックリスト → Daftar periksa persiapan menghadapi bencana</a:t>
            </a:r>
          </a:p>
          <a:p>
            <a:r>
              <a:rPr lang="ja-JP" altLang="en-US" sz="1600" dirty="0" smtClean="0"/>
              <a:t>・緊急</a:t>
            </a:r>
            <a:r>
              <a:rPr lang="ja-JP" altLang="en-US" sz="1600" dirty="0"/>
              <a:t>報告 → Pelaporan keadaan darurat</a:t>
            </a:r>
          </a:p>
        </p:txBody>
      </p:sp>
    </p:spTree>
    <p:extLst>
      <p:ext uri="{BB962C8B-B14F-4D97-AF65-F5344CB8AC3E}">
        <p14:creationId xmlns:p14="http://schemas.microsoft.com/office/powerpoint/2010/main" val="300879180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1362075" y="1010573"/>
            <a:ext cx="6743700" cy="3539430"/>
          </a:xfrm>
          <a:prstGeom prst="rect">
            <a:avLst/>
          </a:prstGeom>
        </p:spPr>
        <p:txBody>
          <a:bodyPr wrap="square">
            <a:spAutoFit/>
          </a:bodyPr>
          <a:lstStyle/>
          <a:p>
            <a:pPr algn="ctr"/>
            <a:r>
              <a:rPr lang="ja-JP" altLang="en-US" sz="1400" b="1" dirty="0">
                <a:latin typeface="Meiryo UI" panose="020B0604030504040204" pitchFamily="50" charset="-128"/>
                <a:ea typeface="Meiryo UI" panose="020B0604030504040204" pitchFamily="50" charset="-128"/>
              </a:rPr>
              <a:t>日常生活でのトラブル対処</a:t>
            </a:r>
          </a:p>
          <a:p>
            <a:pPr algn="ctr"/>
            <a:r>
              <a:rPr lang="ja-JP" altLang="en-US" sz="1400" b="1" dirty="0">
                <a:latin typeface="Meiryo UI" panose="020B0604030504040204" pitchFamily="50" charset="-128"/>
                <a:ea typeface="Meiryo UI" panose="020B0604030504040204" pitchFamily="50" charset="-128"/>
              </a:rPr>
              <a:t>Penanganan masalah dalam kehidupan sehari-hari</a:t>
            </a:r>
          </a:p>
          <a:p>
            <a:endParaRPr lang="ja-JP" altLang="en-US"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生活環境、医療等についての困ったことがあれば、遠慮なく上司や担当者に相談してください。</a:t>
            </a:r>
          </a:p>
          <a:p>
            <a:r>
              <a:rPr lang="ja-JP" altLang="en-US" sz="1400" dirty="0">
                <a:latin typeface="Meiryo UI" panose="020B0604030504040204" pitchFamily="50" charset="-128"/>
                <a:ea typeface="Meiryo UI" panose="020B0604030504040204" pitchFamily="50" charset="-128"/>
              </a:rPr>
              <a:t>Jika Anda mengalami kesulitan terkait lingkungan tempat tinggal, layanan kesehatan, atau masalah lainnya dalam kehidupan sehari-hari, jangan ragu untuk berkonsultasi dengan atasan atau penanggung jawab Anda.</a:t>
            </a:r>
          </a:p>
          <a:p>
            <a:endParaRPr lang="ja-JP" altLang="en-US"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また、日本での生活に不慣れな点についても、安全に過ごすための方法をお伝えします。</a:t>
            </a:r>
          </a:p>
          <a:p>
            <a:r>
              <a:rPr lang="ja-JP" altLang="en-US" sz="1400" dirty="0">
                <a:latin typeface="Meiryo UI" panose="020B0604030504040204" pitchFamily="50" charset="-128"/>
                <a:ea typeface="Meiryo UI" panose="020B0604030504040204" pitchFamily="50" charset="-128"/>
              </a:rPr>
              <a:t>Selain itu, jika ada hal-hal dalam kehidupan di Jepang yang belum Anda pahami, kami akan memberikan panduan agar Anda dapat hidup dengan aman dan nyaman.</a:t>
            </a:r>
          </a:p>
          <a:p>
            <a:endParaRPr lang="ja-JP" altLang="en-US" sz="1400" dirty="0">
              <a:latin typeface="Meiryo UI" panose="020B0604030504040204" pitchFamily="50" charset="-128"/>
              <a:ea typeface="Meiryo UI" panose="020B0604030504040204" pitchFamily="50" charset="-128"/>
            </a:endParaRPr>
          </a:p>
          <a:p>
            <a:r>
              <a:rPr lang="ja-JP" altLang="en-US" sz="1400" dirty="0">
                <a:latin typeface="Meiryo UI" panose="020B0604030504040204" pitchFamily="50" charset="-128"/>
                <a:ea typeface="Meiryo UI" panose="020B0604030504040204" pitchFamily="50" charset="-128"/>
              </a:rPr>
              <a:t>一人で悩まず、困ったときは早めに相談しましょう。</a:t>
            </a:r>
          </a:p>
          <a:p>
            <a:r>
              <a:rPr lang="ja-JP" altLang="en-US" sz="1400" dirty="0">
                <a:latin typeface="Meiryo UI" panose="020B0604030504040204" pitchFamily="50" charset="-128"/>
                <a:ea typeface="Meiryo UI" panose="020B0604030504040204" pitchFamily="50" charset="-128"/>
              </a:rPr>
              <a:t>Jangan menghadapi masalah sendirian. Jika mengalami kesulitan, segeralah meminta bantuan atau berkonsultasi.</a:t>
            </a:r>
          </a:p>
        </p:txBody>
      </p:sp>
    </p:spTree>
    <p:extLst>
      <p:ext uri="{BB962C8B-B14F-4D97-AF65-F5344CB8AC3E}">
        <p14:creationId xmlns:p14="http://schemas.microsoft.com/office/powerpoint/2010/main" val="39660884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43444" y="1192788"/>
            <a:ext cx="4171043" cy="4401205"/>
          </a:xfrm>
          <a:prstGeom prst="rect">
            <a:avLst/>
          </a:prstGeom>
        </p:spPr>
        <p:txBody>
          <a:bodyPr wrap="square">
            <a:spAutoFit/>
          </a:bodyPr>
          <a:lstStyle/>
          <a:p>
            <a:pPr algn="ctr">
              <a:lnSpc>
                <a:spcPct val="200000"/>
              </a:lnSpc>
            </a:pPr>
            <a:r>
              <a:rPr lang="ja-JP" altLang="en-US" sz="2000" dirty="0">
                <a:latin typeface="Meiryo UI" panose="020B0604030504040204" pitchFamily="50" charset="-128"/>
                <a:ea typeface="Meiryo UI" panose="020B0604030504040204" pitchFamily="50" charset="-128"/>
                <a:cs typeface="Times New Roman" panose="02020603050405020304" pitchFamily="18" charset="0"/>
              </a:rPr>
              <a:t>皆さん、本日はオリエンテーションに参加していただき、ありがとうございます。</a:t>
            </a:r>
          </a:p>
          <a:p>
            <a:pPr algn="ctr">
              <a:lnSpc>
                <a:spcPct val="200000"/>
              </a:lnSpc>
            </a:pPr>
            <a:r>
              <a:rPr lang="ja-JP" altLang="en-US" sz="2000" dirty="0">
                <a:latin typeface="Meiryo UI" panose="020B0604030504040204" pitchFamily="50" charset="-128"/>
                <a:ea typeface="Meiryo UI" panose="020B0604030504040204" pitchFamily="50" charset="-128"/>
                <a:cs typeface="Times New Roman" panose="02020603050405020304" pitchFamily="18" charset="0"/>
              </a:rPr>
              <a:t>ご意見や質問をいただけたこと</a:t>
            </a:r>
            <a:r>
              <a:rPr lang="ja-JP" altLang="en-US" sz="2000" dirty="0" smtClean="0">
                <a:latin typeface="Meiryo UI" panose="020B0604030504040204" pitchFamily="50" charset="-128"/>
                <a:ea typeface="Meiryo UI" panose="020B0604030504040204" pitchFamily="50" charset="-128"/>
                <a:cs typeface="Times New Roman" panose="02020603050405020304" pitchFamily="18" charset="0"/>
              </a:rPr>
              <a:t>、</a:t>
            </a:r>
            <a:endParaRPr lang="en-US" altLang="ja-JP" sz="2000" dirty="0" smtClean="0">
              <a:latin typeface="Meiryo UI" panose="020B0604030504040204" pitchFamily="50" charset="-128"/>
              <a:ea typeface="Meiryo UI" panose="020B0604030504040204" pitchFamily="50" charset="-128"/>
              <a:cs typeface="Times New Roman" panose="02020603050405020304" pitchFamily="18" charset="0"/>
            </a:endParaRPr>
          </a:p>
          <a:p>
            <a:pPr algn="ctr">
              <a:lnSpc>
                <a:spcPct val="200000"/>
              </a:lnSpc>
            </a:pPr>
            <a:r>
              <a:rPr lang="ja-JP" altLang="en-US" sz="2000" dirty="0" smtClean="0">
                <a:latin typeface="Meiryo UI" panose="020B0604030504040204" pitchFamily="50" charset="-128"/>
                <a:ea typeface="Meiryo UI" panose="020B0604030504040204" pitchFamily="50" charset="-128"/>
                <a:cs typeface="Times New Roman" panose="02020603050405020304" pitchFamily="18" charset="0"/>
              </a:rPr>
              <a:t>大変</a:t>
            </a:r>
            <a:r>
              <a:rPr lang="ja-JP" altLang="en-US" sz="2000" dirty="0">
                <a:latin typeface="Meiryo UI" panose="020B0604030504040204" pitchFamily="50" charset="-128"/>
                <a:ea typeface="Meiryo UI" panose="020B0604030504040204" pitchFamily="50" charset="-128"/>
                <a:cs typeface="Times New Roman" panose="02020603050405020304" pitchFamily="18" charset="0"/>
              </a:rPr>
              <a:t>嬉しく思います。</a:t>
            </a:r>
          </a:p>
          <a:p>
            <a:pPr algn="ctr">
              <a:lnSpc>
                <a:spcPct val="200000"/>
              </a:lnSpc>
            </a:pPr>
            <a:r>
              <a:rPr lang="ja-JP" altLang="en-US" sz="2000" dirty="0">
                <a:latin typeface="Meiryo UI" panose="020B0604030504040204" pitchFamily="50" charset="-128"/>
                <a:ea typeface="Meiryo UI" panose="020B0604030504040204" pitchFamily="50" charset="-128"/>
                <a:cs typeface="Times New Roman" panose="02020603050405020304" pitchFamily="18" charset="0"/>
              </a:rPr>
              <a:t>皆さんのサポートがあったからこそ</a:t>
            </a:r>
            <a:r>
              <a:rPr lang="ja-JP" altLang="en-US" sz="2000" dirty="0" smtClean="0">
                <a:latin typeface="Meiryo UI" panose="020B0604030504040204" pitchFamily="50" charset="-128"/>
                <a:ea typeface="Meiryo UI" panose="020B0604030504040204" pitchFamily="50" charset="-128"/>
                <a:cs typeface="Times New Roman" panose="02020603050405020304" pitchFamily="18" charset="0"/>
              </a:rPr>
              <a:t>、</a:t>
            </a:r>
            <a:endParaRPr lang="en-US" altLang="ja-JP" sz="2000" dirty="0" smtClean="0">
              <a:latin typeface="Meiryo UI" panose="020B0604030504040204" pitchFamily="50" charset="-128"/>
              <a:ea typeface="Meiryo UI" panose="020B0604030504040204" pitchFamily="50" charset="-128"/>
              <a:cs typeface="Times New Roman" panose="02020603050405020304" pitchFamily="18" charset="0"/>
            </a:endParaRPr>
          </a:p>
          <a:p>
            <a:pPr algn="ctr">
              <a:lnSpc>
                <a:spcPct val="200000"/>
              </a:lnSpc>
            </a:pPr>
            <a:r>
              <a:rPr lang="ja-JP" altLang="en-US" sz="2000" dirty="0" smtClean="0">
                <a:latin typeface="Meiryo UI" panose="020B0604030504040204" pitchFamily="50" charset="-128"/>
                <a:ea typeface="Meiryo UI" panose="020B0604030504040204" pitchFamily="50" charset="-128"/>
                <a:cs typeface="Times New Roman" panose="02020603050405020304" pitchFamily="18" charset="0"/>
              </a:rPr>
              <a:t>無事</a:t>
            </a:r>
            <a:r>
              <a:rPr lang="ja-JP" altLang="en-US" sz="2000" dirty="0">
                <a:latin typeface="Meiryo UI" panose="020B0604030504040204" pitchFamily="50" charset="-128"/>
                <a:ea typeface="Meiryo UI" panose="020B0604030504040204" pitchFamily="50" charset="-128"/>
                <a:cs typeface="Times New Roman" panose="02020603050405020304" pitchFamily="18" charset="0"/>
              </a:rPr>
              <a:t>に発表を終えることができました。</a:t>
            </a:r>
          </a:p>
          <a:p>
            <a:pPr algn="ctr">
              <a:lnSpc>
                <a:spcPct val="200000"/>
              </a:lnSpc>
            </a:pPr>
            <a:r>
              <a:rPr lang="ja-JP" altLang="en-US" sz="2000" dirty="0">
                <a:latin typeface="Meiryo UI" panose="020B0604030504040204" pitchFamily="50" charset="-128"/>
                <a:ea typeface="Meiryo UI" panose="020B0604030504040204" pitchFamily="50" charset="-128"/>
                <a:cs typeface="Times New Roman" panose="02020603050405020304" pitchFamily="18" charset="0"/>
              </a:rPr>
              <a:t>今後ともよろしくお願いいたします。</a:t>
            </a:r>
          </a:p>
        </p:txBody>
      </p:sp>
      <p:sp>
        <p:nvSpPr>
          <p:cNvPr id="2" name="正方形/長方形 1"/>
          <p:cNvSpPr/>
          <p:nvPr/>
        </p:nvSpPr>
        <p:spPr>
          <a:xfrm>
            <a:off x="4414487" y="1411863"/>
            <a:ext cx="4572000" cy="3383747"/>
          </a:xfrm>
          <a:prstGeom prst="rect">
            <a:avLst/>
          </a:prstGeom>
        </p:spPr>
        <p:txBody>
          <a:bodyPr>
            <a:spAutoFit/>
          </a:bodyPr>
          <a:lstStyle/>
          <a:p>
            <a:pPr>
              <a:lnSpc>
                <a:spcPct val="150000"/>
              </a:lnSpc>
            </a:pPr>
            <a:r>
              <a:rPr lang="ja-JP" altLang="en-US" sz="1200" dirty="0"/>
              <a:t>Terima kasih kepada semua yang telah mengikuti orientasi hari ini.</a:t>
            </a:r>
          </a:p>
          <a:p>
            <a:pPr>
              <a:lnSpc>
                <a:spcPct val="150000"/>
              </a:lnSpc>
            </a:pPr>
            <a:r>
              <a:rPr lang="ja-JP" altLang="en-US" sz="1200" dirty="0"/>
              <a:t>Saya sangat senang karena dapat menerima berbagai pendapat dan pertanyaan dari Anda semua.</a:t>
            </a:r>
          </a:p>
          <a:p>
            <a:pPr>
              <a:lnSpc>
                <a:spcPct val="150000"/>
              </a:lnSpc>
            </a:pPr>
            <a:r>
              <a:rPr lang="ja-JP" altLang="en-US" sz="1200" dirty="0"/>
              <a:t>Berkat kerja sama dan dukungan dari semuanya, saya dapat menyelesaikan presentasi ini dengan baik. Saya mengucapkan terima kasih yang sebesar-besarnya.</a:t>
            </a:r>
          </a:p>
          <a:p>
            <a:pPr>
              <a:lnSpc>
                <a:spcPct val="150000"/>
              </a:lnSpc>
            </a:pPr>
            <a:r>
              <a:rPr lang="ja-JP" altLang="en-US" sz="1200" dirty="0"/>
              <a:t>Semoga orientasi ini dapat membantu Anda dalam menjalani kehidupan dan pekerjaan di Jepang.</a:t>
            </a:r>
          </a:p>
          <a:p>
            <a:pPr>
              <a:lnSpc>
                <a:spcPct val="150000"/>
              </a:lnSpc>
            </a:pPr>
            <a:r>
              <a:rPr lang="ja-JP" altLang="en-US" sz="1200" dirty="0"/>
              <a:t>Apabila ada hal yang belum dipahami atau mengalami kesulitan, jangan memendamnya sendiri. Jangan ragu untuk berkonsultasi.</a:t>
            </a:r>
          </a:p>
          <a:p>
            <a:pPr>
              <a:lnSpc>
                <a:spcPct val="150000"/>
              </a:lnSpc>
            </a:pPr>
            <a:r>
              <a:rPr lang="ja-JP" altLang="en-US" sz="1200" dirty="0"/>
              <a:t>Terima kasih atas perhatian dan kerja samanya. Mohon bimbingan dan dukungannya di masa mendatang.</a:t>
            </a:r>
          </a:p>
        </p:txBody>
      </p:sp>
    </p:spTree>
    <p:extLst>
      <p:ext uri="{BB962C8B-B14F-4D97-AF65-F5344CB8AC3E}">
        <p14:creationId xmlns:p14="http://schemas.microsoft.com/office/powerpoint/2010/main" val="3966088499"/>
      </p:ext>
    </p:extLst>
  </p:cSld>
  <p:clrMapOvr>
    <a:masterClrMapping/>
  </p:clrMapOvr>
  <p:timing>
    <p:tnLst>
      <p:par>
        <p:cTn id="1" dur="indefinite" restart="never" nodeType="tmRoot"/>
      </p:par>
    </p:tnLst>
  </p:timing>
</p:sld>
</file>

<file path=ppt/theme/theme1.xml><?xml version="1.0" encoding="utf-8"?>
<a:theme xmlns:a="http://schemas.openxmlformats.org/drawingml/2006/main" name="配当">
  <a:themeElements>
    <a:clrScheme name="配当">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配当">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配当">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TM03457464[[fn=配当]]</Template>
  <TotalTime>8904</TotalTime>
  <Words>3131</Words>
  <Application>Microsoft Office PowerPoint</Application>
  <PresentationFormat>画面に合わせる (4:3)</PresentationFormat>
  <Paragraphs>621</Paragraphs>
  <Slides>38</Slides>
  <Notes>4</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38</vt:i4>
      </vt:variant>
    </vt:vector>
  </HeadingPairs>
  <TitlesOfParts>
    <vt:vector size="52" baseType="lpstr">
      <vt:lpstr>HGｺﾞｼｯｸE</vt:lpstr>
      <vt:lpstr>Meiryo UI</vt:lpstr>
      <vt:lpstr>ＭＳ Ｐゴシック</vt:lpstr>
      <vt:lpstr>ＭＳ ゴシック</vt:lpstr>
      <vt:lpstr>メイリオ</vt:lpstr>
      <vt:lpstr>游ゴシック</vt:lpstr>
      <vt:lpstr>游明朝</vt:lpstr>
      <vt:lpstr>Arial</vt:lpstr>
      <vt:lpstr>Calibri</vt:lpstr>
      <vt:lpstr>Gill Sans MT</vt:lpstr>
      <vt:lpstr>Tahoma</vt:lpstr>
      <vt:lpstr>Times New Roman</vt:lpstr>
      <vt:lpstr>Wingdings 2</vt:lpstr>
      <vt:lpstr>配当</vt:lpstr>
      <vt:lpstr>PowerPoint プレゼンテーション</vt:lpstr>
      <vt:lpstr>PowerPoint プレゼンテーション</vt:lpstr>
      <vt:lpstr>会社説明会</vt:lpstr>
      <vt:lpstr>会社ルール</vt:lpstr>
      <vt:lpstr>労働条件</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寮の規則</vt:lpstr>
      <vt:lpstr>PowerPoint プレゼンテーション</vt:lpstr>
      <vt:lpstr>店舗（あいち）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HONDA User-ID</dc:creator>
  <cp:lastModifiedBy>HONDA User-ID</cp:lastModifiedBy>
  <cp:revision>556</cp:revision>
  <cp:lastPrinted>2026-06-19T08:29:30Z</cp:lastPrinted>
  <dcterms:created xsi:type="dcterms:W3CDTF">2024-09-23T00:52:43Z</dcterms:created>
  <dcterms:modified xsi:type="dcterms:W3CDTF">2026-06-21T09:27:53Z</dcterms:modified>
</cp:coreProperties>
</file>